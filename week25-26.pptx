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197" y="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CE63F8F-853A-6486-B1E6-CFA85A6C41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A4F4FD1E-2941-F4FE-5B33-D77C8AB2D6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6F219F-1533-9702-44C8-8CB129FD73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BF8E87F-B90A-C6D7-DBD9-DF944158F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1DC142-27C2-CB35-3E01-1E40C8704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5746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2674CF-0A64-086D-0490-8C2CD1CB0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F355EB0-8412-549E-91F3-287BC69248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E048D77-C06D-91AC-80D8-1012C6CE13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28B2172-6B9F-52EA-934F-3A965469C9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BDD4CBD-B4F1-5829-E3B3-E399A7A01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087809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073C104-2365-6AA0-4D9C-1741DD2C2C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6D4C40-13FF-CFFD-7842-53632DCE67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7ED480-B09E-F23E-6CA7-A7D390876D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89333B3-A07B-2B1E-3417-A9CF685773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2A17EEDC-0E70-AE2D-13C4-76BCE80CF5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31135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4A3BB72-9022-58BC-A273-0C6A9F057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A50DAD1-E1AC-DBA2-08B9-8295D8E11D8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3C0C8E-D242-4A1F-0A5A-0E059943DD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2ADC2DFB-785E-C8E2-787E-3E3DE01B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63A8A53-86FF-D24E-7594-C20547520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27C741A-EBB9-F0D1-AD1C-DA6C49ECA1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210154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24E195C-337F-42DE-FCEE-4A7559D90C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153501C-6688-CCFF-8EE0-CFDC717942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204658B-B6CE-AAF7-FBAA-44E5AE20CD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50436FE1-2CFC-BB4E-33D0-7E5C218F41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DC12C5F-16EC-D4D2-10CA-FE279FC53F2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16EC5FF3-2538-FAD2-20A6-3C28A1FDED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85E4CB6A-F33A-EF84-8B76-3A312CA34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28062B83-8417-6D6D-C510-71A770FB5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08873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FD7CB60-81BA-E43F-18E5-4EF0A33AFD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E6220FA-D312-7D05-0F0B-CC6F33E53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68A25068-6AA7-C44D-911D-279E962B8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4DF94ED-BD7A-E4AA-8E23-CE0FB87CF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576282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A3A666B-FCCE-0F36-FC66-1F6ABF137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AED10152-89C4-A811-C9F9-4564073DB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3643390-A76E-EFFC-1007-0667E674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0542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3474082-84B6-BD38-F102-4ACA1A7473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B1DBAFE-7414-5EEF-AE3C-0EF393B34E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E13D8CC-0A4C-E1B0-C071-A12F52CA20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DE95BCF-A039-A64E-4C39-D411B6484D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290840A-2F83-EDBF-8BE6-EF218CA46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2F7B424-5345-52CE-B2F4-0EEAD69B69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57565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375F3EC-9F2D-4FCA-3EED-81E34DE893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F39EB71-9495-69D4-04E9-65F57C7ABB6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0992D4E-138C-1319-B339-AF186F44AF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116608E-765C-AF29-DE3E-E37B74F3CA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1760390-D880-F6AB-75A7-F437F538D3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6D4BEC0-AA53-FC37-9894-8CDB8180C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87659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3F7B21-A37C-1C1F-5224-6774174C18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E128F6B-E335-589F-4FE0-620E4DF1DA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9E8B236-5785-55BE-53F3-1ADB889B0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70A5271-A92A-747C-9ABA-6E0E0D85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E8F6FD3-6519-8411-9505-B54C4325E8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724285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E80C82F9-E73D-E45D-1216-9640DA63AAA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481C68E-81B8-A596-4EB2-320C1D1CD5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72548C-F232-F823-373E-E6BBC98EA9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A11878A-C11E-6DB2-9B94-7EF0DBB3D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FAA5B1-C2F8-CD51-C39E-8621A2BAE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538630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E13112C2-627D-DED2-2C5C-60B9A66406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B4278D7-51EC-91D9-666E-16295B40B6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CF89C4-04EB-8A14-197A-5F71D9B853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88158D-1440-40B9-9F6A-7CDE5D5CFC6D}" type="datetimeFigureOut">
              <a:rPr lang="zh-CN" altLang="en-US" smtClean="0"/>
              <a:t>2026/10/4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DFE368A-DF77-DDCA-44DD-B607BCAC6C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4335BC5-D260-43E7-13AB-C7D2DAE973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12173E1-CBDD-409F-A7E9-C6CC332062E4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392464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A8F8B14-AE2B-83FE-A6D5-D8B4BEA4C2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8279A52E-3861-098F-ADD3-541C85D441E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FBAB2FD-CA9F-AC09-4206-92BC61BE0FCB}"/>
              </a:ext>
            </a:extLst>
          </p:cNvPr>
          <p:cNvSpPr txBox="1"/>
          <p:nvPr/>
        </p:nvSpPr>
        <p:spPr>
          <a:xfrm>
            <a:off x="1230086" y="615043"/>
            <a:ext cx="817517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使用同一份共享PGD图、相同检测器和评测流程。4306张完成重建，排除4张标签异常图片后，4302张参与mAP统计</a:t>
            </a: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69566B1E-0004-2B54-0110-06DEC80546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336966"/>
              </p:ext>
            </p:extLst>
          </p:nvPr>
        </p:nvGraphicFramePr>
        <p:xfrm>
          <a:off x="838200" y="1498283"/>
          <a:ext cx="10515600" cy="2011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93509322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10776348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47599123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82626831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模型设置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clean重建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adv重建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恢复率50 / 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327946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Learned-v2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64.5% / 60.3%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63743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Robust-v3对应的old_only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0.3918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68.0% / 64.4%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73038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扩容后开启64层新增通道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0.3969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0.3924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68.1% / 64.5%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556409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462352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D1043C0-F5FE-4F51-1848-57CEAF03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定位重建损失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BF35B7-057D-0645-E69F-BF7E49EFB9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zh-CN" altLang="zh-CN" sz="2000" dirty="0"/>
              <a:t>128分辨率有损失，但编码、量化和解码过程还带来更大的额外损失。</a:t>
            </a:r>
            <a:endParaRPr lang="zh-CN" altLang="en-US" sz="2000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B119F172-5AB4-88B6-B1CC-BB75AD8904DA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3269774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89711768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435203179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80993122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处理方式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mAP50-95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89421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原始干净图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0.5758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0.2929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126964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仅分辨率往返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0.5182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0.2627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66248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v3编码解码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0.3967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0.1915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78301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424678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EA5ABA4-006E-2D3F-D08A-E9A3B85AC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52935D9-C48D-D101-9CD2-9E89EE53C5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zh-CN" sz="2000" b="1" dirty="0"/>
              <a:t>尝试仅微调base decoder</a:t>
            </a:r>
          </a:p>
          <a:p>
            <a:r>
              <a:rPr lang="zh-CN" altLang="zh-CN" sz="2000" dirty="0"/>
              <a:t>新增独立训练入口gcn_decoder_only.py：</a:t>
            </a:r>
          </a:p>
          <a:p>
            <a:pPr lvl="0"/>
            <a:r>
              <a:rPr lang="zh-CN" altLang="zh-CN" sz="2000" dirty="0"/>
              <a:t>从原始3072-bit Robust-v3初始化；</a:t>
            </a:r>
          </a:p>
          <a:p>
            <a:pPr lvl="0"/>
            <a:r>
              <a:rPr lang="zh-CN" altLang="zh-CN" sz="2000" dirty="0"/>
              <a:t>冻结encoder、GCN、skip quantizer和YOLO；</a:t>
            </a:r>
          </a:p>
          <a:p>
            <a:pPr lvl="0"/>
            <a:r>
              <a:rPr lang="zh-CN" altLang="zh-CN" sz="2000" dirty="0"/>
              <a:t>仅更新约176万base decoder参数；</a:t>
            </a:r>
          </a:p>
          <a:p>
            <a:pPr lvl="0"/>
            <a:r>
              <a:rPr lang="zh-CN" altLang="zh-CN" sz="2000" dirty="0"/>
              <a:t>两轮，每轮500 batch，batch size=2；</a:t>
            </a:r>
          </a:p>
          <a:p>
            <a:pPr lvl="0"/>
            <a:r>
              <a:rPr lang="zh-CN" altLang="zh-CN" sz="2000" dirty="0"/>
              <a:t>留出512张训练图，不用于本次微调；</a:t>
            </a:r>
          </a:p>
          <a:p>
            <a:pPr lvl="0"/>
            <a:r>
              <a:rPr lang="zh-CN" altLang="zh-CN" sz="2000" dirty="0"/>
              <a:t>每轮验证被冻结的模型参数没有改变。</a:t>
            </a:r>
          </a:p>
          <a:p>
            <a:endParaRPr lang="zh-CN" altLang="en-US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9E4930F0-B8CE-C3F5-0CFE-C3953FB9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618417"/>
              </p:ext>
            </p:extLst>
          </p:nvPr>
        </p:nvGraphicFramePr>
        <p:xfrm>
          <a:off x="838200" y="5029835"/>
          <a:ext cx="10515600" cy="14630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3579762872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70910658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设置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mAP50恢复率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9233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原v3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68.0%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324305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decoder-only epoch1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66.7%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44501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decoder-only epoch2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66.9%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5862601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271056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FE4CBD5-EE75-4F72-D623-89D9C79F04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zh-CN" dirty="0"/>
              <a:t>High-Frequency-Aware GCN-Skip Binary Autoencoder（HF-AE</a:t>
            </a:r>
            <a:r>
              <a:rPr lang="zh-CN" altLang="en-US" dirty="0"/>
              <a:t>）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6A4C91-D631-1B48-E153-7B2BA58063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zh-CN" altLang="en-US" sz="1800" dirty="0"/>
              <a:t>新增多尺度高通损失，</a:t>
            </a:r>
            <a:r>
              <a:rPr lang="zh-CN" altLang="zh-CN" sz="1800" dirty="0"/>
              <a:t>让模型保留：</a:t>
            </a:r>
          </a:p>
          <a:p>
            <a:pPr lvl="0"/>
            <a:r>
              <a:rPr lang="zh-CN" altLang="zh-CN" sz="1800" dirty="0"/>
              <a:t>火焰边缘</a:t>
            </a:r>
          </a:p>
          <a:p>
            <a:pPr lvl="0"/>
            <a:r>
              <a:rPr lang="zh-CN" altLang="zh-CN" sz="1800" dirty="0"/>
              <a:t>烟雾轮廓</a:t>
            </a:r>
          </a:p>
          <a:p>
            <a:pPr lvl="0"/>
            <a:r>
              <a:rPr lang="zh-CN" altLang="zh-CN" sz="1800" dirty="0"/>
              <a:t>局部纹理</a:t>
            </a:r>
          </a:p>
          <a:p>
            <a:pPr lvl="0"/>
            <a:r>
              <a:rPr lang="zh-CN" altLang="zh-CN" sz="1800" dirty="0"/>
              <a:t>小目标结构</a:t>
            </a:r>
            <a:endParaRPr lang="en-US" altLang="zh-CN" sz="1800" dirty="0"/>
          </a:p>
          <a:p>
            <a:pPr lvl="0"/>
            <a:r>
              <a:rPr lang="zh-CN" altLang="en-US" sz="1800" dirty="0"/>
              <a:t>新增</a:t>
            </a:r>
            <a:r>
              <a:rPr lang="en-US" altLang="zh-CN" sz="1800" dirty="0"/>
              <a:t>FFT</a:t>
            </a:r>
            <a:r>
              <a:rPr lang="zh-CN" altLang="en-US" sz="1800" dirty="0"/>
              <a:t>高频幅度损失</a:t>
            </a:r>
            <a:endParaRPr lang="en-US" altLang="zh-CN" sz="1800" dirty="0"/>
          </a:p>
          <a:p>
            <a:pPr lvl="0"/>
            <a:endParaRPr lang="zh-CN" altLang="zh-CN" sz="1800" dirty="0"/>
          </a:p>
          <a:p>
            <a:r>
              <a:rPr lang="zh-CN" altLang="zh-CN" sz="1900" dirty="0"/>
              <a:t>相比 Learned-v2：</a:t>
            </a:r>
          </a:p>
          <a:p>
            <a:pPr lvl="0"/>
            <a:r>
              <a:rPr lang="zh-CN" altLang="zh-CN" sz="1900" dirty="0"/>
              <a:t>中频能量比：0.2062 → 0.3667</a:t>
            </a:r>
          </a:p>
          <a:p>
            <a:pPr lvl="0"/>
            <a:r>
              <a:rPr lang="zh-CN" altLang="zh-CN" sz="1900" dirty="0"/>
              <a:t>中频幅度误差：0.8187 → 0.6063</a:t>
            </a:r>
          </a:p>
          <a:p>
            <a:pPr lvl="0"/>
            <a:r>
              <a:rPr lang="zh-CN" altLang="zh-CN" sz="1900" dirty="0"/>
              <a:t>高频能量比：0.1414 → 0.1651</a:t>
            </a:r>
          </a:p>
          <a:p>
            <a:pPr lvl="0"/>
            <a:r>
              <a:rPr lang="zh-CN" altLang="zh-CN" sz="1900" dirty="0"/>
              <a:t>高频幅度误差：0.9053 → 0.8369</a:t>
            </a:r>
          </a:p>
          <a:p>
            <a:pPr lvl="0"/>
            <a:r>
              <a:rPr lang="zh-CN" altLang="zh-CN" sz="1900" dirty="0"/>
              <a:t>低频幅度误差也从 0.3628 降到 0.3266</a:t>
            </a:r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355839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277C22-C832-0C75-5FAF-4AA1EAE27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 dirty="0"/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A6B5E40C-79DD-C943-16C8-AE401760686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83693469"/>
              </p:ext>
            </p:extLst>
          </p:nvPr>
        </p:nvGraphicFramePr>
        <p:xfrm>
          <a:off x="838200" y="365125"/>
          <a:ext cx="1051560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44282948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05902571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0452293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17126625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指标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Learned-v2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HF-AE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提升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62019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clean reconstructed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0.3762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0.4070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+0.0308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35013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PGD direct mAP50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0.3716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0.4021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+0.0305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670929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clean mAP50-95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0.1793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0.1980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+0.0187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31048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PGD direct mAP50-95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0.1768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0.1944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+0.0176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14305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PGD恢复率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64.5%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69.8%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+5.3个百分点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7401468"/>
                  </a:ext>
                </a:extLst>
              </a:tr>
            </a:tbl>
          </a:graphicData>
        </a:graphic>
      </p:graphicFrame>
      <p:sp>
        <p:nvSpPr>
          <p:cNvPr id="6" name="文本框 5">
            <a:extLst>
              <a:ext uri="{FF2B5EF4-FFF2-40B4-BE49-F238E27FC236}">
                <a16:creationId xmlns:a16="http://schemas.microsoft.com/office/drawing/2014/main" id="{9C8EB223-4566-4EB7-61AE-7BF40654523C}"/>
              </a:ext>
            </a:extLst>
          </p:cNvPr>
          <p:cNvSpPr txBox="1"/>
          <p:nvPr/>
        </p:nvSpPr>
        <p:spPr>
          <a:xfrm>
            <a:off x="952500" y="3075525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zh-CN" altLang="zh-CN" dirty="0"/>
              <a:t>PGD 前后的编码差异率为：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main：</a:t>
            </a:r>
            <a:r>
              <a:rPr lang="zh-CN" altLang="zh-CN" dirty="0">
                <a:latin typeface="+mn-lt"/>
              </a:rPr>
              <a:t>0.3842%</a:t>
            </a:r>
            <a:endParaRPr lang="zh-CN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skip64：</a:t>
            </a:r>
            <a:r>
              <a:rPr lang="zh-CN" altLang="zh-CN" dirty="0">
                <a:latin typeface="+mn-lt"/>
              </a:rPr>
              <a:t>3.7184%</a:t>
            </a:r>
            <a:endParaRPr lang="zh-CN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skip32：</a:t>
            </a:r>
            <a:r>
              <a:rPr lang="zh-CN" altLang="zh-CN" dirty="0">
                <a:latin typeface="+mn-lt"/>
              </a:rPr>
              <a:t>2.6354%</a:t>
            </a:r>
            <a:endParaRPr lang="zh-CN" altLang="zh-CN" dirty="0"/>
          </a:p>
          <a:p>
            <a:pPr>
              <a:buNone/>
            </a:pPr>
            <a:r>
              <a:rPr lang="zh-CN" altLang="zh-CN" dirty="0"/>
              <a:t>虽然 skip 翻转更多，但旁路消融证明，真正影响检测的是 main：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全干净编码：</a:t>
            </a:r>
            <a:r>
              <a:rPr lang="zh-CN" altLang="zh-CN" dirty="0">
                <a:latin typeface="+mn-lt"/>
              </a:rPr>
              <a:t>0.4070</a:t>
            </a:r>
            <a:endParaRPr lang="zh-CN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只有 main 来自 PGD：</a:t>
            </a:r>
            <a:r>
              <a:rPr lang="zh-CN" altLang="zh-CN" dirty="0">
                <a:latin typeface="+mn-lt"/>
              </a:rPr>
              <a:t>0.4030</a:t>
            </a:r>
            <a:r>
              <a:rPr lang="zh-CN" altLang="zh-CN" dirty="0"/>
              <a:t>，下降 </a:t>
            </a:r>
            <a:r>
              <a:rPr lang="zh-CN" altLang="zh-CN" dirty="0">
                <a:latin typeface="+mn-lt"/>
              </a:rPr>
              <a:t>0.0040</a:t>
            </a:r>
            <a:endParaRPr lang="zh-CN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只有两个 skip 来自 PGD：</a:t>
            </a:r>
            <a:r>
              <a:rPr lang="zh-CN" altLang="zh-CN" dirty="0">
                <a:latin typeface="+mn-lt"/>
              </a:rPr>
              <a:t>0.4055</a:t>
            </a:r>
            <a:r>
              <a:rPr lang="zh-CN" altLang="zh-CN" dirty="0"/>
              <a:t>，只下降 </a:t>
            </a:r>
            <a:r>
              <a:rPr lang="zh-CN" altLang="zh-CN" dirty="0">
                <a:latin typeface="+mn-lt"/>
              </a:rPr>
              <a:t>0.0015</a:t>
            </a:r>
            <a:endParaRPr lang="zh-CN" altLang="zh-C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zh-CN" altLang="zh-CN" dirty="0"/>
              <a:t>单独污染 skip64 或 skip32：几乎没有影响</a:t>
            </a:r>
          </a:p>
        </p:txBody>
      </p:sp>
    </p:spTree>
    <p:extLst>
      <p:ext uri="{BB962C8B-B14F-4D97-AF65-F5344CB8AC3E}">
        <p14:creationId xmlns:p14="http://schemas.microsoft.com/office/powerpoint/2010/main" val="35666404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75EE23D-C64A-F9E5-3CF2-B885A5310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尝试重训</a:t>
            </a:r>
            <a:r>
              <a:rPr lang="en-US" altLang="zh-CN" dirty="0"/>
              <a:t>diffusion</a:t>
            </a:r>
            <a:r>
              <a:rPr lang="zh-CN" altLang="en-US" dirty="0"/>
              <a:t>，初步发现效果不大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F2241595-130A-BD17-DC86-D37FD3FC281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803873038"/>
              </p:ext>
            </p:extLst>
          </p:nvPr>
        </p:nvGraphicFramePr>
        <p:xfrm>
          <a:off x="778328" y="1410494"/>
          <a:ext cx="10515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5257800">
                  <a:extLst>
                    <a:ext uri="{9D8B030D-6E8A-4147-A177-3AD203B41FA5}">
                      <a16:colId xmlns:a16="http://schemas.microsoft.com/office/drawing/2014/main" val="251211512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2998032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t*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mAP50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765972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0，直接重建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0.4021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66677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4554071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0.4019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65071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/>
                        <a:t>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CN" dirty="0"/>
                        <a:t>0.4006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54871219"/>
                  </a:ext>
                </a:extLst>
              </a:tr>
            </a:tbl>
          </a:graphicData>
        </a:graphic>
      </p:graphicFrame>
      <p:sp>
        <p:nvSpPr>
          <p:cNvPr id="7" name="文本框 6">
            <a:extLst>
              <a:ext uri="{FF2B5EF4-FFF2-40B4-BE49-F238E27FC236}">
                <a16:creationId xmlns:a16="http://schemas.microsoft.com/office/drawing/2014/main" id="{B6AD55C8-6B71-BFC2-E10E-9EDB91EF79A1}"/>
              </a:ext>
            </a:extLst>
          </p:cNvPr>
          <p:cNvSpPr txBox="1"/>
          <p:nvPr/>
        </p:nvSpPr>
        <p:spPr>
          <a:xfrm>
            <a:off x="1066800" y="4213162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目前最佳方法是：</a:t>
            </a:r>
            <a:endParaRPr lang="en-US" altLang="zh-CN" dirty="0"/>
          </a:p>
          <a:p>
            <a:r>
              <a:rPr lang="zh-CN" altLang="en-US" dirty="0"/>
              <a:t>PGD图像 → HF-AE直接重建mAP50 = 0.4021</a:t>
            </a:r>
            <a:endParaRPr lang="en-US" altLang="zh-CN" dirty="0"/>
          </a:p>
          <a:p>
            <a:endParaRPr lang="en-US" altLang="zh-CN" dirty="0"/>
          </a:p>
          <a:p>
            <a:r>
              <a:rPr lang="zh-CN" altLang="zh-CN" dirty="0"/>
              <a:t>如果还要发展 diffusion，必须改成针对训练集 PGD 配对编码、低 timestep 和少数变化 bit 加权的定向净化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870262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199</TotalTime>
  <Words>1275</Words>
  <Application>Microsoft Office PowerPoint</Application>
  <PresentationFormat>宽屏</PresentationFormat>
  <Paragraphs>109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0" baseType="lpstr">
      <vt:lpstr>等线</vt:lpstr>
      <vt:lpstr>等线 Light</vt:lpstr>
      <vt:lpstr>Arial</vt:lpstr>
      <vt:lpstr>Office 主题​​</vt:lpstr>
      <vt:lpstr>PowerPoint 演示文稿</vt:lpstr>
      <vt:lpstr>定位重建损失</vt:lpstr>
      <vt:lpstr>PowerPoint 演示文稿</vt:lpstr>
      <vt:lpstr>High-Frequency-Aware GCN-Skip Binary Autoencoder（HF-AE）</vt:lpstr>
      <vt:lpstr>PowerPoint 演示文稿</vt:lpstr>
      <vt:lpstr>尝试重训diffusion，初步发现效果不大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Terrsa X</dc:creator>
  <cp:lastModifiedBy>Terrsa X</cp:lastModifiedBy>
  <cp:revision>2</cp:revision>
  <dcterms:created xsi:type="dcterms:W3CDTF">2026-09-28T06:16:41Z</dcterms:created>
  <dcterms:modified xsi:type="dcterms:W3CDTF">2026-10-04T13:11:08Z</dcterms:modified>
</cp:coreProperties>
</file>