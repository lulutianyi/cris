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97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4C3F83-3992-A170-AD18-2D8C0DF05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840CCD-F2FB-08A6-56F4-CAF9D2D99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A3EF25-81E6-D4EA-D6AE-51314A7E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B802-0DEC-404F-A71A-B9CCB8AE4CE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5D552D-BBFE-DA14-B8E3-E5DA7D82C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854A32-2EA8-009E-A64E-2DB7C1E2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6A60-A450-4C64-9935-E47C24604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37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E9BDD1-3DE4-53D6-2E73-1816A082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E86BBC-5C45-8B72-13B8-85D66EC52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306E97-456D-E500-D122-76A209BC5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B802-0DEC-404F-A71A-B9CCB8AE4CE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6D1D50-AA57-2F95-75E0-645D1B998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C81BEE-6354-CBDF-F2D1-E626AFB30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6A60-A450-4C64-9935-E47C24604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509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2E46F8-6E80-DDDA-FDFE-B1C5D14B7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FE1D2-18C1-F996-3DA3-13B6B6664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8CA315-E2CE-A984-12CC-C0335E45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B802-0DEC-404F-A71A-B9CCB8AE4CE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E9FBA9-6B0A-D548-679E-C373F7EC2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4A4F4B-7664-7F87-1483-B7DC4C62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6A60-A450-4C64-9935-E47C24604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299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8B7A3-41BD-BF69-C85C-EA1BCC884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A6B128-7D2B-CC63-0D09-12A37088D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1B81A8-E78D-EA3A-B678-FFD44302A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43C189-2127-97B3-C2F8-82AA8CE6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B802-0DEC-404F-A71A-B9CCB8AE4CE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B1DB67-0A01-49AA-93E2-A25BE7E5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37E36D-1550-A38D-BE2E-153B8003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6A60-A450-4C64-9935-E47C24604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080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84A60-9497-9021-4440-09D4939DB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2A260F-66C2-8C64-1DE0-ABF42CBE5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AFC03D-C553-48A9-57F2-156E93EB0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14110F-376A-F693-28EC-CFA9026EE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88DF76-FA4C-12BE-955B-D03B6728A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EE9926C-10E0-CDD0-5559-662007F87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B802-0DEC-404F-A71A-B9CCB8AE4CE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472F71-EBAA-E203-19B3-E714762F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290D5B6-DE13-4A16-BE0A-228012FC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6A60-A450-4C64-9935-E47C24604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04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5E7F66-C94C-B986-0CEB-1DD6847E1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866815-7B32-7459-3134-9C7EDE47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B802-0DEC-404F-A71A-B9CCB8AE4CE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A38FF0-8FC8-683F-F605-58B986BF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E957B2-DF3C-E9B1-43C7-00C84333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6A60-A450-4C64-9935-E47C24604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54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647CF5-581A-4754-EECC-47A1BD68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B802-0DEC-404F-A71A-B9CCB8AE4CE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FE4F9E-99F3-CD21-C0D0-984334F9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76A2A3-2E16-21E9-15CD-DAA33F0C5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6A60-A450-4C64-9935-E47C24604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27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AE2BC-10DD-B168-F8DF-C6976719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98DC1-F054-9D82-408F-8E2A556EA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3F71A9-B1D2-5E52-3927-C25AB3848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0FB971-F34A-DF8B-1C97-86EDD5B18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B802-0DEC-404F-A71A-B9CCB8AE4CE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8F0ED3-5253-7A63-99FA-2DF608DC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D43277-0E46-4BEC-F3D3-AD777AF3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6A60-A450-4C64-9935-E47C24604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35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927BF2-13E7-A510-2A5C-562897CE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43974D-2437-2B10-96F8-DCCAB5D01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8978DA-3117-92F3-8F38-C0FB51D7D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30A698-C2DF-1A90-9A62-BE9CEA7CE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B802-0DEC-404F-A71A-B9CCB8AE4CE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91E335-8759-6E5E-A524-832447F92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978EB4-873F-617E-720F-141E964AF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6A60-A450-4C64-9935-E47C24604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687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1AE21-5948-A7B6-7CBA-A64A0DD6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9C10B7-D180-472D-6729-4FCEEE1F1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D6DC99-74A5-1BDC-508E-5267B116C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B802-0DEC-404F-A71A-B9CCB8AE4CE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1AE0C9-F4A2-EF91-BA2D-A8E45255C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67F177-1F15-23CE-C7BD-34DCE38A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6A60-A450-4C64-9935-E47C24604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580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F71F26-F44A-5171-7B2A-C4FB12A4B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8D7562-106A-98B0-3BCC-0A0C837B2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9EA0D6-95CE-7E1B-AA69-47881F9A9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B802-0DEC-404F-A71A-B9CCB8AE4CE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32C5EB-8942-5505-EE59-B6A579ED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2D2229-1049-1009-79AB-0F605F8A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6A60-A450-4C64-9935-E47C24604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81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2028AC-79E7-18A2-0D28-31D7324B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4A6B3C-984E-3123-F850-D7E033781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10A985-D109-D4DA-064A-6E8FB6F59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FB802-0DEC-404F-A71A-B9CCB8AE4CE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435AAE-B141-904D-F71A-C62BC3F12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633DB-A882-FBAE-CFC0-31A786335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16A60-A450-4C64-9935-E47C24604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49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F1DB1-3278-BFCB-A40C-CAB5FB0FC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6B693-6543-4F45-DA2C-09145E5CC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800" b="1" dirty="0" err="1"/>
              <a:t>FactorizedPrior</a:t>
            </a:r>
            <a:r>
              <a:rPr lang="en-US" altLang="zh-CN" sz="1800" b="1" dirty="0"/>
              <a:t>(N=128, M=192) </a:t>
            </a:r>
            <a:r>
              <a:rPr lang="zh-CN" altLang="en-US" sz="1800" b="1" dirty="0"/>
              <a:t>是 </a:t>
            </a:r>
            <a:r>
              <a:rPr lang="en-US" altLang="zh-CN" sz="1800" b="1" dirty="0" err="1"/>
              <a:t>Ballé</a:t>
            </a:r>
            <a:r>
              <a:rPr lang="en-US" altLang="zh-CN" sz="1800" b="1" dirty="0"/>
              <a:t> 2018 </a:t>
            </a:r>
            <a:r>
              <a:rPr lang="zh-CN" altLang="en-US" sz="1800" b="1" dirty="0"/>
              <a:t>年的论文 </a:t>
            </a:r>
            <a:r>
              <a:rPr lang="en-US" altLang="zh-CN" sz="1800" b="1" i="1" dirty="0"/>
              <a:t>"Variational Image Compression with a Scale Hyperprior"</a:t>
            </a:r>
            <a:r>
              <a:rPr lang="en-US" altLang="zh-CN" sz="1800" b="1" dirty="0"/>
              <a:t> </a:t>
            </a:r>
            <a:r>
              <a:rPr lang="zh-CN" altLang="en-US" sz="1800" b="1" dirty="0"/>
              <a:t>中的基础版本</a:t>
            </a:r>
            <a:endParaRPr lang="en-US" altLang="zh-CN" sz="1800" b="1" dirty="0"/>
          </a:p>
          <a:p>
            <a:r>
              <a:rPr lang="zh-CN" altLang="en-US" sz="1900" dirty="0"/>
              <a:t>编码器 </a:t>
            </a:r>
            <a:r>
              <a:rPr lang="en-US" altLang="zh-CN" sz="1900" dirty="0"/>
              <a:t>(</a:t>
            </a:r>
            <a:r>
              <a:rPr lang="en-US" altLang="zh-CN" sz="1900" dirty="0" err="1"/>
              <a:t>g_a</a:t>
            </a:r>
            <a:r>
              <a:rPr lang="en-US" altLang="zh-CN" sz="1900" dirty="0"/>
              <a:t>)          </a:t>
            </a:r>
            <a:r>
              <a:rPr lang="zh-CN" altLang="en-US" sz="1900" dirty="0"/>
              <a:t>熵模型               解码器 </a:t>
            </a:r>
            <a:r>
              <a:rPr lang="en-US" altLang="zh-CN" sz="1900" dirty="0"/>
              <a:t>(</a:t>
            </a:r>
            <a:r>
              <a:rPr lang="en-US" altLang="zh-CN" sz="1900" dirty="0" err="1"/>
              <a:t>g_s</a:t>
            </a:r>
            <a:r>
              <a:rPr lang="en-US" altLang="zh-CN" sz="1900" dirty="0"/>
              <a:t>)</a:t>
            </a:r>
          </a:p>
          <a:p>
            <a:r>
              <a:rPr lang="zh-CN" altLang="en-US" sz="1900" dirty="0"/>
              <a:t>原图 </a:t>
            </a:r>
            <a:r>
              <a:rPr lang="en-US" altLang="zh-CN" sz="1900" dirty="0"/>
              <a:t>x                                             </a:t>
            </a:r>
            <a:r>
              <a:rPr lang="zh-CN" altLang="en-US" sz="1900" dirty="0"/>
              <a:t>重建图 </a:t>
            </a:r>
            <a:r>
              <a:rPr lang="en-US" altLang="zh-CN" sz="1900" dirty="0"/>
              <a:t>x̂</a:t>
            </a:r>
          </a:p>
          <a:p>
            <a:r>
              <a:rPr lang="en-US" altLang="zh-CN" sz="1900" dirty="0"/>
              <a:t>416×416×3  →  </a:t>
            </a:r>
            <a:r>
              <a:rPr lang="zh-CN" altLang="en-US" sz="1900" dirty="0"/>
              <a:t>卷积下采样  →  潜变量 </a:t>
            </a:r>
            <a:r>
              <a:rPr lang="en-US" altLang="zh-CN" sz="1900" dirty="0"/>
              <a:t>y  →  </a:t>
            </a:r>
            <a:r>
              <a:rPr lang="zh-CN" altLang="en-US" sz="1900" dirty="0"/>
              <a:t>量化  →  反卷积上采样  →  </a:t>
            </a:r>
            <a:r>
              <a:rPr lang="en-US" altLang="zh-CN" sz="1900" dirty="0"/>
              <a:t>416×416×3</a:t>
            </a:r>
          </a:p>
          <a:p>
            <a:r>
              <a:rPr lang="en-US" altLang="zh-CN" sz="1900" dirty="0"/>
              <a:t>                                                       ↓</a:t>
            </a:r>
          </a:p>
          <a:p>
            <a:r>
              <a:rPr lang="en-US" altLang="zh-CN" sz="1900" dirty="0"/>
              <a:t>                                            </a:t>
            </a:r>
            <a:r>
              <a:rPr lang="en-US" altLang="zh-CN" sz="1900" dirty="0" err="1"/>
              <a:t>EntropyBottleneck</a:t>
            </a:r>
            <a:endParaRPr lang="en-US" altLang="zh-CN" sz="1900" dirty="0"/>
          </a:p>
          <a:p>
            <a:r>
              <a:rPr lang="en-US" altLang="zh-CN" sz="1900" dirty="0"/>
              <a:t>                          </a:t>
            </a:r>
            <a:r>
              <a:rPr lang="zh-CN" altLang="en-US" sz="1900" dirty="0"/>
              <a:t>（学习 </a:t>
            </a:r>
            <a:r>
              <a:rPr lang="en-US" altLang="zh-CN" sz="1900" dirty="0"/>
              <a:t>y </a:t>
            </a:r>
            <a:r>
              <a:rPr lang="zh-CN" altLang="en-US" sz="1900" dirty="0"/>
              <a:t>的边缘分布 ，估算编码需要多少比特）</a:t>
            </a:r>
          </a:p>
        </p:txBody>
      </p:sp>
    </p:spTree>
    <p:extLst>
      <p:ext uri="{BB962C8B-B14F-4D97-AF65-F5344CB8AC3E}">
        <p14:creationId xmlns:p14="http://schemas.microsoft.com/office/powerpoint/2010/main" val="418392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F0AE1-BEAB-2D9A-8F28-CF7C312990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7DE7D2D-02E0-BC4C-45E5-A85F55C4F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2" y="3694113"/>
            <a:ext cx="3861547" cy="30987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2495D23-A207-87BA-D76F-FBD55622C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13"/>
            <a:ext cx="4445009" cy="35923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51B6C54-7483-32A2-97F0-8F74B8246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9" y="36827"/>
            <a:ext cx="4445009" cy="3657286"/>
          </a:xfrm>
          <a:prstGeom prst="rect">
            <a:avLst/>
          </a:prstGeom>
        </p:spPr>
      </p:pic>
      <p:sp>
        <p:nvSpPr>
          <p:cNvPr id="13" name="副标题 12">
            <a:extLst>
              <a:ext uri="{FF2B5EF4-FFF2-40B4-BE49-F238E27FC236}">
                <a16:creationId xmlns:a16="http://schemas.microsoft.com/office/drawing/2014/main" id="{471D771D-F1C3-917E-FDCF-F2A5C09F8A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C79FEB2-3256-27BF-D8F3-83146956A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837765"/>
              </p:ext>
            </p:extLst>
          </p:nvPr>
        </p:nvGraphicFramePr>
        <p:xfrm>
          <a:off x="4167843" y="394589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715412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49512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69484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38697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altLang="zh-CN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λ</a:t>
                      </a:r>
                      <a:r>
                        <a:rPr lang="en-US" altLang="zh-CN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=0.01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altLang="zh-CN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λ</a:t>
                      </a:r>
                      <a:r>
                        <a:rPr lang="en-US" altLang="zh-CN" dirty="0"/>
                        <a:t>=0.001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altLang="zh-CN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λ</a:t>
                      </a:r>
                      <a:r>
                        <a:rPr lang="en-US" altLang="zh-CN" dirty="0"/>
                        <a:t>=0.05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828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最终</a:t>
                      </a:r>
                      <a:r>
                        <a:rPr lang="en-US" altLang="zh-CN" dirty="0" err="1"/>
                        <a:t>bpp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0.85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887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最终</a:t>
                      </a:r>
                      <a:r>
                        <a:rPr lang="en-US" altLang="zh-CN" dirty="0"/>
                        <a:t>PSNR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28dB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25dB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27.5dB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28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曲线形态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斜向收敛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早期崩坏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垂直稳定收敛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551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34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33B1B-8464-A2A7-32F0-CEAD114A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0D4509-1E2B-BB69-C56B-5D74F0138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相较于</a:t>
            </a:r>
            <a:r>
              <a:rPr lang="en-US" altLang="zh-CN" sz="2400" dirty="0" err="1"/>
              <a:t>FactorizedPrior</a:t>
            </a:r>
            <a:r>
              <a:rPr lang="zh-CN" altLang="en-US" sz="2400" dirty="0"/>
              <a:t>，</a:t>
            </a:r>
            <a:r>
              <a:rPr lang="en-US" altLang="zh-CN" sz="2400" dirty="0"/>
              <a:t>Cheng2020Anchor</a:t>
            </a:r>
            <a:r>
              <a:rPr lang="zh-CN" altLang="en-US" sz="2400" dirty="0"/>
              <a:t>引入了高斯混合模型和自回归上下文模块，主干网络引入了</a:t>
            </a:r>
            <a:r>
              <a:rPr lang="zh-CN" altLang="en-US" sz="2400" b="1" dirty="0"/>
              <a:t>残差块</a:t>
            </a:r>
            <a:r>
              <a:rPr lang="zh-CN" altLang="en-US" sz="2400" dirty="0"/>
              <a:t>，特征提取能力更强，对火焰边缘这类高频细节的捕捉比纯卷积堆叠要好。</a:t>
            </a:r>
            <a:endParaRPr lang="en-US" altLang="zh-CN" sz="2400" dirty="0"/>
          </a:p>
          <a:p>
            <a:r>
              <a:rPr lang="en-US" altLang="zh-CN" sz="2400" dirty="0"/>
              <a:t>Cheng2020Anchor</a:t>
            </a:r>
            <a:r>
              <a:rPr lang="zh-CN" altLang="en-US" sz="2400" dirty="0"/>
              <a:t>的</a:t>
            </a:r>
            <a:r>
              <a:rPr lang="en-US" altLang="zh-CN" sz="2400" dirty="0"/>
              <a:t>baseline</a:t>
            </a:r>
            <a:r>
              <a:rPr lang="zh-CN" altLang="en-US" sz="2400" dirty="0"/>
              <a:t>在</a:t>
            </a:r>
            <a:r>
              <a:rPr lang="en-US" altLang="zh-CN" sz="2400" dirty="0"/>
              <a:t>23</a:t>
            </a:r>
            <a:r>
              <a:rPr lang="zh-CN" altLang="en-US" sz="2400" dirty="0"/>
              <a:t>个</a:t>
            </a:r>
            <a:r>
              <a:rPr lang="en-US" altLang="zh-CN" sz="2400" dirty="0"/>
              <a:t>epoch</a:t>
            </a:r>
            <a:r>
              <a:rPr lang="zh-CN" altLang="en-US" sz="2400" dirty="0"/>
              <a:t>的时候就到了</a:t>
            </a:r>
            <a:r>
              <a:rPr lang="en-US" altLang="zh-CN" sz="2400" dirty="0"/>
              <a:t>PSNR27.4</a:t>
            </a:r>
            <a:r>
              <a:rPr lang="zh-CN" altLang="en-US" sz="2400" dirty="0"/>
              <a:t>，</a:t>
            </a:r>
            <a:r>
              <a:rPr lang="en-US" altLang="zh-CN" sz="2400" dirty="0"/>
              <a:t>bpp0.35</a:t>
            </a:r>
            <a:r>
              <a:rPr lang="zh-CN" altLang="en-US" sz="2400" dirty="0"/>
              <a:t>左右，但完整的训练流程没有跑完。不过我们可以看到在实现几乎相同的</a:t>
            </a:r>
            <a:r>
              <a:rPr lang="en-US" altLang="zh-CN" sz="2400" dirty="0"/>
              <a:t>PSNR</a:t>
            </a:r>
            <a:r>
              <a:rPr lang="zh-CN" altLang="en-US" sz="2400" dirty="0"/>
              <a:t>的前提下，新模型所占有的比特数少了一半。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下一步计划加入检测任务损失并引入</a:t>
            </a:r>
            <a:r>
              <a:rPr lang="en-US" altLang="zh-CN" sz="2400" dirty="0"/>
              <a:t>RDDM</a:t>
            </a:r>
            <a:r>
              <a:rPr lang="zh-CN" altLang="en-US" sz="2400" dirty="0"/>
              <a:t>，在 </a:t>
            </a:r>
            <a:r>
              <a:rPr lang="en-US" altLang="zh-CN" sz="2400" dirty="0"/>
              <a:t>Cheng2020 </a:t>
            </a:r>
            <a:r>
              <a:rPr lang="zh-CN" altLang="en-US" sz="2400"/>
              <a:t>重建结果的基础上，用残差扩散补回这些高频纹理细节。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419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D31DB-A8C6-D278-EF23-C9A88311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669F94-CDA0-E758-2CD1-2F1E452CF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50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837B4-57CE-841A-C666-13817939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FB129-A095-AB92-5AA9-F2198AC14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898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236</Words>
  <Application>Microsoft Office PowerPoint</Application>
  <PresentationFormat>宽屏</PresentationFormat>
  <Paragraphs>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Segoe UI Symbol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2</cp:revision>
  <dcterms:created xsi:type="dcterms:W3CDTF">2026-06-04T14:03:46Z</dcterms:created>
  <dcterms:modified xsi:type="dcterms:W3CDTF">2026-06-05T09:06:03Z</dcterms:modified>
</cp:coreProperties>
</file>