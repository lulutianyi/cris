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5A8B8-D301-F777-4860-58F0189191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5C23C8A-B24F-778A-6E38-0A8D41559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C7B70C-BB0A-E107-AC36-A9C4EC65B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22BB62-F199-8343-E8F7-31C6CE5E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7906B2-BF62-8E70-A43B-92267C2F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5740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E7F23F-A74F-B223-AD42-27BAC7B7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339081-48AC-7113-0C3B-16B573B7F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FE6C5-5900-D2E6-0BE1-2A8030208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B4B1A9-ADFA-945C-1E71-AC5EBAB53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74DBFB-2412-B723-FFE0-3A4608314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3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08BD5-8DA0-4B88-7E72-A27244A04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00BEF7-F6A4-823B-E49D-2E319D12F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EF504F-49DC-7573-3E67-67934B616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C05524-C6DE-EEDB-A20B-2B79FA70C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2440D5-24CE-F174-F5CB-268B9DBF8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4801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CDE3A8-369A-DF5D-7F6E-F282075C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8C9E30-AF39-69BF-5E81-E16502B04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796C28-DC88-DC05-894E-B624C2CE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33F96D-37E7-D379-4082-0F624A83C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5407D-23A5-22D1-3FE8-88D0C190E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6B7B71-1CAF-4EB2-1DA5-DCC0E0CD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14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C75DC-223F-AB2A-CA32-A10B5A47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33CE5E-47E9-268F-4730-B77A8E3B3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1C3D87-5F29-FC4E-CDEE-E29E041308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DAEC00-5A23-37B2-79F2-893DBFEA8B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04DC76-1E59-7648-80B6-422A2D1060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5D478E-8E00-D9AD-DFC9-4C09C16B2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EEFCC3-E45C-41AB-20C5-4457E9C75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C9AFC60-149F-A97B-558C-D55416AEB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488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9C0736-B449-8976-DCA1-BEBB7534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528E96-A3C4-92BE-B65E-A4DF2D737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C52856A-D285-AA5B-05F2-48169091F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AB53025-3FF4-0C43-6AFD-A745609C7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1262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89A2731-CC87-BB0D-EF60-C217BFF81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0DED34A-E1E6-3EE3-87ED-F431F2EA2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E4930A1-F022-87DE-2EEE-664AD8AFC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815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2D026B-0F42-177F-3BB6-1BFFBFE13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3F44C2-7DA9-9B43-3725-09774E146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1C019CE-1DBB-4CAF-CC22-12529B9EFA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131EB6-C329-C256-8E55-0C0306AED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A4FA2D-B00F-BF29-771E-278113EF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C1A9C9-6215-2F08-5EA6-067BE7BD8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7249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09AAA-72F7-5305-44F6-14085F2D0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9A79E44-6686-A108-A5A9-3B164DDED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738F00-4470-2C68-1632-6A74E802C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6786D5-D8C2-FCEF-F9E4-C7E334237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524778-3EB2-0E19-9613-98C28D688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DAEA1C-9557-3AAC-41F0-697C787CF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7489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015380-E204-647F-E03E-50FEC0A8C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5CA72A-F22A-473B-9930-EB272BADF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E052DB-64F8-16CC-1BED-C13653EDE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8F6C94-0E28-55DC-6A1D-EB646F15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12C85E-70F4-0E15-53F1-63A394CA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6570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0CDFB6-58B3-FABB-7EA7-6AA3AEE52E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8DD1E97-C6AA-35CA-2C44-8F1CE4746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AE9FF6-E53A-E984-BA0B-69AA991DB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BDF87D-43B1-F72A-4942-AC55A5EC4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14A168-CDFA-F4F1-D0A1-D46E78C5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601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09CBD7F-FF44-C496-CF87-C4739A73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0FC30A-1349-2FC1-D30C-A07A94A48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DF9E71-0E97-CE6C-FBD8-D60388A574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1F1B7E-6966-4D66-AF8F-551D238877EA}" type="datetimeFigureOut">
              <a:rPr lang="zh-CN" altLang="en-US" smtClean="0"/>
              <a:t>2026/6/27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657C59-27EF-6C52-067C-FB6AF6B00E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83EA48-0F06-A79F-EA90-D65C7B014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91DADA-0599-4931-9695-AD7FC4E161E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8997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5CAF0688-53FC-C270-FE8C-0E451092C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5363" y="1570909"/>
            <a:ext cx="5961961" cy="3061684"/>
          </a:xfrm>
        </p:spPr>
        <p:txBody>
          <a:bodyPr>
            <a:noAutofit/>
          </a:bodyPr>
          <a:lstStyle/>
          <a:p>
            <a:r>
              <a:rPr lang="zh-CN" altLang="en-US" b="1" dirty="0"/>
              <a:t>对抗样本 </a:t>
            </a:r>
            <a:r>
              <a:rPr lang="en-US" altLang="zh-CN" b="1" dirty="0" err="1"/>
              <a:t>x_adv</a:t>
            </a:r>
            <a:r>
              <a:rPr lang="zh-CN" altLang="en-US" b="1" dirty="0"/>
              <a:t>（连续，</a:t>
            </a:r>
            <a:r>
              <a:rPr lang="en-US" altLang="zh-CN" b="1" dirty="0"/>
              <a:t>[0,1]</a:t>
            </a:r>
            <a:r>
              <a:rPr lang="zh-CN" altLang="en-US" b="1" dirty="0"/>
              <a:t>像素值）</a:t>
            </a:r>
          </a:p>
          <a:p>
            <a:r>
              <a:rPr lang="zh-CN" altLang="en-US" b="1" dirty="0"/>
              <a:t>        ↓  样本离散化</a:t>
            </a:r>
            <a:r>
              <a:rPr lang="en-US" altLang="zh-CN" b="1" dirty="0"/>
              <a:t>/</a:t>
            </a:r>
            <a:r>
              <a:rPr lang="zh-CN" altLang="en-US" b="1" dirty="0"/>
              <a:t>二进制化</a:t>
            </a:r>
          </a:p>
          <a:p>
            <a:r>
              <a:rPr lang="zh-CN" altLang="en-US" b="1" dirty="0"/>
              <a:t>离散</a:t>
            </a:r>
            <a:r>
              <a:rPr lang="en-US" altLang="zh-CN" b="1" dirty="0"/>
              <a:t>binary/codebook</a:t>
            </a:r>
            <a:r>
              <a:rPr lang="zh-CN" altLang="en-US" b="1" dirty="0"/>
              <a:t>空间</a:t>
            </a:r>
          </a:p>
          <a:p>
            <a:r>
              <a:rPr lang="zh-CN" altLang="en-US" b="1" dirty="0"/>
              <a:t>        ↓  </a:t>
            </a:r>
            <a:r>
              <a:rPr lang="en-US" altLang="zh-CN" b="1" dirty="0"/>
              <a:t>D3PM/VQ-diffusion</a:t>
            </a:r>
            <a:r>
              <a:rPr lang="zh-CN" altLang="en-US" b="1" dirty="0"/>
              <a:t>反向去噪</a:t>
            </a:r>
          </a:p>
          <a:p>
            <a:r>
              <a:rPr lang="zh-CN" altLang="en-US" b="1" dirty="0"/>
              <a:t>干净的离散表示</a:t>
            </a:r>
          </a:p>
          <a:p>
            <a:r>
              <a:rPr lang="zh-CN" altLang="en-US" b="1" dirty="0"/>
              <a:t>        ↓  </a:t>
            </a:r>
            <a:r>
              <a:rPr lang="en-US" altLang="zh-CN" b="1" dirty="0"/>
              <a:t>decoder</a:t>
            </a:r>
          </a:p>
          <a:p>
            <a:r>
              <a:rPr lang="zh-CN" altLang="en-US" b="1" dirty="0"/>
              <a:t>干净的连续图像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8F490D6-08EB-0830-80C7-76FDB15C239D}"/>
              </a:ext>
            </a:extLst>
          </p:cNvPr>
          <p:cNvSpPr txBox="1">
            <a:spLocks/>
          </p:cNvSpPr>
          <p:nvPr/>
        </p:nvSpPr>
        <p:spPr>
          <a:xfrm>
            <a:off x="6947052" y="479234"/>
            <a:ext cx="3656683" cy="1797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dirty="0"/>
              <a:t>使用其他图片集上预训练的</a:t>
            </a:r>
            <a:r>
              <a:rPr lang="en-US" altLang="zh-CN" sz="2000" dirty="0" err="1"/>
              <a:t>Vqvae</a:t>
            </a:r>
            <a:r>
              <a:rPr lang="zh-CN" altLang="en-US" sz="2000" dirty="0"/>
              <a:t>能够把图像编码成离散向量。但缺陷在于预训练好的编码器会让结果产生偏移。</a:t>
            </a: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F6DB8D16-336D-9E05-1D5A-01DCE932F245}"/>
              </a:ext>
            </a:extLst>
          </p:cNvPr>
          <p:cNvCxnSpPr/>
          <p:nvPr/>
        </p:nvCxnSpPr>
        <p:spPr>
          <a:xfrm flipV="1">
            <a:off x="5425807" y="1008043"/>
            <a:ext cx="1521245" cy="126894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5FCD0D7D-47C2-BD25-71C3-D5E8C951D67D}"/>
              </a:ext>
            </a:extLst>
          </p:cNvPr>
          <p:cNvSpPr txBox="1"/>
          <p:nvPr/>
        </p:nvSpPr>
        <p:spPr>
          <a:xfrm>
            <a:off x="6505460" y="2875402"/>
            <a:ext cx="40982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主要创新点：用二项分布替代前向传播的高斯分布，让去噪的反向传播过程在离散低维空间而不是连续高斯空间中进行，从而在理论上更与真实数据的流形结构相匹配。</a:t>
            </a:r>
          </a:p>
        </p:txBody>
      </p:sp>
    </p:spTree>
    <p:extLst>
      <p:ext uri="{BB962C8B-B14F-4D97-AF65-F5344CB8AC3E}">
        <p14:creationId xmlns:p14="http://schemas.microsoft.com/office/powerpoint/2010/main" val="2361226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E6456-E30F-FFFE-8AD4-F0B62E311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7393D6-BC2D-0CA9-40A4-22A9C153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sz="2000" dirty="0"/>
              <a:t>D3PM/VQ-diffusion: 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（干净）→ 加噪 → 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t</a:t>
            </a:r>
            <a:r>
              <a:rPr lang="en-US" altLang="zh-CN" sz="2000" dirty="0"/>
              <a:t> → </a:t>
            </a:r>
            <a:r>
              <a:rPr lang="zh-CN" altLang="en-US" sz="2000" dirty="0"/>
              <a:t>去噪 → 重建</a:t>
            </a:r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</a:p>
          <a:p>
            <a:r>
              <a:rPr lang="en-US" altLang="zh-CN" sz="2000" dirty="0"/>
              <a:t>x</a:t>
            </a:r>
            <a:r>
              <a:rPr lang="en-US" altLang="zh-CN" sz="2000" baseline="-25000" dirty="0"/>
              <a:t>0</a:t>
            </a:r>
            <a:r>
              <a:rPr lang="zh-CN" altLang="en-US" sz="2000" dirty="0"/>
              <a:t>是确认的干净样本，可以直接使用</a:t>
            </a:r>
            <a:endParaRPr lang="en-US" altLang="zh-CN" sz="2000" dirty="0"/>
          </a:p>
          <a:p>
            <a:r>
              <a:rPr lang="zh-CN" altLang="en-US" sz="2000" dirty="0"/>
              <a:t>我们的结构：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adv</a:t>
            </a:r>
            <a:r>
              <a:rPr lang="zh-CN" altLang="en-US" sz="2000" dirty="0"/>
              <a:t>（对抗）→ </a:t>
            </a:r>
            <a:r>
              <a:rPr lang="en-US" altLang="zh-CN" sz="2000" dirty="0"/>
              <a:t>binary</a:t>
            </a:r>
            <a:r>
              <a:rPr lang="zh-CN" altLang="en-US" sz="2000" dirty="0"/>
              <a:t>化</a:t>
            </a:r>
            <a:r>
              <a:rPr lang="en-US" altLang="zh-CN" sz="2000" dirty="0"/>
              <a:t>+</a:t>
            </a:r>
            <a:r>
              <a:rPr lang="zh-CN" altLang="en-US" sz="2000" dirty="0"/>
              <a:t>加噪 → 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t</a:t>
            </a:r>
            <a:r>
              <a:rPr lang="en-US" altLang="zh-CN" sz="2000" dirty="0"/>
              <a:t> → </a:t>
            </a:r>
            <a:r>
              <a:rPr lang="zh-CN" altLang="en-US" sz="2000" dirty="0"/>
              <a:t>去噪 → 重建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clean</a:t>
            </a:r>
            <a:endParaRPr lang="en-US" altLang="zh-CN" sz="2000" baseline="-25000" dirty="0"/>
          </a:p>
          <a:p>
            <a:r>
              <a:rPr lang="zh-CN" altLang="en-US" sz="2000" dirty="0"/>
              <a:t>冷扩散通过用确定性图像变换（如模糊、遮罩、降采样、像素化或变形态）替代基于噪声的退化，同时学习反向算子以恢复原始图像。</a:t>
            </a:r>
            <a:endParaRPr lang="en-US" altLang="zh-CN" sz="2000" dirty="0"/>
          </a:p>
          <a:p>
            <a:r>
              <a:rPr lang="zh-CN" altLang="en-US" sz="2000" dirty="0"/>
              <a:t>可以借鉴冷扩散的思路，把对抗扰动的添加看作一次退化操作，把前向扩散转化为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clean</a:t>
            </a:r>
            <a:r>
              <a:rPr lang="en-US" altLang="zh-CN" sz="2000" dirty="0"/>
              <a:t> → </a:t>
            </a:r>
            <a:r>
              <a:rPr lang="zh-CN" altLang="en-US" sz="2000" dirty="0"/>
              <a:t>加对抗噪声 → 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adv</a:t>
            </a:r>
            <a:r>
              <a:rPr lang="en-US" altLang="zh-CN" sz="2000" dirty="0"/>
              <a:t> → </a:t>
            </a:r>
            <a:r>
              <a:rPr lang="zh-CN" altLang="en-US" sz="2000" dirty="0"/>
              <a:t>继续</a:t>
            </a:r>
            <a:r>
              <a:rPr lang="en-US" altLang="zh-CN" sz="2000" dirty="0"/>
              <a:t>binary</a:t>
            </a:r>
            <a:r>
              <a:rPr lang="zh-CN" altLang="en-US" sz="2000" dirty="0"/>
              <a:t>加噪 → </a:t>
            </a:r>
            <a:r>
              <a:rPr lang="en-US" altLang="zh-CN" sz="2000" dirty="0" err="1"/>
              <a:t>x</a:t>
            </a:r>
            <a:r>
              <a:rPr lang="en-US" altLang="zh-CN" sz="2000" baseline="-25000" dirty="0" err="1"/>
              <a:t>t</a:t>
            </a:r>
            <a:endParaRPr lang="zh-CN" altLang="en-US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567DDE4-D447-0883-5607-06A8AFB85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9582" y="4092767"/>
            <a:ext cx="4274734" cy="246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571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7EDDDE-C89F-96EB-B4EE-9D5FA83C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035F502-2504-4380-D34D-0FB53445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两级退化：</a:t>
                </a:r>
                <a:endParaRPr lang="en-US" altLang="zh-CN" dirty="0"/>
              </a:p>
              <a:p>
                <a:r>
                  <a:rPr lang="zh-CN" altLang="en-US" sz="2000" dirty="0"/>
                  <a:t>第一级退化就是对抗样本的添加，把干净样本</a:t>
                </a:r>
                <a:r>
                  <a:rPr lang="en-US" altLang="zh-CN" sz="2000" dirty="0"/>
                  <a:t>x</a:t>
                </a:r>
                <a:r>
                  <a:rPr lang="en-US" altLang="zh-CN" sz="2000" baseline="-25000" dirty="0"/>
                  <a:t>0</a:t>
                </a:r>
                <a:r>
                  <a:rPr lang="zh-CN" altLang="en-US" sz="2000" dirty="0"/>
                  <a:t>推入对抗样本所在的区域</a:t>
                </a:r>
                <a:endParaRPr lang="en-US" altLang="zh-CN" sz="2000" dirty="0"/>
              </a:p>
              <a:p>
                <a:r>
                  <a:rPr lang="zh-CN" altLang="en-US" sz="2000" dirty="0"/>
                  <a:t>第二级退化则是</a:t>
                </a:r>
                <a:r>
                  <a:rPr lang="en-US" altLang="zh-CN" sz="2000" dirty="0"/>
                  <a:t>binary</a:t>
                </a:r>
                <a:r>
                  <a:rPr lang="zh-CN" altLang="en-US" sz="2000" dirty="0"/>
                  <a:t>离散化的过程，</a:t>
                </a:r>
                <a:r>
                  <a:rPr lang="zh-CN" altLang="zh-CN" sz="2000" dirty="0"/>
                  <a:t>即D3PM的bit-flip过程，随着</a:t>
                </a:r>
                <a14:m>
                  <m:oMath xmlns:m="http://schemas.openxmlformats.org/officeDocument/2006/math">
                    <m:r>
                      <a:rPr lang="zh-CN" altLang="en-US" i="1"/>
                      <m:t>𝑡</m:t>
                    </m:r>
                  </m:oMath>
                </a14:m>
                <a:r>
                  <a:rPr lang="zh-CN" altLang="zh-CN" sz="2000" dirty="0"/>
                  <a:t>增大，越来越多的bit被随机翻转，最终收敛到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sz="2000" b="0"/>
                      <m:t>Bernoulli</m:t>
                    </m:r>
                    <m:d>
                      <m:dPr>
                        <m:ctrlPr>
                          <a:rPr lang="zh-CN" altLang="en-US" i="1"/>
                        </m:ctrlPr>
                      </m:dPr>
                      <m:e>
                        <m:r>
                          <a:rPr lang="en-US" altLang="zh-CN"/>
                          <m:t>0.5</m:t>
                        </m:r>
                      </m:e>
                    </m:d>
                  </m:oMath>
                </a14:m>
                <a:r>
                  <a:rPr lang="zh-CN" altLang="zh-CN" sz="2000" dirty="0"/>
                  <a:t>。</a:t>
                </a:r>
                <a:endParaRPr lang="en-US" altLang="zh-CN" sz="2000" dirty="0"/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035F502-2504-4380-D34D-0FB53445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DACC5A27-F11B-B725-9FE6-3344FFEFE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4480064"/>
            <a:ext cx="8205107" cy="993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932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0CA416-C171-507E-FB46-41D2797E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VQ-diffusion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5C9A6A-F3F1-3D64-CB63-A5AAA52A7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sz="2000" b="1" dirty="0"/>
              <a:t>和ddpm的区别</a:t>
            </a:r>
            <a:br>
              <a:rPr lang="zh-CN" altLang="zh-CN" sz="2000" b="1" dirty="0"/>
            </a:br>
            <a:endParaRPr lang="zh-CN" altLang="zh-CN" sz="2000" b="1" dirty="0"/>
          </a:p>
          <a:p>
            <a:pPr lvl="1"/>
            <a:r>
              <a:rPr lang="zh-CN" altLang="zh-CN" sz="2000" dirty="0"/>
              <a:t>ddpm是在连续空间下进行加噪，VQ-diffusion在离散空间中进行加噪。</a:t>
            </a:r>
          </a:p>
          <a:p>
            <a:pPr lvl="1"/>
            <a:r>
              <a:rPr lang="zh-CN" altLang="zh-CN" sz="2000" dirty="0"/>
              <a:t>ddpm的</a:t>
            </a:r>
            <a:r>
              <a:rPr lang="zh-CN" altLang="zh-CN" sz="2000" b="1" dirty="0"/>
              <a:t>去噪过程</a:t>
            </a:r>
            <a:r>
              <a:rPr lang="zh-CN" altLang="zh-CN" sz="2000" dirty="0"/>
              <a:t>是通过模型预测噪声，通过预测的噪声，一步步推出  , VQ-diffusion是通过模型预测临时的  ,通过时间步一步步推出最终 。</a:t>
            </a:r>
          </a:p>
          <a:p>
            <a:pPr lvl="1"/>
            <a:r>
              <a:rPr lang="zh-CN" altLang="zh-CN" sz="2000" dirty="0"/>
              <a:t>ddpm的</a:t>
            </a:r>
            <a:r>
              <a:rPr lang="zh-CN" altLang="zh-CN" sz="2000" b="1" dirty="0"/>
              <a:t>损失函数</a:t>
            </a:r>
            <a:r>
              <a:rPr lang="zh-CN" altLang="zh-CN" sz="2000" dirty="0"/>
              <a:t>是优化 </a:t>
            </a:r>
            <a:r>
              <a:rPr lang="zh-CN" altLang="zh-CN" sz="2000" b="1" dirty="0"/>
              <a:t>预测的噪声</a:t>
            </a:r>
            <a:r>
              <a:rPr lang="zh-CN" altLang="zh-CN" sz="2000" dirty="0"/>
              <a:t>和</a:t>
            </a:r>
            <a:r>
              <a:rPr lang="zh-CN" altLang="zh-CN" sz="2000" b="1" dirty="0"/>
              <a:t>实际加入的噪声</a:t>
            </a:r>
            <a:r>
              <a:rPr lang="zh-CN" altLang="zh-CN" sz="2000" dirty="0"/>
              <a:t>之间的差值。VQ-diffusion是通过模型预测出的  推导出  ,之后优化  与  之间的KL散度来训练模型。</a:t>
            </a:r>
          </a:p>
          <a:p>
            <a:pPr lvl="1"/>
            <a:r>
              <a:rPr lang="zh-CN" altLang="zh-CN" sz="2000" dirty="0"/>
              <a:t>VQ-diffusion在损失函数中加入了辅助loss(将临时预测的 和实际的  之间计算交叉熵)。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7830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F5CC44-073A-714A-77B2-21390BD1D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8F9262-3777-6D8F-3A76-0AB960A8B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61DB86D-37CF-3F6B-E45A-4BC8C3F3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5472"/>
            <a:ext cx="8235043" cy="409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812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436</Words>
  <Application>Microsoft Office PowerPoint</Application>
  <PresentationFormat>宽屏</PresentationFormat>
  <Paragraphs>23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VQ-diffusion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2</cp:revision>
  <dcterms:created xsi:type="dcterms:W3CDTF">2026-06-26T13:01:07Z</dcterms:created>
  <dcterms:modified xsi:type="dcterms:W3CDTF">2026-06-27T13:05:51Z</dcterms:modified>
</cp:coreProperties>
</file>