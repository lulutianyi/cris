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57" r:id="rId6"/>
    <p:sldId id="25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5A8B8-D301-F777-4860-58F018919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5C23C8A-B24F-778A-6E38-0A8D41559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C7B70C-BB0A-E107-AC36-A9C4EC65B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1B7E-6966-4D66-AF8F-551D238877EA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22BB62-F199-8343-E8F7-31C6CE5E9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7906B2-BF62-8E70-A43B-92267C2F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1DADA-0599-4931-9695-AD7FC4E16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74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E7F23F-A74F-B223-AD42-27BAC7B7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339081-48AC-7113-0C3B-16B573B7F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0FE6C5-5900-D2E6-0BE1-2A8030208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1B7E-6966-4D66-AF8F-551D238877EA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B4B1A9-ADFA-945C-1E71-AC5EBAB53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74DBFB-2412-B723-FFE0-3A460831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1DADA-0599-4931-9695-AD7FC4E16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39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808BD5-8DA0-4B88-7E72-A27244A04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00BEF7-F6A4-823B-E49D-2E319D12F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EF504F-49DC-7573-3E67-67934B616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1B7E-6966-4D66-AF8F-551D238877EA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C05524-C6DE-EEDB-A20B-2B79FA70C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2440D5-24CE-F174-F5CB-268B9DBF8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1DADA-0599-4931-9695-AD7FC4E16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801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CDE3A8-369A-DF5D-7F6E-F282075C9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8C9E30-AF39-69BF-5E81-E16502B04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796C28-DC88-DC05-894E-B624C2CE3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33F96D-37E7-D379-4082-0F624A83C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1B7E-6966-4D66-AF8F-551D238877EA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75407D-23A5-22D1-3FE8-88D0C190E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6B7B71-1CAF-4EB2-1DA5-DCC0E0CD1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1DADA-0599-4931-9695-AD7FC4E16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14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BC75DC-223F-AB2A-CA32-A10B5A477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33CE5E-47E9-268F-4730-B77A8E3B3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1C3D87-5F29-FC4E-CDEE-E29E04130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5DAEC00-5A23-37B2-79F2-893DBFEA8B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804DC76-1E59-7648-80B6-422A2D1060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5D478E-8E00-D9AD-DFC9-4C09C16B2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1B7E-6966-4D66-AF8F-551D238877EA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EEFCC3-E45C-41AB-20C5-4457E9C75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C9AFC60-149F-A97B-558C-D55416AEB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1DADA-0599-4931-9695-AD7FC4E16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885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9C0736-B449-8976-DCA1-BEBB75347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528E96-A3C4-92BE-B65E-A4DF2D737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1B7E-6966-4D66-AF8F-551D238877EA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52856A-D285-AA5B-05F2-48169091F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AB53025-3FF4-0C43-6AFD-A745609C7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1DADA-0599-4931-9695-AD7FC4E16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262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89A2731-CC87-BB0D-EF60-C217BFF81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1B7E-6966-4D66-AF8F-551D238877EA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0DED34A-E1E6-3EE3-87ED-F431F2EA2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4930A1-F022-87DE-2EEE-664AD8AFC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1DADA-0599-4931-9695-AD7FC4E16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158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2D026B-0F42-177F-3BB6-1BFFBFE13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3F44C2-7DA9-9B43-3725-09774E146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C019CE-1DBB-4CAF-CC22-12529B9E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131EB6-C329-C256-8E55-0C0306AED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1B7E-6966-4D66-AF8F-551D238877EA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A4FA2D-B00F-BF29-771E-278113EF0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C1A9C9-6215-2F08-5EA6-067BE7BD8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1DADA-0599-4931-9695-AD7FC4E16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249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709AAA-72F7-5305-44F6-14085F2D0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9A79E44-6686-A108-A5A9-3B164DDED6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738F00-4470-2C68-1632-6A74E802C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6786D5-D8C2-FCEF-F9E4-C7E334237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1B7E-6966-4D66-AF8F-551D238877EA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524778-3EB2-0E19-9613-98C28D688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DAEA1C-9557-3AAC-41F0-697C787CF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1DADA-0599-4931-9695-AD7FC4E16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489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15380-E204-647F-E03E-50FEC0A8C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5CA72A-F22A-473B-9930-EB272BADF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E052DB-64F8-16CC-1BED-C13653EDE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1B7E-6966-4D66-AF8F-551D238877EA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8F6C94-0E28-55DC-6A1D-EB646F157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12C85E-70F4-0E15-53F1-63A394CAB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1DADA-0599-4931-9695-AD7FC4E16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570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E0CDFB6-58B3-FABB-7EA7-6AA3AEE52E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DD1E97-C6AA-35CA-2C44-8F1CE4746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AE9FF6-E53A-E984-BA0B-69AA991DB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1B7E-6966-4D66-AF8F-551D238877EA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BDF87D-43B1-F72A-4942-AC55A5EC4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14A168-CDFA-F4F1-D0A1-D46E78C5C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1DADA-0599-4931-9695-AD7FC4E16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601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09CBD7F-FF44-C496-CF87-C4739A73B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0FC30A-1349-2FC1-D30C-A07A94A48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DF9E71-0E97-CE6C-FBD8-D60388A574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F1B7E-6966-4D66-AF8F-551D238877EA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657C59-27EF-6C52-067C-FB6AF6B00E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83EA48-0F06-A79F-EA90-D65C7B014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91DADA-0599-4931-9695-AD7FC4E16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997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5CAF0688-53FC-C270-FE8C-0E451092C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5363" y="1570909"/>
            <a:ext cx="5961961" cy="3061684"/>
          </a:xfrm>
        </p:spPr>
        <p:txBody>
          <a:bodyPr>
            <a:noAutofit/>
          </a:bodyPr>
          <a:lstStyle/>
          <a:p>
            <a:r>
              <a:rPr lang="zh-CN" altLang="en-US" b="1" dirty="0"/>
              <a:t>对抗样本 </a:t>
            </a:r>
            <a:r>
              <a:rPr lang="en-US" altLang="zh-CN" b="1" dirty="0" err="1"/>
              <a:t>x_adv</a:t>
            </a:r>
            <a:r>
              <a:rPr lang="zh-CN" altLang="en-US" b="1" dirty="0"/>
              <a:t>（连续，</a:t>
            </a:r>
            <a:r>
              <a:rPr lang="en-US" altLang="zh-CN" b="1" dirty="0"/>
              <a:t>[0,1]</a:t>
            </a:r>
            <a:r>
              <a:rPr lang="zh-CN" altLang="en-US" b="1" dirty="0"/>
              <a:t>像素值）</a:t>
            </a:r>
          </a:p>
          <a:p>
            <a:r>
              <a:rPr lang="zh-CN" altLang="en-US" b="1" dirty="0"/>
              <a:t>        ↓  样本离散化</a:t>
            </a:r>
            <a:r>
              <a:rPr lang="en-US" altLang="zh-CN" b="1" dirty="0"/>
              <a:t>/</a:t>
            </a:r>
            <a:r>
              <a:rPr lang="zh-CN" altLang="en-US" b="1" dirty="0"/>
              <a:t>二进制化</a:t>
            </a:r>
          </a:p>
          <a:p>
            <a:r>
              <a:rPr lang="zh-CN" altLang="en-US" b="1" dirty="0"/>
              <a:t>离散</a:t>
            </a:r>
            <a:r>
              <a:rPr lang="en-US" altLang="zh-CN" b="1" dirty="0"/>
              <a:t>binary/codebook</a:t>
            </a:r>
            <a:r>
              <a:rPr lang="zh-CN" altLang="en-US" b="1" dirty="0"/>
              <a:t>空间</a:t>
            </a:r>
          </a:p>
          <a:p>
            <a:r>
              <a:rPr lang="zh-CN" altLang="en-US" b="1" dirty="0"/>
              <a:t>        ↓  </a:t>
            </a:r>
            <a:r>
              <a:rPr lang="en-US" altLang="zh-CN" b="1" dirty="0"/>
              <a:t>D3PM/VQ-diffusion</a:t>
            </a:r>
            <a:r>
              <a:rPr lang="zh-CN" altLang="en-US" b="1" dirty="0"/>
              <a:t>反向去噪</a:t>
            </a:r>
          </a:p>
          <a:p>
            <a:r>
              <a:rPr lang="zh-CN" altLang="en-US" b="1" dirty="0"/>
              <a:t>干净的离散表示</a:t>
            </a:r>
          </a:p>
          <a:p>
            <a:r>
              <a:rPr lang="zh-CN" altLang="en-US" b="1" dirty="0"/>
              <a:t>        ↓  </a:t>
            </a:r>
            <a:r>
              <a:rPr lang="en-US" altLang="zh-CN" b="1" dirty="0"/>
              <a:t>decoder</a:t>
            </a:r>
          </a:p>
          <a:p>
            <a:r>
              <a:rPr lang="zh-CN" altLang="en-US" b="1" dirty="0"/>
              <a:t>干净的连续图像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8F490D6-08EB-0830-80C7-76FDB15C239D}"/>
              </a:ext>
            </a:extLst>
          </p:cNvPr>
          <p:cNvSpPr txBox="1">
            <a:spLocks/>
          </p:cNvSpPr>
          <p:nvPr/>
        </p:nvSpPr>
        <p:spPr>
          <a:xfrm>
            <a:off x="6947052" y="479234"/>
            <a:ext cx="3656683" cy="1797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使用其他图片集上预训练的</a:t>
            </a:r>
            <a:r>
              <a:rPr lang="en-US" altLang="zh-CN" sz="2000" dirty="0" err="1"/>
              <a:t>Vqvae</a:t>
            </a:r>
            <a:r>
              <a:rPr lang="zh-CN" altLang="en-US" sz="2000" dirty="0"/>
              <a:t>能够把图像编码成离散向量。但缺陷在于预训练好的编码器会让结果产生偏移。</a:t>
            </a:r>
          </a:p>
        </p:txBody>
      </p: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F6DB8D16-336D-9E05-1D5A-01DCE932F245}"/>
              </a:ext>
            </a:extLst>
          </p:cNvPr>
          <p:cNvCxnSpPr/>
          <p:nvPr/>
        </p:nvCxnSpPr>
        <p:spPr>
          <a:xfrm flipV="1">
            <a:off x="5425807" y="1008043"/>
            <a:ext cx="1521245" cy="126894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FCD0D7D-47C2-BD25-71C3-D5E8C951D67D}"/>
              </a:ext>
            </a:extLst>
          </p:cNvPr>
          <p:cNvSpPr txBox="1"/>
          <p:nvPr/>
        </p:nvSpPr>
        <p:spPr>
          <a:xfrm>
            <a:off x="6505460" y="2875402"/>
            <a:ext cx="40982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主要创新点：用二项分布替代前向传播的高斯分布，让去噪的反向传播过程在离散低维空间而不是连续高斯空间中进行，从而在理论上更与真实数据的流形结构相匹配。</a:t>
            </a:r>
          </a:p>
        </p:txBody>
      </p:sp>
    </p:spTree>
    <p:extLst>
      <p:ext uri="{BB962C8B-B14F-4D97-AF65-F5344CB8AC3E}">
        <p14:creationId xmlns:p14="http://schemas.microsoft.com/office/powerpoint/2010/main" val="2361226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FE6456-E30F-FFFE-8AD4-F0B62E31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7393D6-BC2D-0CA9-40A4-22A9C153E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2000" dirty="0"/>
              <a:t>D3PM/VQ-diffusion: x</a:t>
            </a:r>
            <a:r>
              <a:rPr lang="en-US" altLang="zh-CN" sz="2000" baseline="-25000" dirty="0"/>
              <a:t>0</a:t>
            </a:r>
            <a:r>
              <a:rPr lang="zh-CN" altLang="en-US" sz="2000" dirty="0"/>
              <a:t>（干净）→ 加噪 → </a:t>
            </a:r>
            <a:r>
              <a:rPr lang="en-US" altLang="zh-CN" sz="2000" dirty="0" err="1"/>
              <a:t>x</a:t>
            </a:r>
            <a:r>
              <a:rPr lang="en-US" altLang="zh-CN" sz="2000" baseline="-25000" dirty="0" err="1"/>
              <a:t>t</a:t>
            </a:r>
            <a:r>
              <a:rPr lang="en-US" altLang="zh-CN" sz="2000" dirty="0"/>
              <a:t> → </a:t>
            </a:r>
            <a:r>
              <a:rPr lang="zh-CN" altLang="en-US" sz="2000" dirty="0"/>
              <a:t>去噪 → 重建</a:t>
            </a:r>
            <a:r>
              <a:rPr lang="en-US" altLang="zh-CN" sz="2000" dirty="0"/>
              <a:t>x</a:t>
            </a:r>
            <a:r>
              <a:rPr lang="en-US" altLang="zh-CN" sz="2000" baseline="-25000" dirty="0"/>
              <a:t>0</a:t>
            </a:r>
          </a:p>
          <a:p>
            <a:r>
              <a:rPr lang="en-US" altLang="zh-CN" sz="2000" dirty="0"/>
              <a:t>x</a:t>
            </a:r>
            <a:r>
              <a:rPr lang="en-US" altLang="zh-CN" sz="2000" baseline="-25000" dirty="0"/>
              <a:t>0</a:t>
            </a:r>
            <a:r>
              <a:rPr lang="zh-CN" altLang="en-US" sz="2000" dirty="0"/>
              <a:t>是确认的干净样本，可以直接使用</a:t>
            </a:r>
            <a:endParaRPr lang="en-US" altLang="zh-CN" sz="2000" dirty="0"/>
          </a:p>
          <a:p>
            <a:r>
              <a:rPr lang="zh-CN" altLang="en-US" sz="2000" dirty="0"/>
              <a:t>我们的结构：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前向过程具体设计，可以把像素值展开成二进制串，用</a:t>
            </a:r>
            <a:r>
              <a:rPr lang="en-US" altLang="zh-CN" sz="2000" dirty="0"/>
              <a:t>D3PM</a:t>
            </a:r>
            <a:r>
              <a:rPr lang="zh-CN" altLang="en-US" sz="2000" dirty="0"/>
              <a:t>的</a:t>
            </a:r>
            <a:r>
              <a:rPr lang="en-US" altLang="zh-CN" sz="2000" dirty="0"/>
              <a:t>bit-flip</a:t>
            </a:r>
            <a:r>
              <a:rPr lang="zh-CN" altLang="en-US" sz="2000" dirty="0"/>
              <a:t>矩阵对每个</a:t>
            </a:r>
            <a:r>
              <a:rPr lang="en-US" altLang="zh-CN" sz="2000" dirty="0"/>
              <a:t>bit</a:t>
            </a:r>
            <a:r>
              <a:rPr lang="zh-CN" altLang="en-US" sz="2000" dirty="0"/>
              <a:t>单独做</a:t>
            </a:r>
            <a:r>
              <a:rPr lang="en-US" altLang="zh-CN" sz="2000" dirty="0"/>
              <a:t>flip</a:t>
            </a:r>
            <a:r>
              <a:rPr lang="zh-CN" altLang="en-US" sz="2000" dirty="0"/>
              <a:t>，淹没对抗扰动的影响</a:t>
            </a:r>
            <a:endParaRPr lang="en-US" altLang="zh-CN" sz="2000" dirty="0"/>
          </a:p>
          <a:p>
            <a:r>
              <a:rPr lang="zh-CN" altLang="en-US" sz="2000" dirty="0"/>
              <a:t>或者在</a:t>
            </a:r>
            <a:r>
              <a:rPr lang="en-US" altLang="zh-CN" sz="2000" dirty="0" err="1"/>
              <a:t>vqvae</a:t>
            </a:r>
            <a:r>
              <a:rPr lang="zh-CN" altLang="en-US" sz="2000" dirty="0"/>
              <a:t>的前空间上操作，</a:t>
            </a:r>
            <a:r>
              <a:rPr lang="zh-CN" altLang="zh-CN" sz="2000" dirty="0"/>
              <a:t>先用预训练VQ-VAE把图像encode成codebook indices，然后在indices上做D3PM的uniform或bit-flip加噪。</a:t>
            </a:r>
            <a:endParaRPr lang="zh-CN" alt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E7C0B06-9FDC-4233-01B1-11FCB9F9E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845" y="2853581"/>
            <a:ext cx="5466670" cy="149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571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7EDDDE-C89F-96EB-B4EE-9D5FA83C1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35F502-2504-4380-D34D-0FB534453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反向过程：</a:t>
            </a:r>
            <a:endParaRPr lang="en-US" altLang="zh-CN" sz="2000" dirty="0"/>
          </a:p>
          <a:p>
            <a:r>
              <a:rPr lang="zh-CN" altLang="en-US" sz="2000" dirty="0"/>
              <a:t>可以沿用</a:t>
            </a:r>
            <a:r>
              <a:rPr lang="en-US" altLang="zh-CN" sz="2000" dirty="0"/>
              <a:t>D3PM</a:t>
            </a:r>
            <a:r>
              <a:rPr lang="zh-CN" altLang="en-US" sz="2000" dirty="0"/>
              <a:t>的</a:t>
            </a:r>
            <a:r>
              <a:rPr lang="en-US" altLang="zh-CN" sz="2000" dirty="0"/>
              <a:t>ELBO</a:t>
            </a:r>
            <a:r>
              <a:rPr lang="zh-CN" altLang="en-US" sz="2000" dirty="0"/>
              <a:t>，预测原始图像</a:t>
            </a:r>
            <a:r>
              <a:rPr lang="en-US" altLang="zh-CN" sz="2000" dirty="0"/>
              <a:t>x</a:t>
            </a:r>
            <a:r>
              <a:rPr lang="en-US" altLang="zh-CN" sz="2000" baseline="-25000" dirty="0"/>
              <a:t>0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r>
              <a:rPr lang="zh-CN" altLang="en-US" sz="2000" dirty="0"/>
              <a:t>加噪到第几步开始去噪流程需要仔细选择。</a:t>
            </a:r>
            <a:endParaRPr lang="en-US" altLang="zh-CN" sz="2000" dirty="0"/>
          </a:p>
          <a:p>
            <a:r>
              <a:rPr lang="en-US" altLang="zh-CN" sz="2000" dirty="0"/>
              <a:t>Binary</a:t>
            </a:r>
            <a:r>
              <a:rPr lang="zh-CN" altLang="en-US" sz="2000" dirty="0"/>
              <a:t>加噪相较于高斯加噪的优势在于</a:t>
            </a:r>
            <a:r>
              <a:rPr lang="en-US" altLang="zh-CN" sz="2000" dirty="0"/>
              <a:t>binary flip</a:t>
            </a:r>
            <a:r>
              <a:rPr lang="zh-CN" altLang="en-US" sz="2000" dirty="0"/>
              <a:t>是离散的，而高斯加噪对每个比特的影响是耦合的。</a:t>
            </a:r>
            <a:r>
              <a:rPr lang="zh-CN" altLang="zh-CN" sz="2000" dirty="0"/>
              <a:t>高斯加噪通过数值幅度作用，无法在淹没低幅度对抗扰动的同时保护高位bit；binary flip通过直接操作bit，提供了一种不同的噪声结构，但它本身并不天然地优先保护高位bit。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需要论证：</a:t>
            </a:r>
            <a:endParaRPr lang="en-US" altLang="zh-CN" sz="2000" dirty="0"/>
          </a:p>
          <a:p>
            <a:r>
              <a:rPr lang="zh-CN" altLang="en-US" sz="2000" dirty="0"/>
              <a:t>在一定的加噪步骤后，</a:t>
            </a:r>
            <a:r>
              <a:rPr lang="en-US" altLang="zh-CN" sz="2000" dirty="0"/>
              <a:t>x</a:t>
            </a:r>
            <a:r>
              <a:rPr lang="en-US" altLang="zh-CN" sz="2000" baseline="-25000" dirty="0"/>
              <a:t>0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x</a:t>
            </a:r>
            <a:r>
              <a:rPr lang="en-US" altLang="zh-CN" sz="2000" baseline="-25000" dirty="0" err="1"/>
              <a:t>adv</a:t>
            </a:r>
            <a:r>
              <a:rPr lang="zh-CN" altLang="en-US" sz="2000" dirty="0"/>
              <a:t>的分布差异足够小，可以通过</a:t>
            </a:r>
            <a:r>
              <a:rPr lang="en-US" altLang="zh-CN" sz="2000" dirty="0"/>
              <a:t>KL</a:t>
            </a:r>
            <a:r>
              <a:rPr lang="zh-CN" altLang="en-US" sz="2000" dirty="0"/>
              <a:t>散度或者直接实验验证。</a:t>
            </a:r>
            <a:endParaRPr lang="en-US" altLang="zh-CN" sz="2000" dirty="0"/>
          </a:p>
          <a:p>
            <a:r>
              <a:rPr lang="zh-CN" altLang="en-US" sz="2000" dirty="0"/>
              <a:t>适应性攻击的威胁如何降低：针对</a:t>
            </a:r>
            <a:r>
              <a:rPr lang="en-US" altLang="zh-CN" sz="2000" dirty="0"/>
              <a:t>binary</a:t>
            </a:r>
            <a:r>
              <a:rPr lang="zh-CN" altLang="en-US" sz="2000" dirty="0"/>
              <a:t>分布在高有效位施加的攻击难以被淹没。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712932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8AE9CB-CB5C-55D3-060F-5F277358F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D3PM</a:t>
            </a:r>
            <a:r>
              <a:rPr lang="zh-CN" altLang="en-US" dirty="0"/>
              <a:t>（离散去噪模型）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864F110-2E95-1B5C-5360-5F97FBAF8E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3229" y="3719730"/>
            <a:ext cx="7064829" cy="102089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E94C0EF-8E02-CE86-7D93-ECE0088154FB}"/>
              </a:ext>
            </a:extLst>
          </p:cNvPr>
          <p:cNvSpPr txBox="1"/>
          <p:nvPr/>
        </p:nvSpPr>
        <p:spPr>
          <a:xfrm>
            <a:off x="859971" y="2041071"/>
            <a:ext cx="97699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尝试将扩散机制推广到离散空间，支持对文本等离散数据的生成。它的核心思想是用一个转移矩阵</a:t>
            </a:r>
            <a:r>
              <a:rPr lang="en-US" altLang="zh-CN" dirty="0"/>
              <a:t>Q</a:t>
            </a:r>
            <a:r>
              <a:rPr lang="zh-CN" altLang="en-US" dirty="0"/>
              <a:t>作为马尔可夫过程中的转移概率。</a:t>
            </a:r>
            <a:endParaRPr lang="en-US" altLang="zh-CN" dirty="0"/>
          </a:p>
          <a:p>
            <a:r>
              <a:rPr lang="en-US" altLang="zh-CN" dirty="0"/>
              <a:t>D3PM</a:t>
            </a:r>
            <a:r>
              <a:rPr lang="zh-CN" altLang="en-US" dirty="0"/>
              <a:t>支持多种转移矩阵的设计。我们可以尝试</a:t>
            </a:r>
            <a:r>
              <a:rPr lang="en-US" altLang="zh-CN" dirty="0"/>
              <a:t>bit-flip</a:t>
            </a:r>
            <a:r>
              <a:rPr lang="zh-CN" altLang="en-US" dirty="0"/>
              <a:t>的转移矩阵。引入</a:t>
            </a:r>
            <a:r>
              <a:rPr lang="en-US" altLang="zh-CN" dirty="0"/>
              <a:t>D3PM</a:t>
            </a:r>
            <a:r>
              <a:rPr lang="zh-CN" altLang="en-US" dirty="0"/>
              <a:t>后，</a:t>
            </a:r>
            <a:r>
              <a:rPr lang="en-US" altLang="zh-CN" dirty="0"/>
              <a:t>ELBO</a:t>
            </a:r>
            <a:r>
              <a:rPr lang="zh-CN" altLang="en-US" dirty="0"/>
              <a:t>可以正常推到，训练目标也与</a:t>
            </a:r>
            <a:r>
              <a:rPr lang="en-US" altLang="zh-CN" dirty="0"/>
              <a:t>DDPM</a:t>
            </a:r>
            <a:r>
              <a:rPr lang="zh-CN" altLang="en-US" dirty="0"/>
              <a:t>中的一致，</a:t>
            </a:r>
            <a:r>
              <a:rPr lang="zh-CN" altLang="zh-CN" dirty="0"/>
              <a:t>训练只需要干净图像，不需要对抗样本的配对数据，这是相比有监督净化方法的重要优势。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可以在现有的</a:t>
            </a:r>
            <a:r>
              <a:rPr lang="en-US" altLang="zh-CN" dirty="0"/>
              <a:t>D3PM</a:t>
            </a:r>
            <a:r>
              <a:rPr lang="zh-CN" altLang="en-US" dirty="0"/>
              <a:t>实现中进行改动。我们采用的</a:t>
            </a:r>
            <a:r>
              <a:rPr lang="en-US" altLang="zh-CN" dirty="0"/>
              <a:t>binary flip</a:t>
            </a:r>
            <a:r>
              <a:rPr lang="zh-CN" altLang="en-US" dirty="0"/>
              <a:t>矩阵比一般的</a:t>
            </a:r>
            <a:r>
              <a:rPr lang="en-US" altLang="zh-CN" dirty="0"/>
              <a:t>uniform</a:t>
            </a:r>
            <a:r>
              <a:rPr lang="zh-CN" altLang="en-US" dirty="0"/>
              <a:t>或</a:t>
            </a:r>
            <a:r>
              <a:rPr lang="en-US" altLang="zh-CN" dirty="0"/>
              <a:t>absorbing</a:t>
            </a:r>
            <a:r>
              <a:rPr lang="zh-CN" altLang="en-US" dirty="0"/>
              <a:t>矩阵更加简单，可以直接替换。</a:t>
            </a:r>
            <a:endParaRPr lang="en-US" altLang="zh-CN" dirty="0"/>
          </a:p>
          <a:p>
            <a:r>
              <a:rPr lang="zh-CN" altLang="zh-CN" dirty="0"/>
              <a:t>dataloader、optimizer、EMA、checkpoint保存这些工程部分可以</a:t>
            </a:r>
            <a:r>
              <a:rPr lang="zh-CN" altLang="en-US" dirty="0"/>
              <a:t>复用，但采样推理部分需要重写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91367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0CA416-C171-507E-FB46-41D2797E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VQ-diffusion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5C9A6A-F3F1-3D64-CB63-A5AAA52A7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960429" cy="4351338"/>
          </a:xfrm>
        </p:spPr>
        <p:txBody>
          <a:bodyPr/>
          <a:lstStyle/>
          <a:p>
            <a:r>
              <a:rPr lang="zh-CN" altLang="zh-CN" sz="2400" b="1" dirty="0"/>
              <a:t>和ddpm的区别</a:t>
            </a:r>
            <a:br>
              <a:rPr lang="zh-CN" altLang="zh-CN" sz="2400" b="1" dirty="0"/>
            </a:br>
            <a:endParaRPr lang="zh-CN" altLang="zh-CN" sz="2400" b="1" dirty="0"/>
          </a:p>
          <a:p>
            <a:pPr lvl="1"/>
            <a:r>
              <a:rPr lang="zh-CN" altLang="zh-CN" dirty="0"/>
              <a:t>ddpm是在连续空间下进行加噪，VQ-diffusion在离散空间中进行加噪。</a:t>
            </a:r>
          </a:p>
          <a:p>
            <a:pPr lvl="1"/>
            <a:r>
              <a:rPr lang="zh-CN" altLang="zh-CN" dirty="0"/>
              <a:t>ddpm的</a:t>
            </a:r>
            <a:r>
              <a:rPr lang="zh-CN" altLang="zh-CN" b="1" dirty="0"/>
              <a:t>去噪过程</a:t>
            </a:r>
            <a:r>
              <a:rPr lang="zh-CN" altLang="zh-CN" dirty="0"/>
              <a:t>是通过模型预测噪声，通过预测的噪声，一步步推出  , VQ-diffusion是通过模型预测临时的  ,通过时间步一步步推出最终 。</a:t>
            </a:r>
          </a:p>
          <a:p>
            <a:pPr lvl="1"/>
            <a:r>
              <a:rPr lang="zh-CN" altLang="zh-CN" dirty="0"/>
              <a:t>ddpm的</a:t>
            </a:r>
            <a:r>
              <a:rPr lang="zh-CN" altLang="zh-CN" b="1" dirty="0"/>
              <a:t>损失函数</a:t>
            </a:r>
            <a:r>
              <a:rPr lang="zh-CN" altLang="zh-CN" dirty="0"/>
              <a:t>是优化 </a:t>
            </a:r>
            <a:r>
              <a:rPr lang="zh-CN" altLang="zh-CN" b="1" dirty="0"/>
              <a:t>预测的噪声</a:t>
            </a:r>
            <a:r>
              <a:rPr lang="zh-CN" altLang="zh-CN" dirty="0"/>
              <a:t>和</a:t>
            </a:r>
            <a:r>
              <a:rPr lang="zh-CN" altLang="zh-CN" b="1" dirty="0"/>
              <a:t>实际加入的噪声</a:t>
            </a:r>
            <a:r>
              <a:rPr lang="zh-CN" altLang="zh-CN" dirty="0"/>
              <a:t>之间的差值。VQ-diffusion是通过模型预测出的  推导出  ,之后优化  与  之间的KL散度来训练模型。</a:t>
            </a:r>
          </a:p>
          <a:p>
            <a:pPr lvl="1"/>
            <a:r>
              <a:rPr lang="zh-CN" altLang="zh-CN" dirty="0"/>
              <a:t>VQ-diffusion在损失函数中加入了辅助loss(将临时预测的 和实际的  之间计算交叉熵)。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7830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F5CC44-073A-714A-77B2-21390BD1D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8F9262-3777-6D8F-3A76-0AB960A8B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61DB86D-37CF-3F6B-E45A-4BC8C3F35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5472"/>
            <a:ext cx="8235043" cy="409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812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1613</TotalTime>
  <Words>657</Words>
  <Application>Microsoft Office PowerPoint</Application>
  <PresentationFormat>宽屏</PresentationFormat>
  <Paragraphs>44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D3PM（离散去噪模型）</vt:lpstr>
      <vt:lpstr>VQ-diffusion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Terrsa X</dc:creator>
  <cp:lastModifiedBy>Terrsa X</cp:lastModifiedBy>
  <cp:revision>5</cp:revision>
  <dcterms:created xsi:type="dcterms:W3CDTF">2026-06-26T13:01:07Z</dcterms:created>
  <dcterms:modified xsi:type="dcterms:W3CDTF">2026-07-04T15:20:31Z</dcterms:modified>
</cp:coreProperties>
</file>