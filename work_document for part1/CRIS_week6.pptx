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2" r:id="rId6"/>
    <p:sldId id="260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3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8FAB5-CFEC-8C2B-7A09-2722084FA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E89303-0CBB-509D-FF2B-3FA4F3A47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87E5B-8EF1-8051-9975-8F259C29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2C44FC-EBAF-891D-E9B4-30C0B822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E7C97-2137-8135-9A4A-1998B637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8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4F50E-E5D3-2497-AAA8-272508C27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19E6D-D188-F418-AAB6-697CD8EB9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14C56B-EC9B-32E5-B0F8-FA3C0956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C69952-87E2-99D7-C163-B7FF2AC2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451F7-6AFF-3A90-9B82-0FCA4672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1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843E1-2E7B-8E38-A0DE-AEDEC3EEC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0DC7DD-C950-E6D4-ACB6-10076A92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FF13B-0CD8-BAC6-782A-8424F3E4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B3AE3-BD52-DA13-50DE-18FF7D47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25D62-1B8C-F743-4FDA-A2DC3B4B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43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BAC01-896A-F347-3B96-8F0B0BAD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DF2AE-C01B-F9E8-BBBB-E749E3D88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504697-B9F3-51B4-76F5-75FDE0A89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FFB446-1125-6F02-26CC-318761B2A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5BBE6C-90A7-37BF-51CD-A689F688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3486D-5B57-D771-90F4-56E3D995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4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6E742-02DB-F405-6B16-FD87D858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7561E-C359-D535-7C50-D1A6238CA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3FFAC9-820C-F041-6BB1-ACCD3BD1B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6C15AF-7BCF-3CCA-88FA-4DF635301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BF5918-2EAF-2600-419D-34CB3BF5E7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3A3D02-F49A-8A99-FFF9-9F0C5500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66CB54-A432-3E4A-48BD-69D917733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AE2811-F41B-1143-BB3C-C80649CC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05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099C1-D0F8-53F0-73AC-6CEE332A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079A82-2D70-6BA2-FB0D-EBC5B709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3C3890-4089-1CB4-4E77-C15B96C5E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C7D5D2-0E09-EB76-234C-F68DAF5B6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22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4990CE-FBFF-C585-8E9F-45AD01DE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95B3F2-2AC5-7FF9-EC47-57E02F92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43E019-5947-304D-B50F-B307953F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15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C1FCC-BA78-6CDD-EAD2-EFE184E2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3B6DB-FB6F-78E4-1C3B-FB854ECB9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B421A3-778D-9B10-71CC-BB68C79E5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D8517-E92F-B30C-12F3-88A3B829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780A4C-0673-0FBE-F107-B2DEC0E7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08A7D-EC72-3EAC-A460-5E2B95A6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7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05902-0817-6ED1-8F8F-685D70E3F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9D3AE4-7B45-5796-127E-0E89FA7AB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E6597B-5FA0-7B46-E72E-4B935F5E1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B42B9-3BC5-084A-B564-36141B50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62AC4-DB53-3533-ED3F-0DE22BB4D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AB310D-0D4B-D7DF-6929-5AAC7035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67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A6286-6B6C-157F-5251-461AF84D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5ECFDF-14DF-016D-D7EC-69D0C4506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ADAF1-1AA0-5DFC-9F54-12933080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1FD5F-2A00-BD0F-027A-7E68BB0E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B4BF5-48BA-7869-60E3-FCEFFCC5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1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F3CE7E-6B05-87B5-1EA1-BF29C6F29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BF1346-EC7F-4982-DD71-95E34232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B54C3-2B46-38CF-AC0F-98554A65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E0A25-B66F-2D98-B162-9720C46E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8596A-DB3F-A514-1464-4D69F6F0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8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BB50A0-48B5-AF32-09E9-5D8B54AF9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A899F5-1A09-3CE3-7301-CC203F4C7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179C4-7C3C-D688-8EC2-7F9A41D05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07FF-B146-4BCF-B928-E88DEC304484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DD9C0-B1E1-54DD-745B-938C8967B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71C673-5E4F-376B-184B-A26E34C3F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C230D-52C0-45FB-A769-8A5428825E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375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3BEC5-6161-3857-0822-1F824A0724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E1EE8B-B803-79B6-30D2-73120BAA2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55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116D0-166A-C8DF-CB6B-A07E496E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C46BD6-CCDB-2D56-8D6B-E07117A12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扩散模型的编码器（前向扩散过程）是通过添加噪声，将图像逐渐转化为符合高斯分布的纯噪声图像，假设分别添加了</a:t>
            </a:r>
            <a:r>
              <a:rPr lang="en-US" altLang="zh-CN" dirty="0"/>
              <a:t>T</a:t>
            </a:r>
            <a:r>
              <a:rPr lang="zh-CN" altLang="en-US" dirty="0"/>
              <a:t>次噪声，他的解码器（反向扩散过程）就是通过</a:t>
            </a:r>
            <a:r>
              <a:rPr lang="en-US" altLang="zh-CN" dirty="0"/>
              <a:t>T</a:t>
            </a:r>
            <a:r>
              <a:rPr lang="zh-CN" altLang="en-US" dirty="0"/>
              <a:t>次逐步除去噪声恢复原来的图像。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）不再训练一个可学习的编码器，而是把编码过程固定成不断添加噪声的过程；</a:t>
            </a:r>
            <a:r>
              <a:rPr lang="en-US" altLang="zh-CN" dirty="0"/>
              <a:t>2</a:t>
            </a:r>
            <a:r>
              <a:rPr lang="zh-CN" altLang="en-US" dirty="0"/>
              <a:t>）不再把图像压缩成更短的向量，而是自始至终都对一个等大的图像做操作。</a:t>
            </a:r>
            <a:endParaRPr lang="en-US" altLang="zh-CN" dirty="0"/>
          </a:p>
          <a:p>
            <a:r>
              <a:rPr lang="zh-CN" altLang="en-US" dirty="0"/>
              <a:t>扩散模型既不会涉及</a:t>
            </a:r>
            <a:r>
              <a:rPr lang="en-US" altLang="zh-CN" dirty="0"/>
              <a:t>GAN</a:t>
            </a:r>
            <a:r>
              <a:rPr lang="zh-CN" altLang="en-US" dirty="0"/>
              <a:t>中复杂的对抗训练，又比</a:t>
            </a:r>
            <a:r>
              <a:rPr lang="en-US" altLang="zh-CN" dirty="0"/>
              <a:t>VAE</a:t>
            </a:r>
            <a:r>
              <a:rPr lang="zh-CN" altLang="en-US" dirty="0"/>
              <a:t>更强大一点。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89050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231C4-1034-9648-851D-7477838E0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D2F95-8EEA-F748-8495-F74E8AA46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13DDBD-108F-076B-9DFB-CC4956066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947738"/>
            <a:ext cx="7486650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60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161D1-E195-CAA3-399A-DD7E59B2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534729A-03B8-2F5B-44B7-6D5D6D03F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2673"/>
            <a:ext cx="10515600" cy="433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2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71F1B-166D-578D-E36D-1F20216F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58B872-2EFC-5374-8748-C06BA804E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Epoch 0 | Loss: 0.2531 | PSNR: 12.10</a:t>
            </a:r>
          </a:p>
          <a:p>
            <a:r>
              <a:rPr lang="en-US" altLang="zh-CN" dirty="0"/>
              <a:t>Epoch 1 | Loss: 0.2861 | PSNR: 15.70</a:t>
            </a:r>
          </a:p>
          <a:p>
            <a:r>
              <a:rPr lang="en-US" altLang="zh-CN" dirty="0"/>
              <a:t>Epoch 2 | Loss: 0.2027 | PSNR: 16.05</a:t>
            </a:r>
          </a:p>
          <a:p>
            <a:r>
              <a:rPr lang="en-US" altLang="zh-CN" dirty="0"/>
              <a:t>Epoch 12 | Loss: 0.0339 | PSNR: 18.02</a:t>
            </a:r>
          </a:p>
          <a:p>
            <a:r>
              <a:rPr lang="en-US" altLang="zh-CN" dirty="0"/>
              <a:t>Epoch 13 | Loss: 0.0330 | PSNR: 18.12</a:t>
            </a:r>
          </a:p>
          <a:p>
            <a:r>
              <a:rPr lang="en-US" altLang="zh-CN" dirty="0"/>
              <a:t>Epoch 14 | Loss: 0.0325 | PSNR: 18.25</a:t>
            </a:r>
          </a:p>
          <a:p>
            <a:r>
              <a:rPr lang="en-US" altLang="zh-CN" dirty="0"/>
              <a:t>Epoch 27 | Loss: 0.0283 | PSNR: 19.77</a:t>
            </a:r>
          </a:p>
          <a:p>
            <a:r>
              <a:rPr lang="en-US" altLang="zh-CN" dirty="0"/>
              <a:t>Epoch 28 | Loss: 0.0280 | PSNR: 19.84</a:t>
            </a:r>
          </a:p>
          <a:p>
            <a:r>
              <a:rPr lang="en-US" altLang="zh-CN" dirty="0"/>
              <a:t>Epoch 29 | Loss: 0.0279 | PSNR: 19.92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83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AA013-32AA-0583-E775-C42E422D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FBF993-4A07-C74B-2478-660480B8A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225534" cy="4351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CED1DF-7A36-7FD0-C352-A74E6F2A4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68" y="1609969"/>
            <a:ext cx="5450456" cy="474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8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42F2D-FA52-FAE5-C53E-AB73E422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E1DC184-AC4D-9883-163D-F3DE66A7B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3073" y="1825625"/>
            <a:ext cx="47258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97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7CE76-86FD-908C-36CB-BB7B10D9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24732-3010-EBCA-E7B7-8763D5FE4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，引入余弦退火学习率调度，使学习率在训练后期逐渐减小，从而实现更平滑的收敛和更精细的参数优化。其次，在训练集中加入随机翻转、随机裁剪和颜色扰动等数据增强方法，增加数据多样性，提高模型的泛化能力。同时，通过降低 </a:t>
            </a:r>
            <a:r>
              <a:rPr lang="en-US" altLang="zh-CN" dirty="0"/>
              <a:t>VQ loss </a:t>
            </a:r>
            <a:r>
              <a:rPr lang="zh-CN" altLang="en-US" dirty="0"/>
              <a:t>的权重，使模型更加关注重建误差，从而提升图像重建质量和 </a:t>
            </a:r>
            <a:r>
              <a:rPr lang="en-US" altLang="zh-CN" dirty="0"/>
              <a:t>PSNR </a:t>
            </a:r>
            <a:r>
              <a:rPr lang="zh-CN" altLang="en-US" dirty="0"/>
              <a:t>表现。</a:t>
            </a:r>
          </a:p>
        </p:txBody>
      </p:sp>
    </p:spTree>
    <p:extLst>
      <p:ext uri="{BB962C8B-B14F-4D97-AF65-F5344CB8AC3E}">
        <p14:creationId xmlns:p14="http://schemas.microsoft.com/office/powerpoint/2010/main" val="308902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295</Words>
  <Application>Microsoft Office PowerPoint</Application>
  <PresentationFormat>宽屏</PresentationFormat>
  <Paragraphs>13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2026-04-30T05:46:37Z</dcterms:created>
  <dcterms:modified xsi:type="dcterms:W3CDTF">2026-04-30T07:49:56Z</dcterms:modified>
</cp:coreProperties>
</file>