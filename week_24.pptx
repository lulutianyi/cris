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97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BB8968-608B-25F9-25DE-5DB98473D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F90007-B6FD-E7A2-83A2-1ECAAE8B36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2DD10-CFFB-88A4-E79A-89A2EF6A1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20C3-78C1-4705-A416-73EE7D61C61A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BB75F7-B3EE-DF64-07DD-C0F25D45E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323562-5748-5B64-6E6E-CB4A1562D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FCB49-1CB0-44E4-9BC6-02C13C1A17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67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5F64E-4B55-7539-8D50-07AB675A4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AD69BFB-9C5B-87C8-5853-DD188CF89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5A1AF5-1D4E-3016-C69A-D780C67A5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20C3-78C1-4705-A416-73EE7D61C61A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1E8DCE-2824-7B66-E2BB-6131F29AB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B9145A-32EA-BFF4-AFF7-339049D4D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FCB49-1CB0-44E4-9BC6-02C13C1A17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2883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10B8CD-F00B-2B5C-D61E-44CB0E118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7C77074-5FA9-D936-625F-08210DDF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C7E401-57F3-599F-FC38-FD268A232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20C3-78C1-4705-A416-73EE7D61C61A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65FEF0-0C3A-F993-6D61-ADF33F391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F25EC9-4E24-C2A3-C6E8-4F4AD9D59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FCB49-1CB0-44E4-9BC6-02C13C1A17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6582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60B5F8-F198-B6BE-C065-CE4FC04FF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E38E69-C117-1C4A-E684-3946E47D06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BDE417-0497-4DB3-0E7E-6C97A5CA8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E1C525-B340-A8AD-202E-29FDD405E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20C3-78C1-4705-A416-73EE7D61C61A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2F0AD5-97AE-22A9-7E0C-887AB80E5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604A59-F2EA-79F4-2F91-34D793B62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FCB49-1CB0-44E4-9BC6-02C13C1A17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39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F9957-BB1D-1F89-B97E-99E1CAAEE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34BCE8-F84D-FC0D-6F5C-942F7B93E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7FD18C-8E8C-BE93-B55A-5C11AE1D11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BBE3E13-2325-C794-057A-957103FF06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241FF27-FDCE-442C-1616-1246BA2D35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68796C0-9920-E4FE-3066-859936F0B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20C3-78C1-4705-A416-73EE7D61C61A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7416A29-B69E-82E3-F1B7-9372F396D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59E7291-02A2-A384-70CD-84790D77C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FCB49-1CB0-44E4-9BC6-02C13C1A17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136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F44BC4-A326-6EEC-AA81-A30D426F0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92A396E-6B7F-762E-0950-B7571402D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20C3-78C1-4705-A416-73EE7D61C61A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3AAD25B-BFA4-2DC5-D01B-3E862A75C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C9EFB16-669C-D7B2-3DE5-8B19FCD62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FCB49-1CB0-44E4-9BC6-02C13C1A17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642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2B9582B-E6D4-7590-6532-BCCE6C8F6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20C3-78C1-4705-A416-73EE7D61C61A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51AB70F-48F7-CB1B-784C-99E842345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CC85F7-541B-7A43-3836-E7B6C10B8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FCB49-1CB0-44E4-9BC6-02C13C1A17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028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B2BDA4-CB9F-831B-33CD-93D09BDB1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1662A0-B1EA-D6BE-C663-A902C1541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0BD472-F7C1-B4ED-89FD-BC28B9087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3FD11-36C1-E4CE-7831-71AA783A7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20C3-78C1-4705-A416-73EE7D61C61A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08B1A6-75DF-2C8A-0BFF-3CA728B88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7637FD-C308-A642-E136-AA2290BC1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FCB49-1CB0-44E4-9BC6-02C13C1A17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10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25F1DB-9555-1D08-A244-57BB4140F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13529CD-81FE-4155-234B-0FCB53AB51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EFCC95-03E2-D48B-AB5F-A3263AAAFA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208BAD-8C7C-2FC9-3B9B-F42A6A466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20C3-78C1-4705-A416-73EE7D61C61A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988686-2827-3C48-EFFA-0D4914509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400F3E-BB14-3D76-F078-B25A69C81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FCB49-1CB0-44E4-9BC6-02C13C1A17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3691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3E5F75-F040-E54E-2C24-7778156C2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6A34063-3AD8-FF76-2C16-0E4FF0400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ABD150-8305-0954-F03C-38040C030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20C3-78C1-4705-A416-73EE7D61C61A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E2D31F-9CB2-8167-7E44-978D23CF0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863E68-CBEA-ABB9-EEE6-113C071F4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FCB49-1CB0-44E4-9BC6-02C13C1A17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975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0D01DCA-8654-C8A0-0B12-63AE6F339F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406B22F-ED91-FA96-F5D1-33047BFE3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CDFAB8-7036-E192-CB58-D5011F140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F20C3-78C1-4705-A416-73EE7D61C61A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B71D90-454E-A9FE-D467-1DE118AAB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7D1ACB-60BC-2529-AF67-D9FFCA4F7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2FCB49-1CB0-44E4-9BC6-02C13C1A17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219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B247919-B52E-031E-293D-F34ACADDA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1F5CB9-D3B0-B615-1579-702F25243C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9A721A-2A76-E787-19A7-E900290D41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2F20C3-78C1-4705-A416-73EE7D61C61A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2C41BA-1B58-4624-F548-2D525251A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01D7A8-59BB-C8FD-95C9-C6D2888D68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FCB49-1CB0-44E4-9BC6-02C13C1A17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376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38F578-BC43-5A30-FEA0-BA2F040D58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C4C9A74-EFC5-2E23-B78C-CF2B51823D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1C7571-AA99-F5F4-C9C1-CAAFA595A47C}"/>
              </a:ext>
            </a:extLst>
          </p:cNvPr>
          <p:cNvSpPr txBox="1"/>
          <p:nvPr/>
        </p:nvSpPr>
        <p:spPr>
          <a:xfrm>
            <a:off x="1524000" y="707571"/>
            <a:ext cx="79520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不改变</a:t>
            </a:r>
            <a:r>
              <a:rPr lang="en-US" altLang="zh-CN" dirty="0" err="1"/>
              <a:t>gcn</a:t>
            </a:r>
            <a:r>
              <a:rPr lang="zh-CN" altLang="en-US" dirty="0"/>
              <a:t>结构与</a:t>
            </a:r>
            <a:r>
              <a:rPr lang="en-US" altLang="zh-CN" dirty="0"/>
              <a:t>3072bit</a:t>
            </a:r>
            <a:r>
              <a:rPr lang="zh-CN" altLang="en-US" dirty="0"/>
              <a:t>的预算，仅增加：</a:t>
            </a:r>
            <a:endParaRPr lang="en-US" altLang="zh-CN" dirty="0"/>
          </a:p>
          <a:p>
            <a:pPr lvl="0"/>
            <a:r>
              <a:rPr lang="zh-CN" altLang="zh-CN" dirty="0"/>
              <a:t>3步在线PGD训练；</a:t>
            </a:r>
          </a:p>
          <a:p>
            <a:pPr lvl="0"/>
            <a:r>
              <a:rPr lang="zh-CN" altLang="zh-CN" dirty="0"/>
              <a:t>攻击重建向干净图靠拢；</a:t>
            </a:r>
          </a:p>
          <a:p>
            <a:pPr lvl="0"/>
            <a:r>
              <a:rPr lang="zh-CN" altLang="zh-CN" dirty="0"/>
              <a:t>干净/攻击重建一致性；</a:t>
            </a:r>
          </a:p>
          <a:p>
            <a:pPr lvl="0"/>
            <a:r>
              <a:rPr lang="zh-CN" altLang="zh-CN" dirty="0"/>
              <a:t>干净图YOLO检测损失；</a:t>
            </a:r>
          </a:p>
          <a:p>
            <a:pPr lvl="0"/>
            <a:r>
              <a:rPr lang="zh-CN" altLang="zh-CN" dirty="0"/>
              <a:t>攻击图YOLO检测损失；</a:t>
            </a:r>
          </a:p>
          <a:p>
            <a:pPr lvl="0"/>
            <a:r>
              <a:rPr lang="zh-CN" altLang="zh-CN" dirty="0"/>
              <a:t>encoder和YOLO继续冻结；</a:t>
            </a:r>
          </a:p>
          <a:p>
            <a:pPr lvl="0"/>
            <a:r>
              <a:rPr lang="zh-CN" altLang="zh-CN" dirty="0"/>
              <a:t>更新base decoder、GCN blocks和skip quantizer。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0589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78A75A-24A1-BD69-C12A-E1D7BD316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Freqpure</a:t>
            </a:r>
            <a:r>
              <a:rPr lang="en-US" altLang="zh-CN" dirty="0"/>
              <a:t>(2025</a:t>
            </a:r>
            <a:r>
              <a:rPr lang="zh-CN" altLang="en-US" dirty="0"/>
              <a:t>顶会）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2A485C-A274-FF04-79B2-9F285187B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zh-CN" sz="2000" dirty="0"/>
              <a:t>它在反向扩散的每个时间步：</a:t>
            </a:r>
          </a:p>
          <a:p>
            <a:pPr lvl="0"/>
            <a:r>
              <a:rPr lang="zh-CN" altLang="zh-CN" sz="2000" dirty="0"/>
              <a:t>保留输入图像相对可靠的低频幅度成分；</a:t>
            </a:r>
          </a:p>
          <a:p>
            <a:pPr lvl="0"/>
            <a:r>
              <a:rPr lang="zh-CN" altLang="zh-CN" sz="2000" dirty="0"/>
              <a:t>对低频相位进行约束；</a:t>
            </a:r>
          </a:p>
          <a:p>
            <a:pPr lvl="0"/>
            <a:r>
              <a:rPr lang="zh-CN" altLang="zh-CN" sz="2000" dirty="0"/>
              <a:t>减少普通扩散对干净语义的破坏。</a:t>
            </a:r>
          </a:p>
          <a:p>
            <a:pPr marL="0" indent="0">
              <a:buNone/>
            </a:pPr>
            <a:r>
              <a:rPr lang="zh-CN" altLang="en-US" sz="2000" dirty="0"/>
              <a:t>复现流程：</a:t>
            </a:r>
            <a:endParaRPr lang="en-US" altLang="zh-CN" sz="2000" dirty="0"/>
          </a:p>
          <a:p>
            <a:r>
              <a:rPr lang="zh-CN" altLang="en-US" sz="2000" dirty="0"/>
              <a:t>官方</a:t>
            </a:r>
            <a:r>
              <a:rPr lang="en-US" altLang="zh-CN" sz="2000" dirty="0"/>
              <a:t>ImageNet</a:t>
            </a:r>
            <a:r>
              <a:rPr lang="zh-CN" altLang="en-US" sz="2000" dirty="0"/>
              <a:t>权重＋共享</a:t>
            </a:r>
            <a:r>
              <a:rPr lang="en-US" altLang="zh-CN" sz="2000" dirty="0"/>
              <a:t>PGD</a:t>
            </a:r>
            <a:r>
              <a:rPr lang="zh-CN" altLang="en-US" sz="2000" dirty="0"/>
              <a:t>，</a:t>
            </a:r>
            <a:r>
              <a:rPr lang="en-US" altLang="zh-CN" sz="2000" dirty="0"/>
              <a:t>512</a:t>
            </a:r>
            <a:r>
              <a:rPr lang="zh-CN" altLang="en-US" sz="2000" dirty="0"/>
              <a:t>张</a:t>
            </a:r>
          </a:p>
          <a:p>
            <a:r>
              <a:rPr lang="zh-CN" altLang="en-US" sz="2000" dirty="0"/>
              <a:t>→ 验证</a:t>
            </a:r>
            <a:r>
              <a:rPr lang="en-US" altLang="zh-CN" sz="2000" dirty="0" err="1"/>
              <a:t>FreqPure</a:t>
            </a:r>
            <a:r>
              <a:rPr lang="zh-CN" altLang="en-US" sz="2000" dirty="0"/>
              <a:t>实现</a:t>
            </a:r>
          </a:p>
          <a:p>
            <a:r>
              <a:rPr lang="zh-CN" altLang="en-US" sz="2000" dirty="0"/>
              <a:t>→ </a:t>
            </a:r>
            <a:r>
              <a:rPr lang="en-US" altLang="zh-CN" sz="2000" dirty="0"/>
              <a:t>4306</a:t>
            </a:r>
            <a:r>
              <a:rPr lang="zh-CN" altLang="en-US" sz="2000" dirty="0"/>
              <a:t>张完整评测</a:t>
            </a:r>
          </a:p>
          <a:p>
            <a:r>
              <a:rPr lang="zh-CN" altLang="en-US" sz="2000" dirty="0"/>
              <a:t>→ </a:t>
            </a:r>
            <a:r>
              <a:rPr lang="en-US" altLang="zh-CN" sz="2000" dirty="0"/>
              <a:t>3</a:t>
            </a:r>
            <a:r>
              <a:rPr lang="zh-CN" altLang="en-US" sz="2000" dirty="0"/>
              <a:t>个攻击种子</a:t>
            </a:r>
          </a:p>
          <a:p>
            <a:r>
              <a:rPr lang="zh-CN" altLang="en-US" sz="2000" dirty="0"/>
              <a:t>→ 有算力再训练</a:t>
            </a:r>
            <a:r>
              <a:rPr lang="en-US" altLang="zh-CN" sz="2000" dirty="0" err="1"/>
              <a:t>FreqPure-DFire</a:t>
            </a:r>
            <a:r>
              <a:rPr lang="zh-CN" altLang="en-US" sz="2000" dirty="0"/>
              <a:t>图像空间</a:t>
            </a:r>
            <a:r>
              <a:rPr lang="en-US" altLang="zh-CN" sz="2000" dirty="0"/>
              <a:t>DDPM</a:t>
            </a:r>
          </a:p>
          <a:p>
            <a:r>
              <a:rPr lang="en-US" altLang="zh-CN" sz="2000" dirty="0"/>
              <a:t>→ </a:t>
            </a:r>
            <a:r>
              <a:rPr lang="zh-CN" altLang="en-US" sz="2000" dirty="0"/>
              <a:t>小规模自适应攻击</a:t>
            </a:r>
          </a:p>
        </p:txBody>
      </p:sp>
    </p:spTree>
    <p:extLst>
      <p:ext uri="{BB962C8B-B14F-4D97-AF65-F5344CB8AC3E}">
        <p14:creationId xmlns:p14="http://schemas.microsoft.com/office/powerpoint/2010/main" val="784487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11CEDE-BCE3-B91D-F1E7-7DE8E7E08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复现</a:t>
            </a:r>
            <a:r>
              <a:rPr lang="en-US" altLang="zh-CN" sz="3200" dirty="0"/>
              <a:t>freqpure,400</a:t>
            </a:r>
            <a:r>
              <a:rPr lang="zh-CN" altLang="en-US" sz="3200" dirty="0"/>
              <a:t>张图片（</a:t>
            </a:r>
            <a:r>
              <a:rPr lang="en-US" altLang="zh-CN" sz="3200" dirty="0"/>
              <a:t>4306</a:t>
            </a:r>
            <a:r>
              <a:rPr lang="zh-CN" altLang="en-US" sz="3200" dirty="0"/>
              <a:t>张训练时间过长）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7C8FDE2F-071D-D67F-8B30-43F8FE01235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9739443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6757102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1581926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同一400张、同一PGD图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mAP50-95恢复率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36539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FreqPure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72.2%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69.4%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3992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原 learned-v2 GCN direct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56.5%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54.0%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12572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原 GCN，main diffusion T*=3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57.1%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54.0%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90698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Joint-3072 T*=3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54.3%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51.1%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69343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本周新微调 GCN direct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60.3%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57.3%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746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本周新微调 GCN T*=3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60.2%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57.2%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5801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315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3EC2F1-EAFF-C1A1-98BD-5D98C67D5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提高</a:t>
            </a:r>
            <a:r>
              <a:rPr lang="en-US" altLang="zh-CN" dirty="0" err="1"/>
              <a:t>gcn</a:t>
            </a:r>
            <a:r>
              <a:rPr lang="zh-CN" altLang="en-US" dirty="0"/>
              <a:t>网络效果的尝试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73B8FE97-71F5-D7B1-007D-52BC518E98D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02200287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9345329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868898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版本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direct mAP50 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direct mAP50-95 恢复率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7460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v3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60.3%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57.3%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5887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v4 最佳 epoch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58.8%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55.2%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250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差值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−1.5 个百分点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−2.1 个百分点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509198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7AE5B1CE-8214-2C44-27EC-DA259E77980B}"/>
              </a:ext>
            </a:extLst>
          </p:cNvPr>
          <p:cNvSpPr txBox="1"/>
          <p:nvPr/>
        </p:nvSpPr>
        <p:spPr>
          <a:xfrm>
            <a:off x="838200" y="1690688"/>
            <a:ext cx="609508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增加 </a:t>
            </a:r>
            <a:r>
              <a:rPr lang="zh-CN" altLang="zh-CN" dirty="0">
                <a:latin typeface="+mn-lt"/>
              </a:rPr>
              <a:t>clean main + adv skip</a:t>
            </a:r>
            <a:r>
              <a:rPr lang="zh-CN" altLang="zh-CN" dirty="0"/>
              <a:t> 和 </a:t>
            </a:r>
            <a:r>
              <a:rPr lang="zh-CN" altLang="zh-CN" dirty="0">
                <a:latin typeface="+mn-lt"/>
              </a:rPr>
              <a:t>adv main + clean skip</a:t>
            </a:r>
            <a:r>
              <a:rPr lang="zh-CN" altLang="zh-CN" dirty="0"/>
              <a:t> 交换路径训练；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对全部 3072 bit 随机翻转约 1%，训练 decoder 容错；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PGD 从 3 步逐渐增加到 10 步</a:t>
            </a:r>
          </a:p>
        </p:txBody>
      </p:sp>
    </p:spTree>
    <p:extLst>
      <p:ext uri="{BB962C8B-B14F-4D97-AF65-F5344CB8AC3E}">
        <p14:creationId xmlns:p14="http://schemas.microsoft.com/office/powerpoint/2010/main" val="1358205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C3FFC9-FA49-24BC-299A-E05D89A08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增强针对</a:t>
            </a:r>
            <a:r>
              <a:rPr lang="en-US" altLang="zh-CN" dirty="0"/>
              <a:t>PGD</a:t>
            </a:r>
            <a:r>
              <a:rPr lang="zh-CN" altLang="en-US" dirty="0"/>
              <a:t>的训练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0C78C5A5-DCF6-7E9E-ED3A-4A668323B0E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086894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3794445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1497261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863658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direct mAP50 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direct mAP50-95 恢复率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533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旧 v3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60.3%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57.3%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85136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完整 v4 最佳 epoch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58.8%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55.2%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70467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本次 epoch 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59.9%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57.4%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849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本次 epoch 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60.1%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57.0%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980187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1A528661-49F2-0CD4-4849-622BD55A18E0}"/>
              </a:ext>
            </a:extLst>
          </p:cNvPr>
          <p:cNvSpPr txBox="1"/>
          <p:nvPr/>
        </p:nvSpPr>
        <p:spPr>
          <a:xfrm>
            <a:off x="1092047" y="1690688"/>
            <a:ext cx="60950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干净、攻击图重建后的表现几乎一样，都停在约 </a:t>
            </a:r>
            <a:r>
              <a:rPr lang="en-US" altLang="zh-CN" dirty="0"/>
              <a:t>0.35</a:t>
            </a:r>
            <a:r>
              <a:rPr lang="zh-CN" altLang="en-US" dirty="0"/>
              <a:t>，说明当前模型可能把攻击和有用细节一起抹掉了。继续增强 </a:t>
            </a:r>
            <a:r>
              <a:rPr lang="en-US" altLang="zh-CN" dirty="0"/>
              <a:t>PGD </a:t>
            </a:r>
            <a:r>
              <a:rPr lang="zh-CN" altLang="en-US" dirty="0"/>
              <a:t>训练并非最优先方向</a:t>
            </a:r>
          </a:p>
        </p:txBody>
      </p:sp>
    </p:spTree>
    <p:extLst>
      <p:ext uri="{BB962C8B-B14F-4D97-AF65-F5344CB8AC3E}">
        <p14:creationId xmlns:p14="http://schemas.microsoft.com/office/powerpoint/2010/main" val="3505537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80867A-AA15-AFC2-73BF-6EE0FA171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尝试不再限制带宽，扩大</a:t>
            </a:r>
            <a:r>
              <a:rPr lang="en-US" altLang="zh-CN" dirty="0"/>
              <a:t>bit</a:t>
            </a:r>
            <a:r>
              <a:rPr lang="zh-CN" altLang="en-US" dirty="0"/>
              <a:t>预算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D50851DE-E410-E9CE-4DA5-79F90C6E0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1600" dirty="0"/>
              <a:t>把预算从：</a:t>
            </a:r>
          </a:p>
          <a:p>
            <a:pPr lvl="0"/>
            <a:r>
              <a:rPr lang="zh-CN" altLang="zh-CN" sz="1600" dirty="0"/>
              <a:t>main：2048 bit，保持不变；</a:t>
            </a:r>
          </a:p>
          <a:p>
            <a:pPr lvl="0"/>
            <a:r>
              <a:rPr lang="zh-CN" altLang="zh-CN" sz="1600" dirty="0"/>
              <a:t>skip64：512 → 2048 bit；</a:t>
            </a:r>
          </a:p>
          <a:p>
            <a:pPr lvl="0"/>
            <a:r>
              <a:rPr lang="zh-CN" altLang="zh-CN" sz="1600" dirty="0"/>
              <a:t>skip32：512 → 2048 bit；</a:t>
            </a:r>
          </a:p>
          <a:p>
            <a:pPr lvl="0"/>
            <a:r>
              <a:rPr lang="zh-CN" altLang="zh-CN" sz="1600" dirty="0"/>
              <a:t>总量：3072 → 6144 bit。</a:t>
            </a:r>
          </a:p>
          <a:p>
            <a:r>
              <a:rPr lang="zh-CN" altLang="zh-CN" sz="1600" dirty="0"/>
              <a:t>进行了适应训练和联合微调，但一版8轮结果只有 </a:t>
            </a:r>
            <a:r>
              <a:rPr lang="zh-CN" altLang="zh-CN" sz="1600" b="1" dirty="0"/>
              <a:t>57.1% / 52.9%</a:t>
            </a:r>
            <a:endParaRPr lang="zh-CN" altLang="zh-CN" sz="1600" dirty="0"/>
          </a:p>
          <a:p>
            <a:r>
              <a:rPr lang="zh-CN" altLang="zh-CN" sz="1600" dirty="0"/>
              <a:t>固定隐藏宽度，复制旧通道参数，让新增通道的初始解码贡献为零，并检查扩容前后输出一致</a:t>
            </a:r>
            <a:endParaRPr lang="zh-CN" altLang="en-US" sz="1600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A33F6876-403A-F5C7-AF59-4D8CE82927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3092065"/>
              </p:ext>
            </p:extLst>
          </p:nvPr>
        </p:nvGraphicFramePr>
        <p:xfrm>
          <a:off x="838200" y="4348163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66029921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4548602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069431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阶段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mAP50恢复率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mAP50-95恢复率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7929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原Learned-v2，3072 bit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56.5%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54.0%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17067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刚扩容，6144 bit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56.5%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54.0%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7730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适应训练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57.3%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54.6%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8362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联合训练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55.8%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51.8%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6142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653888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2D5961-0EDC-48FD-16F1-232CE85EF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做消融实验</a:t>
            </a:r>
          </a:p>
        </p:txBody>
      </p:sp>
      <p:graphicFrame>
        <p:nvGraphicFramePr>
          <p:cNvPr id="6" name="内容占位符 5">
            <a:extLst>
              <a:ext uri="{FF2B5EF4-FFF2-40B4-BE49-F238E27FC236}">
                <a16:creationId xmlns:a16="http://schemas.microsoft.com/office/drawing/2014/main" id="{4744DD78-8346-1D01-2DB8-ADFEA69DEC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4690137"/>
              </p:ext>
            </p:extLst>
          </p:nvPr>
        </p:nvGraphicFramePr>
        <p:xfrm>
          <a:off x="838200" y="1334294"/>
          <a:ext cx="1051560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92907209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0731271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167257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366175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设置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clean mAP50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adv mAP50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恢复率50 / 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5934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新增通道全关闭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0.3678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0.3580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60.3% / 57.3%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5436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仅开启64×64层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0.3644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0.3645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61.3% / 57.7%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7124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仅开启32×32层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0.3676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0.3599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60.6% / 56.7%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6730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两层全部开启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0.3625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/>
                        <a:t>0.3611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dirty="0"/>
                        <a:t>60.8% / 57.3%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453584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F9887A65-84D6-F3D4-1673-1E94B7C4CC72}"/>
              </a:ext>
            </a:extLst>
          </p:cNvPr>
          <p:cNvSpPr txBox="1"/>
          <p:nvPr/>
        </p:nvSpPr>
        <p:spPr>
          <a:xfrm>
            <a:off x="734546" y="4797495"/>
            <a:ext cx="60948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Robust-v3：</a:t>
            </a:r>
            <a:r>
              <a:rPr lang="zh-CN" altLang="zh-CN" b="1" dirty="0"/>
              <a:t>60.3% / 57.3%</a:t>
            </a:r>
            <a:r>
              <a:rPr lang="zh-CN" altLang="zh-CN" dirty="0"/>
              <a:t>。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完整Robust-v4：按mAP50恢复率选出的那轮约 </a:t>
            </a:r>
            <a:r>
              <a:rPr lang="zh-CN" altLang="zh-CN" b="1" dirty="0"/>
              <a:t>58.8% / 55.2%</a:t>
            </a:r>
            <a:r>
              <a:rPr lang="zh-CN" altLang="zh-CN" dirty="0"/>
              <a:t>，没有超过v3。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更强PGD那组：最高mAP50恢复率约 </a:t>
            </a:r>
            <a:r>
              <a:rPr lang="zh-CN" altLang="zh-CN" b="1" dirty="0"/>
              <a:t>60.1% / 57.0%</a:t>
            </a:r>
            <a:r>
              <a:rPr lang="zh-CN" altLang="zh-CN" dirty="0"/>
              <a:t>，同样没有明显超过v3。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zh-CN" altLang="zh-CN" dirty="0"/>
              <a:t>最近保留式扩容、只训练64层新增通道：</a:t>
            </a:r>
            <a:r>
              <a:rPr lang="zh-CN" altLang="zh-CN" b="1" dirty="0"/>
              <a:t>61.2% / 57.8%</a:t>
            </a:r>
            <a:endParaRPr lang="zh-CN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4AFA53D-7240-989C-C86B-953E5628BADC}"/>
              </a:ext>
            </a:extLst>
          </p:cNvPr>
          <p:cNvSpPr txBox="1"/>
          <p:nvPr/>
        </p:nvSpPr>
        <p:spPr>
          <a:xfrm>
            <a:off x="772886" y="332508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dirty="0"/>
              <a:t>当前权重下，64层新增通道有帮助；同时开启32层新增通道，会削弱部分收益。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08969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CF9C95-F15E-08BE-6FE2-F7AB80DE9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目前的问题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464B01-DE8E-E2BE-7315-2BA3B48B4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训练图数量保留和</a:t>
            </a:r>
            <a:r>
              <a:rPr lang="en-US" altLang="zh-CN" dirty="0" err="1"/>
              <a:t>freqpure</a:t>
            </a:r>
            <a:r>
              <a:rPr lang="zh-CN" altLang="en-US" dirty="0"/>
              <a:t>对标的</a:t>
            </a:r>
            <a:r>
              <a:rPr lang="en-US" altLang="zh-CN" dirty="0"/>
              <a:t>400</a:t>
            </a:r>
            <a:r>
              <a:rPr lang="zh-CN" altLang="en-US" dirty="0"/>
              <a:t>张量级，没有进行全量测评，可能导致没有达到</a:t>
            </a:r>
            <a:r>
              <a:rPr lang="en-US" altLang="zh-CN" dirty="0"/>
              <a:t>64%</a:t>
            </a:r>
            <a:r>
              <a:rPr lang="zh-CN" altLang="en-US" dirty="0"/>
              <a:t>左右的最高训练效果，正在考虑是否进行全量训练。</a:t>
            </a:r>
            <a:endParaRPr lang="en-US" altLang="zh-CN" dirty="0"/>
          </a:p>
          <a:p>
            <a:r>
              <a:rPr lang="en-US" altLang="zh-CN" dirty="0"/>
              <a:t>Batch-size</a:t>
            </a:r>
            <a:r>
              <a:rPr lang="zh-CN" altLang="en-US" dirty="0"/>
              <a:t>保持在</a:t>
            </a:r>
            <a:r>
              <a:rPr lang="en-US" altLang="zh-CN" dirty="0"/>
              <a:t>2</a:t>
            </a:r>
            <a:r>
              <a:rPr lang="zh-CN" altLang="en-US"/>
              <a:t>左右，目前可能训练覆盖量较小，但不能保证是效果不理想的主要原因。</a:t>
            </a:r>
          </a:p>
        </p:txBody>
      </p:sp>
    </p:spTree>
    <p:extLst>
      <p:ext uri="{BB962C8B-B14F-4D97-AF65-F5344CB8AC3E}">
        <p14:creationId xmlns:p14="http://schemas.microsoft.com/office/powerpoint/2010/main" val="1249905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1498</Words>
  <Application>Microsoft Office PowerPoint</Application>
  <PresentationFormat>宽屏</PresentationFormat>
  <Paragraphs>127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等线</vt:lpstr>
      <vt:lpstr>等线 Light</vt:lpstr>
      <vt:lpstr>Arial</vt:lpstr>
      <vt:lpstr>Office 主题​​</vt:lpstr>
      <vt:lpstr>PowerPoint 演示文稿</vt:lpstr>
      <vt:lpstr>Freqpure(2025顶会）</vt:lpstr>
      <vt:lpstr>复现freqpure,400张图片（4306张训练时间过长）</vt:lpstr>
      <vt:lpstr>提高gcn网络效果的尝试</vt:lpstr>
      <vt:lpstr>增强针对PGD的训练</vt:lpstr>
      <vt:lpstr>尝试不再限制带宽，扩大bit预算</vt:lpstr>
      <vt:lpstr>做消融实验</vt:lpstr>
      <vt:lpstr>目前的问题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3</cp:revision>
  <dcterms:created xsi:type="dcterms:W3CDTF">2026-09-14T07:55:50Z</dcterms:created>
  <dcterms:modified xsi:type="dcterms:W3CDTF">2026-09-21T09:16:32Z</dcterms:modified>
</cp:coreProperties>
</file>