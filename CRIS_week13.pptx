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0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97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9E36A4-FB1B-5CCD-AD46-DFDD1807F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2BB431-BB36-4671-B1DD-3ECA0F913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2988DD-1896-DB16-067C-CFA7F6B1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7EA94-D109-4F51-A1A3-042567A22D2F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C4EA05-7196-2EA9-E417-CCF7A3EED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03C9AC-F550-2C1F-C096-E5EAB5099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D1B6-80A1-4B5D-B3C1-815D9B896F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295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5DFC50-C5F4-004F-E1CB-5DBC70ECF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51CBAB-7EFA-A2CC-96C2-C4632EC64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F8523B-0869-6974-21E2-45C61ADDE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7EA94-D109-4F51-A1A3-042567A22D2F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D4A868-2609-93C2-7831-7F2D4AB9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A734A-132A-535F-DD64-F216C66C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D1B6-80A1-4B5D-B3C1-815D9B896F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532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A0D1A-D227-D5C7-7584-51871A220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0158A5-6DB6-7503-7ACC-120CFE281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21A2A4-8CD1-F3E3-99E8-9F89029C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7EA94-D109-4F51-A1A3-042567A22D2F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A05E30-6B70-BABF-D414-E26E642EA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86607F-62E2-716A-C1D0-D3D532D08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D1B6-80A1-4B5D-B3C1-815D9B896F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41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883A61-0994-521F-B247-BDA9AF642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0ED909-14EE-6AA9-27D5-092AE4482F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FD1693-BE64-D78A-34C2-F55E67543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0A012C-8673-E083-8B7B-57C692D09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7EA94-D109-4F51-A1A3-042567A22D2F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1B688F-0664-3037-C35A-3DFB761A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BC9031-3137-BE6F-8243-9A7B8B61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D1B6-80A1-4B5D-B3C1-815D9B896F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52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F01A5F-1C87-2F94-5F22-22D988D13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D5FFCC-2EF0-C358-FE2D-1C3121008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507BD4-DBF7-A574-0B27-8B6E952CD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E8C58E0-F1DC-1851-5043-31179F353A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816FCA-8446-FF05-1175-94599D5836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0CB29E4-5805-CDE1-02DC-6D9FD0AB5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7EA94-D109-4F51-A1A3-042567A22D2F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BC0535A-5F50-6168-868E-4413F398A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0CDC45-32E2-3565-3A30-BEB2F45E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D1B6-80A1-4B5D-B3C1-815D9B896F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36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3A595-32C8-90BD-D9CD-4C296467B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2470E9-2401-FAD6-F69E-D64086430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7EA94-D109-4F51-A1A3-042567A22D2F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A646A9-56A8-CC09-3FB1-BAAF2236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A90C37-CDF8-F12D-7DD1-FF9D9D42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D1B6-80A1-4B5D-B3C1-815D9B896F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526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3F2F39-E04A-1ABD-2BC2-7E715210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7EA94-D109-4F51-A1A3-042567A22D2F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10F06A-5AF4-2961-9D58-95A23E47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5A8A29-F103-4717-90E7-A96263DF6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D1B6-80A1-4B5D-B3C1-815D9B896F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892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F7388-272A-8761-673A-EE6A93ECE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C366BC-3107-2AD3-F717-79C3BA153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D47B79-6770-3AAB-199D-8C63D78F8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9E36E1-7BC5-B888-8187-91CADFA79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7EA94-D109-4F51-A1A3-042567A22D2F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A454BA-6765-10B0-81CF-5D30864B2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DC5C32-11BE-EE93-8E1B-E6211C107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D1B6-80A1-4B5D-B3C1-815D9B896F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97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143DD-208B-EAF1-CF26-5A8848A9A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7A2DA1-8F55-6C92-49DA-D3D914AAC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53E47D-883F-483C-4561-EBFEA7C2E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5B95E1-E13C-BC9A-1E0C-4032317C8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7EA94-D109-4F51-A1A3-042567A22D2F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536E77-FAC6-6AAD-45E1-0AFF547CD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338DCF-6794-1926-3D6C-06F0AB614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D1B6-80A1-4B5D-B3C1-815D9B896F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79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12DAA-6554-3C19-FAA6-E20487C1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778B83-21A6-6C42-F451-B01BC3D56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8DFCD8-B3A9-39C6-71A1-2BC095830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7EA94-D109-4F51-A1A3-042567A22D2F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137D35-3122-B76E-F81D-00D5A50F6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3F959F-CAD1-6873-6C18-F09A91C8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D1B6-80A1-4B5D-B3C1-815D9B896F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604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1B5D4FE-8DAD-AD96-7390-719FC2C2E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024EE3-0345-24A0-AE80-B4C8DBDFC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8491B-8228-A4FF-456D-8F0D5A03A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7EA94-D109-4F51-A1A3-042567A22D2F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B2B679-9E68-79AC-4F00-17E15BEFA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0C1067-DE89-0302-BA3F-B6629C50F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D1B6-80A1-4B5D-B3C1-815D9B896F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093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6A79B1-D4D7-CB2A-CC89-04471F397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943CA2-CF88-3BBE-DDC5-AEE6C6246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C5DFB9-904C-3482-AE4B-494088FA3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7EA94-D109-4F51-A1A3-042567A22D2F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B56F18-C12D-A74F-F01D-FE43922C9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FA5516-706B-F92B-6F16-BF5778210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CD1B6-80A1-4B5D-B3C1-815D9B896F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0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E0D54-7763-816E-9678-31600E5DC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R</a:t>
            </a:r>
            <a:r>
              <a:rPr lang="en-US" altLang="zh-CN" dirty="0" err="1"/>
              <a:t>estructuring</a:t>
            </a:r>
            <a:r>
              <a:rPr lang="zh-CN" altLang="zh-CN" dirty="0"/>
              <a:t> </a:t>
            </a:r>
            <a:r>
              <a:rPr lang="en-US" altLang="zh-CN" dirty="0"/>
              <a:t>vector</a:t>
            </a:r>
            <a:r>
              <a:rPr lang="zh-CN" altLang="zh-CN" dirty="0"/>
              <a:t> </a:t>
            </a:r>
            <a:r>
              <a:rPr lang="en-US" altLang="zh-CN" dirty="0"/>
              <a:t>quantization</a:t>
            </a:r>
            <a:r>
              <a:rPr lang="zh-CN" altLang="zh-CN" dirty="0"/>
              <a:t> </a:t>
            </a:r>
            <a:r>
              <a:rPr lang="en-US" altLang="zh-CN" dirty="0"/>
              <a:t>with the </a:t>
            </a:r>
            <a:r>
              <a:rPr lang="zh-CN" altLang="zh-CN" dirty="0"/>
              <a:t> </a:t>
            </a:r>
            <a:r>
              <a:rPr lang="en-US" altLang="zh-CN" dirty="0"/>
              <a:t>rotation trick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2015B8-316B-EDD2-DCF9-8B3F01FF9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21400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向量量化本身是不可微的，梯度只能以一种近似从</a:t>
            </a:r>
            <a:r>
              <a:rPr lang="en-US" altLang="zh-CN" sz="2400" dirty="0" err="1"/>
              <a:t>vq</a:t>
            </a:r>
            <a:r>
              <a:rPr lang="zh-CN" altLang="en-US" sz="2400" dirty="0"/>
              <a:t>层流向编码器。文章提出通过旋转和缩放的线性变换将编码器输出</a:t>
            </a:r>
            <a:r>
              <a:rPr lang="en-US" altLang="zh-CN" sz="2400" dirty="0"/>
              <a:t>e</a:t>
            </a:r>
            <a:r>
              <a:rPr lang="zh-CN" altLang="en-US" sz="2400" dirty="0"/>
              <a:t>平滑地转换为码本向量</a:t>
            </a:r>
            <a:r>
              <a:rPr lang="en-US" altLang="zh-CN" sz="2400" dirty="0"/>
              <a:t>q</a:t>
            </a:r>
            <a:r>
              <a:rPr lang="zh-CN" altLang="en-US" sz="2400" dirty="0"/>
              <a:t>，再将这个输出传递给解码器。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zh-CN" sz="2400" dirty="0"/>
              <a:t>在 ImageNet上使用旋转技巧训练 的 VQGAN，可以将重建 FID 从 5.0 提升到 1.1，重建 IS 从 141.5 提升到 200.2，码本使用率从 2% 增加到 27%，并将量化误差降低两个数量级。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14CFA9-6239-F2E6-5D61-5F8D768C6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587" y="2382044"/>
            <a:ext cx="4467225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603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A70A90D-C7F9-CACA-C584-C45EB825C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07" y="1107054"/>
            <a:ext cx="3756305" cy="42978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04E2F71-03DD-3638-A68E-9F36AAE2B5B7}"/>
              </a:ext>
            </a:extLst>
          </p:cNvPr>
          <p:cNvSpPr txBox="1"/>
          <p:nvPr/>
        </p:nvSpPr>
        <p:spPr>
          <a:xfrm>
            <a:off x="5246914" y="1382486"/>
            <a:ext cx="53176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插图显示了 q 的梯度如何通过 STE（中间）和旋转技巧（右侧）移动到 e。STE 会“复制粘贴”梯度以保持其方向，而旋转技巧则移动梯度，从而保持 q 和 ∇qL 之间的角度。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STE: </a:t>
            </a:r>
            <a:r>
              <a:rPr lang="zh-CN" altLang="zh-CN" dirty="0"/>
              <a:t>˜ q =e−(q−e) constant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Rotation trick: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.使用旋转技巧训练VQ-VAE可以显著提升r-FID和r-IS。</a:t>
            </a:r>
            <a:endParaRPr lang="zh-CN" altLang="en-US" dirty="0"/>
          </a:p>
          <a:p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597193A-B679-B474-C9A9-FEF7CE950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264" y="3039578"/>
            <a:ext cx="1510393" cy="91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145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00559-51A6-26B3-1FAF-534825F40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8EF834-4B3D-CEAD-CA82-4CA0D0CD3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Task_aware</a:t>
            </a:r>
            <a:r>
              <a:rPr lang="zh-CN" altLang="en-US" dirty="0"/>
              <a:t>权重</a:t>
            </a:r>
            <a:r>
              <a:rPr lang="en-US" altLang="zh-CN" dirty="0"/>
              <a:t>: </a:t>
            </a:r>
            <a:r>
              <a:rPr lang="zh-CN" altLang="en-US" sz="2400" dirty="0"/>
              <a:t>相较于</a:t>
            </a:r>
            <a:r>
              <a:rPr lang="en-US" altLang="zh-CN" sz="2400" dirty="0"/>
              <a:t>cheng2020Anchor</a:t>
            </a:r>
            <a:r>
              <a:rPr lang="zh-CN" altLang="en-US" sz="2400" dirty="0"/>
              <a:t>，这个版本尝试引入了</a:t>
            </a:r>
            <a:r>
              <a:rPr lang="zh-CN" altLang="zh-CN" sz="2400" b="1" dirty="0"/>
              <a:t>YOLOv8 感知损失</a:t>
            </a:r>
            <a:r>
              <a:rPr lang="zh-CN" altLang="en-US" sz="2400" b="1" dirty="0"/>
              <a:t>，</a:t>
            </a:r>
            <a:r>
              <a:rPr lang="zh-CN" altLang="zh-CN" sz="2400" dirty="0"/>
              <a:t>加载 yolov8n.pt（最小版本，6 MB），完全冻结权重，只用第 2、4 层的中间特征计算重建图和原图之间的 L2 距离。这样压缩模型会被引导保留对检测有用的边缘和纹理特征，而不只是优化像素级 MSE。</a:t>
            </a:r>
            <a:endParaRPr lang="en-US" altLang="zh-CN" sz="2400" dirty="0"/>
          </a:p>
          <a:p>
            <a:endParaRPr lang="en-US" altLang="zh-CN" dirty="0"/>
          </a:p>
          <a:p>
            <a:r>
              <a:rPr lang="en-US" altLang="zh-CN" dirty="0" err="1"/>
              <a:t>Low_bpp</a:t>
            </a:r>
            <a:r>
              <a:rPr lang="zh-CN" altLang="en-US" dirty="0"/>
              <a:t>权重：</a:t>
            </a:r>
            <a:r>
              <a:rPr lang="zh-CN" altLang="en-US" sz="2400" dirty="0"/>
              <a:t>调小了学习率，进行一次</a:t>
            </a:r>
            <a:r>
              <a:rPr lang="en-US" altLang="zh-CN" sz="2400" dirty="0"/>
              <a:t>15epoch</a:t>
            </a:r>
            <a:r>
              <a:rPr lang="zh-CN" altLang="en-US" sz="2400" dirty="0"/>
              <a:t>的微调。由于这次微调效果较好（</a:t>
            </a:r>
            <a:r>
              <a:rPr lang="en-US" altLang="zh-CN" sz="2400" dirty="0" err="1"/>
              <a:t>bpp</a:t>
            </a:r>
            <a:r>
              <a:rPr lang="zh-CN" altLang="en-US" sz="2400" dirty="0"/>
              <a:t>较低的同时</a:t>
            </a:r>
            <a:r>
              <a:rPr lang="en-US" altLang="zh-CN" sz="2400" dirty="0"/>
              <a:t>PSNR</a:t>
            </a:r>
            <a:r>
              <a:rPr lang="zh-CN" altLang="en-US" sz="2400" dirty="0"/>
              <a:t>达到了</a:t>
            </a:r>
            <a:r>
              <a:rPr lang="en-US" altLang="zh-CN" sz="2400" dirty="0"/>
              <a:t>30</a:t>
            </a:r>
            <a:r>
              <a:rPr lang="zh-CN" altLang="en-US" sz="2400" dirty="0"/>
              <a:t>），先进行了</a:t>
            </a:r>
            <a:r>
              <a:rPr lang="en-US" altLang="zh-CN" sz="2400" dirty="0" err="1"/>
              <a:t>mAP</a:t>
            </a:r>
            <a:r>
              <a:rPr lang="zh-CN" altLang="en-US" sz="2400" dirty="0"/>
              <a:t>检查，判断后续训练的必要性。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272531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34CA3-DFCF-EAAF-E147-A8E3BA4E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672" y="640547"/>
            <a:ext cx="10515600" cy="1325563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3B92C7C-19DB-40A2-65DA-6EE7F55A96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635" y="3390441"/>
            <a:ext cx="3648419" cy="28819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C4C71ED-93F6-5E6E-436F-18FA22D94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98" y="93643"/>
            <a:ext cx="4156368" cy="33353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E30790A-20FC-2312-69BE-EFD9A35CF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666" y="138597"/>
            <a:ext cx="3716164" cy="294061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A447623-91AD-E8D1-C4EF-C130B58EE654}"/>
              </a:ext>
            </a:extLst>
          </p:cNvPr>
          <p:cNvSpPr txBox="1"/>
          <p:nvPr/>
        </p:nvSpPr>
        <p:spPr>
          <a:xfrm>
            <a:off x="4463003" y="2890662"/>
            <a:ext cx="7126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zh-CN" altLang="zh-CN" dirty="0"/>
              <a:t>检测器在原图(D-Fire test集)上的表现： </a:t>
            </a:r>
            <a:endParaRPr lang="en-US" altLang="zh-CN" dirty="0"/>
          </a:p>
          <a:p>
            <a:r>
              <a:rPr lang="zh-CN" altLang="zh-CN" dirty="0"/>
              <a:t>mAP50 : 0.6562 </a:t>
            </a:r>
            <a:endParaRPr lang="en-US" altLang="zh-CN" dirty="0"/>
          </a:p>
          <a:p>
            <a:r>
              <a:rPr lang="zh-CN" altLang="zh-CN" dirty="0"/>
              <a:t>mAP50-95 : 0.3535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86A0DA8-5AAF-018A-108A-E4BE1F2B10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3003" y="4090991"/>
            <a:ext cx="4916105" cy="254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68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6C8EE0-31C3-7CBA-DA48-202ACCBE6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81CC635-B711-AD26-B248-E903E5F63F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050" y="201385"/>
            <a:ext cx="2272536" cy="615754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3DAC9C3-B73D-9A1D-B324-561591190ACC}"/>
              </a:ext>
            </a:extLst>
          </p:cNvPr>
          <p:cNvSpPr txBox="1"/>
          <p:nvPr/>
        </p:nvSpPr>
        <p:spPr>
          <a:xfrm>
            <a:off x="2671590" y="1690688"/>
            <a:ext cx="580588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WEB10830（smoke）</a:t>
            </a:r>
            <a:r>
              <a:rPr lang="zh-CN" altLang="zh-CN" dirty="0"/>
              <a:t>：原图 5 个框 → task-aware 1 个 → low-bpp 0 个。</a:t>
            </a:r>
            <a:r>
              <a:rPr lang="zh-CN" altLang="en-US" dirty="0"/>
              <a:t>出现</a:t>
            </a:r>
            <a:r>
              <a:rPr lang="zh-CN" altLang="zh-CN" dirty="0"/>
              <a:t>信号衰减直至消失</a:t>
            </a:r>
            <a:r>
              <a:rPr lang="zh-CN" altLang="en-US" dirty="0"/>
              <a:t>，</a:t>
            </a:r>
            <a:r>
              <a:rPr lang="zh-CN" altLang="zh-CN" dirty="0"/>
              <a:t>压缩后这些细碎的、低置信度的框最先被压缩抹掉，框数量随着 bpp 降低单调减少。</a:t>
            </a:r>
          </a:p>
          <a:p>
            <a:r>
              <a:rPr lang="zh-CN" altLang="zh-CN" b="1" dirty="0"/>
              <a:t>WEB09925（none，负样本）</a:t>
            </a:r>
            <a:r>
              <a:rPr lang="zh-CN" altLang="zh-CN" dirty="0"/>
              <a:t>：原图 1 个框 → 两个重建图都是 0 个框。这张图本身就是检测器对天空云层的一次误检</a:t>
            </a:r>
            <a:r>
              <a:rPr lang="zh-CN" altLang="en-US" dirty="0"/>
              <a:t>，压缩反而修正了误判。</a:t>
            </a:r>
            <a:endParaRPr lang="en-US" altLang="zh-CN" dirty="0"/>
          </a:p>
          <a:p>
            <a:r>
              <a:rPr lang="zh-CN" altLang="zh-CN" b="1" dirty="0"/>
              <a:t>AoF07903（smoke）</a:t>
            </a:r>
            <a:r>
              <a:rPr lang="zh-CN" altLang="zh-CN" dirty="0"/>
              <a:t>：框数量 1→1→1 没变，置信度</a:t>
            </a:r>
            <a:r>
              <a:rPr lang="zh-CN" altLang="en-US" dirty="0"/>
              <a:t>上升</a:t>
            </a:r>
            <a:r>
              <a:rPr lang="zh-CN" altLang="zh-CN" dirty="0"/>
              <a:t>：0.76→0.80→0.82。</a:t>
            </a:r>
            <a:endParaRPr lang="en-US" altLang="zh-CN" dirty="0"/>
          </a:p>
          <a:p>
            <a:r>
              <a:rPr lang="zh-CN" altLang="zh-CN" b="1" dirty="0"/>
              <a:t>WEB10522、WEB10486（both）</a:t>
            </a:r>
            <a:r>
              <a:rPr lang="zh-CN" altLang="zh-CN" dirty="0"/>
              <a:t>：框数量</a:t>
            </a:r>
            <a:r>
              <a:rPr lang="zh-CN" altLang="en-US" dirty="0"/>
              <a:t>没有变化</a:t>
            </a:r>
            <a:r>
              <a:rPr lang="zh-CN" altLang="zh-CN" dirty="0"/>
              <a:t>（3→3→3，4→4→4）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压缩破坏的是检测器赖以精确定位的高频边缘信息，而不是破坏了目标本身的可识别性。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9242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2D9D9-705C-F359-2C38-80FBAFA4D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A3A1423-5D68-73F4-F4E6-26A765875B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66800"/>
            <a:ext cx="3242905" cy="25616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9E9E9F0-23B2-2054-F014-4D06DF661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66456"/>
            <a:ext cx="3209513" cy="250056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831A99A-C7C5-7BB6-D202-74EE17B62C17}"/>
              </a:ext>
            </a:extLst>
          </p:cNvPr>
          <p:cNvSpPr txBox="1"/>
          <p:nvPr/>
        </p:nvSpPr>
        <p:spPr>
          <a:xfrm>
            <a:off x="4920343" y="2013857"/>
            <a:ext cx="6792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未增强 </a:t>
            </a:r>
            <a:r>
              <a:rPr lang="en-US" altLang="zh-CN" dirty="0"/>
              <a:t>baseline PSNR : 30.35 dB</a:t>
            </a:r>
          </a:p>
          <a:p>
            <a:r>
              <a:rPr lang="zh-CN" altLang="en-US" dirty="0"/>
              <a:t>增强后最优 </a:t>
            </a:r>
            <a:r>
              <a:rPr lang="en-US" altLang="zh-CN" dirty="0"/>
              <a:t>PSNR      : 33.30 dB</a:t>
            </a:r>
          </a:p>
          <a:p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9864C22-DC78-AA25-FFE2-B7F920DF3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414" y="2894599"/>
            <a:ext cx="5339080" cy="271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79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1705</TotalTime>
  <Words>537</Words>
  <Application>Microsoft Office PowerPoint</Application>
  <PresentationFormat>宽屏</PresentationFormat>
  <Paragraphs>29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Restructuring vector quantization with the  rotation trick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3</cp:revision>
  <dcterms:created xsi:type="dcterms:W3CDTF">2026-06-16T03:58:19Z</dcterms:created>
  <dcterms:modified xsi:type="dcterms:W3CDTF">2026-06-20T16:29:37Z</dcterms:modified>
</cp:coreProperties>
</file>