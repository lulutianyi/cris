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86A44-2BC6-9602-6EB3-F4A187507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76E888-677D-C821-037E-B7B86F027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A3F9CB-4C2B-F1C1-0BA4-F00B1D4A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220D55-9A30-3FA6-2570-3BACFF5A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C2EFFA-16C0-CBE9-BE6B-01E71F5B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863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3E602-A67B-7240-FF55-B7A2F9AD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C882B-21AD-7E34-773A-86794E957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7B132-D422-E934-C180-871ADECF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CA235C-B614-2EFC-0D23-2D50647B3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A352AE-227A-CB6B-F801-B929EC08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41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C196C-E86F-DCB2-E930-B0B8863F2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92FD09-543E-9925-F8BB-89FDCEE8F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6F9005-AB1F-7147-7764-E6522B232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C83448-CDA5-A7E3-0CF2-D6EB7453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5E9267-D75B-5BEF-D070-3F0E8D05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81870-4BC9-6031-1C63-5E8ADCF48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ACCD81-83F5-684B-097F-4580D2E39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AC58E3-C77A-EE38-3115-904F50E39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E8F82F-04B2-8552-84BC-4A86E0C7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3F902D-EFAA-45E8-0BEA-4E3AFAAB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9466DF-311F-1755-25DA-6FDED527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211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3E735-F0A8-CC67-5416-591DBA2E2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F0057-7013-3DC1-7B5E-C6791FAFA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0CA9B9-4FA2-52F3-4EEA-B7F190509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35E288-CE00-C346-C3B2-4699B625D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E7782D-E557-7DAD-A884-B39706F03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82437E-0EAB-B23E-A0DE-09ACED5BA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513751-707D-ED3E-33E1-B46AB868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B2169D-3D97-FB54-2525-4536A838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5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01869-380E-2CA6-D629-1247F718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E04D11-8924-4C83-58FC-8E92649E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FF02CA-3510-D89D-3370-C9291031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2839EA-0732-56AE-5BF4-C6B03EBD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14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B2CE56-E8A4-680D-75BA-919E03AE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C3A1E2-44A7-09AE-C1D7-0C0051A3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9018D0-16DE-FFD0-94C6-956A5E4B3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95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A8B13B-E975-FFFC-5305-E3A85A173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D2AD68-3A39-5410-9AA8-E6FE531AE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D0E1FC-A49F-741F-B5AA-468877092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4F58F-52DD-D0F9-BA92-19CBA7204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6DFDCD-36E2-F725-228A-2A9CBB648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CA6EA2-8A31-70B2-444D-F1CA0496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344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A360C-EA08-CE3D-0B71-663940B6E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6F082A-4DBB-195D-DF05-62A5D02836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668DF3-3E4C-550B-6730-AE95A7BDC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8A5FE0-1352-F7E2-BF09-E24FDA1C1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4EEEDA-B879-94CF-DF23-DC8178D66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0CAD9C-F5CF-8856-C371-DD3A2DD5D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6482F-9E84-9B18-8264-6DCFBF2C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3E46DC-19A0-D645-7B26-AB346FADA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1AD726-F864-2CB2-AAB8-4B3C93EE1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179C1D-F809-031C-E296-DA1443807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D06B43-662D-BF84-0EC1-B01CAC0CA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332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8463BF-7871-4099-9A5A-55846AFC1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62C2F6-FA52-D4F6-B36D-BA5514D7B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178DA7-A772-C163-599A-28C41C5E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5E292C-B8C0-BFA1-16CF-DC9C0AF4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AA6528-B23B-E112-8A59-AB1BC9ED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520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974608-D8AF-449F-FC78-F7A54C284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574691-A936-3B2F-ECA4-89A0EB8F9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9E749C-A272-5624-7140-7074E229C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A7A2A-C4D1-4F21-A6CF-ADBDEFA8074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E5FB3-D40F-B909-0056-46A6E6E8A0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A8080E-7BAB-6293-DC04-FD48000D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31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C6BE6B-03F0-6F8D-39C7-C84D31330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D67C27-DDE2-0CB2-6C2F-33E324E38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GCN-</a:t>
            </a:r>
            <a:r>
              <a:rPr lang="en-US" altLang="zh-CN" dirty="0" err="1"/>
              <a:t>skip,T_STAR</a:t>
            </a:r>
            <a:r>
              <a:rPr lang="en-US" altLang="zh-CN" dirty="0"/>
              <a:t>=3: </a:t>
            </a:r>
            <a:r>
              <a:rPr lang="zh-CN" altLang="zh-CN" dirty="0"/>
              <a:t>mAP50=0.3222 mAP50-95=0.1500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Adv_flowpure</a:t>
            </a:r>
            <a:r>
              <a:rPr lang="en-US" altLang="zh-CN" dirty="0"/>
              <a:t>(2000</a:t>
            </a:r>
            <a:r>
              <a:rPr lang="zh-CN" altLang="en-US" dirty="0"/>
              <a:t>步，</a:t>
            </a:r>
            <a:r>
              <a:rPr lang="en-US" altLang="zh-CN" dirty="0"/>
              <a:t>7.4</a:t>
            </a:r>
            <a:r>
              <a:rPr lang="zh-CN" altLang="en-US" dirty="0"/>
              <a:t>轮训练）</a:t>
            </a:r>
            <a:r>
              <a:rPr lang="en-US" altLang="zh-CN" dirty="0"/>
              <a:t>: mAP50=0.3267  mAP50-95=0.1502</a:t>
            </a:r>
          </a:p>
          <a:p>
            <a:endParaRPr lang="en-US" altLang="zh-CN" dirty="0"/>
          </a:p>
          <a:p>
            <a:r>
              <a:rPr lang="en-US" altLang="zh-CN" dirty="0" err="1"/>
              <a:t>adv_flowpure</a:t>
            </a:r>
            <a:r>
              <a:rPr lang="en-US" altLang="zh-CN" dirty="0"/>
              <a:t>(1500</a:t>
            </a:r>
            <a:r>
              <a:rPr lang="zh-CN" altLang="en-US" dirty="0"/>
              <a:t>步，</a:t>
            </a:r>
            <a:r>
              <a:rPr lang="en-US" altLang="zh-CN" dirty="0"/>
              <a:t>5.3</a:t>
            </a:r>
            <a:r>
              <a:rPr lang="zh-CN" altLang="en-US" dirty="0"/>
              <a:t>轮训练）</a:t>
            </a:r>
            <a:r>
              <a:rPr lang="en-US" altLang="zh-CN" dirty="0"/>
              <a:t>: mAP50=0.3145  mAP50-95=0.1428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397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A7A433-9922-30F1-D659-B246A9904C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8AA64C-B642-23A2-5821-205FCBDE58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7ED433C-794C-6699-438D-E3BBFF5E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912561"/>
              </p:ext>
            </p:extLst>
          </p:nvPr>
        </p:nvGraphicFramePr>
        <p:xfrm>
          <a:off x="838200" y="1122363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5584368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771675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802582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56754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GCN设置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diffusion额外增益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9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直接重建/no diffusion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约57.9%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约53.5%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888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T*=3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52.8%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-0.0024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231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T*=10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56.5%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51.7%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-0.0074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43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T*=40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41.6%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35.3%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-0.0900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04025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D9235B0-AF8E-1358-3D37-7561EAEE4CB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441605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027921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339888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mAP50-95恢复率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323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GCN直接重建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约57.9%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约53.5%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3339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GCN，T*=3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52.8%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108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FlowPure-2000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58.3%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52.9%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635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36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7AE9A-C8D7-56E4-EA35-512640D73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;</a:t>
            </a:r>
            <a:endParaRPr lang="zh-CN" alt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0AE78AF-6A05-D372-3C2D-D7B5EE34C0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66854"/>
          <a:ext cx="1051560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2188611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899123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482275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92385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干净图mAP50损失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620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GCN直接重建/no diffusion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约57.9%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约53.5%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0.2255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137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GCN＋diffusion，T*=3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52.8%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0.2255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510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GCN＋diffusion，T*=10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56.5%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51.7%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0.2255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452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FlowPure-1500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56.1%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50.2%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0.0578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5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FlowPure-2000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58.3%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52.9%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0.0560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05408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3AE1B08-8777-7A50-A1C9-862F69E04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044570"/>
              </p:ext>
            </p:extLst>
          </p:nvPr>
        </p:nvGraphicFramePr>
        <p:xfrm>
          <a:off x="838200" y="753586"/>
          <a:ext cx="10515603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7144788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00186532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81851532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6105821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1907955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93064611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569690079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FlowPure训练量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约合训练轮次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mAP50-95恢复率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resize恢复率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Flow额外mAP50增益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clean损失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39723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1000步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3.7轮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48.0%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42.4%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28.0%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+0.1107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0.0569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8267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1500步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5.6轮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56.1%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50.2%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31.6%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+0.1354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0.0578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1752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2000步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7.4轮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58.3%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52.9%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31.8%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+0.1462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0.0560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208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21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03220-4C76-5122-1CEE-974247C3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当前</a:t>
            </a:r>
            <a:r>
              <a:rPr lang="en-US" altLang="zh-CN" dirty="0" err="1"/>
              <a:t>gcn</a:t>
            </a:r>
            <a:r>
              <a:rPr lang="zh-CN" altLang="en-US" dirty="0"/>
              <a:t>网络存在的问题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636A82-C5BE-35C5-E58F-5495B9A95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对小目标空间信息压缩过强</a:t>
            </a:r>
            <a:endParaRPr lang="en-US" altLang="zh-CN" dirty="0"/>
          </a:p>
          <a:p>
            <a:r>
              <a:rPr lang="en-US" altLang="zh-CN" dirty="0"/>
              <a:t>64*64</a:t>
            </a:r>
            <a:r>
              <a:rPr lang="zh-CN" altLang="en-US" dirty="0"/>
              <a:t>层与</a:t>
            </a:r>
            <a:r>
              <a:rPr lang="en-US" altLang="zh-CN" dirty="0"/>
              <a:t>32*32</a:t>
            </a:r>
            <a:r>
              <a:rPr lang="zh-CN" altLang="en-US" dirty="0"/>
              <a:t>层统一使用</a:t>
            </a:r>
            <a:r>
              <a:rPr lang="en-US" altLang="zh-CN" dirty="0"/>
              <a:t>8*8*8</a:t>
            </a:r>
            <a:r>
              <a:rPr lang="zh-CN" altLang="en-US" dirty="0"/>
              <a:t>量化配置，不够合理</a:t>
            </a:r>
            <a:endParaRPr lang="en-US" altLang="zh-CN" dirty="0"/>
          </a:p>
          <a:p>
            <a:r>
              <a:rPr lang="en-US" altLang="zh-CN" dirty="0"/>
              <a:t>Skip</a:t>
            </a:r>
            <a:r>
              <a:rPr lang="zh-CN" altLang="en-US" dirty="0"/>
              <a:t>码没有经过净化可能让对抗攻击绕过扩散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本次主要修改：</a:t>
            </a:r>
            <a:endParaRPr lang="en-US" altLang="zh-CN" dirty="0"/>
          </a:p>
          <a:p>
            <a:r>
              <a:rPr lang="zh-CN" altLang="zh-CN" dirty="0"/>
              <a:t>64×64 skip：16×16×2 = 512 bit</a:t>
            </a:r>
            <a:endParaRPr lang="en-US" altLang="zh-CN" dirty="0"/>
          </a:p>
          <a:p>
            <a:pPr lvl="0"/>
            <a:r>
              <a:rPr lang="zh-CN" altLang="zh-CN" dirty="0"/>
              <a:t>用可学习卷积下采样替代 AdaptiveAvgPool</a:t>
            </a:r>
          </a:p>
          <a:p>
            <a:pPr lvl="0"/>
            <a:r>
              <a:rPr lang="zh-CN" altLang="zh-CN" dirty="0"/>
              <a:t>用bilinear+3×3卷积替代nearest放大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8201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4057D-BD6B-01CB-EAF5-33845B805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净化率与原始</a:t>
            </a:r>
            <a:r>
              <a:rPr lang="en-US" altLang="zh-CN" dirty="0" err="1"/>
              <a:t>mAP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499080-392C-2E02-34C0-2646BC9B3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clean_reconstructed</a:t>
            </a:r>
            <a:r>
              <a:rPr lang="en-US" altLang="zh-CN" dirty="0"/>
              <a:t>  ≈ 0.5566 - 0.1962 = 0.3604</a:t>
            </a:r>
          </a:p>
          <a:p>
            <a:r>
              <a:rPr lang="en-US" altLang="zh-CN" dirty="0" err="1"/>
              <a:t>adv_reconstructed</a:t>
            </a:r>
            <a:r>
              <a:rPr lang="en-US" altLang="zh-CN" dirty="0"/>
              <a:t>    ≈ 0.0045 + 0.3532 = 0.3577</a:t>
            </a:r>
          </a:p>
          <a:p>
            <a:r>
              <a:rPr lang="en-US" altLang="zh-CN" dirty="0"/>
              <a:t>T=3 purified         ≈ 0.3577 - 0.0062 = 0.3515</a:t>
            </a:r>
          </a:p>
          <a:p>
            <a:r>
              <a:rPr lang="en-US" altLang="zh-CN" dirty="0"/>
              <a:t>T=5 purified         ≈ 0.3500</a:t>
            </a:r>
          </a:p>
          <a:p>
            <a:r>
              <a:rPr lang="en-US" altLang="zh-CN" dirty="0"/>
              <a:t>T=10 purified        ≈ 0.3467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B2C41D5-4698-FF3C-3ADB-0F6B89F73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597549"/>
              </p:ext>
            </p:extLst>
          </p:nvPr>
        </p:nvGraphicFramePr>
        <p:xfrm>
          <a:off x="838200" y="4603274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518266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1786808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65328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mAP50-95恢复率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572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旧GCN-Skip，T=3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52.8%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19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FlowPure，2000步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58.3%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52.9%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973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新GCN-Skip，T=3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62.9%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58.5%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120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352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B55C7-2307-4600-E8D2-A01DA0CF5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统一生成</a:t>
            </a:r>
            <a:r>
              <a:rPr lang="en-US" altLang="zh-CN" dirty="0"/>
              <a:t>PGD</a:t>
            </a:r>
            <a:r>
              <a:rPr lang="zh-CN" altLang="en-US" dirty="0"/>
              <a:t>对抗图像三次对比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4FDEEB-6CAA-05CA-44B6-FE3D30F2E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第一个种子：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0"/>
            <a:r>
              <a:rPr lang="zh-CN" altLang="zh-CN" dirty="0"/>
              <a:t>GCN：更强烈地压缩和重建，干净图损失较大，但PGD去除能力强。</a:t>
            </a:r>
          </a:p>
          <a:p>
            <a:pPr lvl="0"/>
            <a:r>
              <a:rPr lang="zh-CN" altLang="zh-CN" dirty="0"/>
              <a:t>FlowPure：更接近恒等映射，干净图保持更好，但也更容易残留攻击信号</a:t>
            </a:r>
          </a:p>
          <a:p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36548CD-0623-FB45-E35B-2353700E3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167509"/>
              </p:ext>
            </p:extLst>
          </p:nvPr>
        </p:nvGraphicFramePr>
        <p:xfrm>
          <a:off x="838200" y="2262846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6943622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9530188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74909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mAP50-95恢复率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1921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 direct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60.5%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188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 + diffusion，T*=3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59.4%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459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FlowPure-2000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39.9%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35.6%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036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048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CAE79-8E6C-313B-E575-A1546917B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D9981D77-EF4A-3CBD-1521-5FDDFCBB5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8042718"/>
              </p:ext>
            </p:extLst>
          </p:nvPr>
        </p:nvGraphicFramePr>
        <p:xfrm>
          <a:off x="838200" y="1690688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588625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171845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61831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12731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PGD seed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 direct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 T*=3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FlowPure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75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20260822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39.9%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2261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20260823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63.8%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40.5%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386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20260824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40.2%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45179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41A0BAF-6D7A-EE8B-88F0-834B7A63082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61724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599622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88470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最低mAP50恢复率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最低mAP50-95恢复率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7328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 direct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64.6%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60.2%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1266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 T*=3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63.8%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59.1%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1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FlowPure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39.9%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35.3%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036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337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1287</Words>
  <Application>Microsoft Office PowerPoint</Application>
  <PresentationFormat>宽屏</PresentationFormat>
  <Paragraphs>164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;</vt:lpstr>
      <vt:lpstr>当前gcn网络存在的问题</vt:lpstr>
      <vt:lpstr>净化率与原始mAP</vt:lpstr>
      <vt:lpstr>统一生成PGD对抗图像三次对比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3</cp:revision>
  <dcterms:created xsi:type="dcterms:W3CDTF">2026-08-31T03:20:18Z</dcterms:created>
  <dcterms:modified xsi:type="dcterms:W3CDTF">2026-09-20T13:27:53Z</dcterms:modified>
</cp:coreProperties>
</file>