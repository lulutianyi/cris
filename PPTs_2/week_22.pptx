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4" r:id="rId8"/>
    <p:sldId id="263" r:id="rId9"/>
    <p:sldId id="260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4CB6D6-71DC-9EAD-ED95-74259ECB5E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1E2501-47DB-6C71-FD8E-606987560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9EA23-C001-9E5E-AD8B-FB0AD6A8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E9590-EA18-3FFE-C810-9B58FCF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06E185-1112-9410-7554-5F8BDDA8B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832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71D3C2-D80D-4DA1-3C1E-D66ED8C4A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30F21-B9B0-0334-4CBD-631B25074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70B2BB-E9BB-A4B7-AA76-85EF14ED8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B1329A-B480-8C36-04C4-78F806B44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7149B9-8CF5-5D87-D551-C91371C9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94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1E671-E65A-A6B4-4D20-80B90807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FA4D1A-359A-5C44-6808-C0F8E3F32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86E616-C951-1D74-B99D-FF5E64AE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DFB22-EC53-3075-8C4B-5295BEB4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44194-5793-676A-F691-AA286346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416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25602-17FE-A810-F785-6878D59F2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D3D427-A4BE-9A2B-DF7A-690A357A9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C92CE8-9E93-F0AF-6994-4551D234F7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D765D3-EAFA-B2AD-6AC1-622B43B78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FC5A8D-BBC6-1878-67C6-49BC41F0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C12A2A-E9AF-5D81-A567-8F072485B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05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DAFF40-46CC-216A-BD79-AA197D9B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75D982-6621-9075-9B1B-3688779E9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487DA9B-FB59-2004-0D31-C41A86C96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C5651B-C153-F2E9-0BD9-F0863A2C8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0A1BEB5-C7EF-6D18-EF06-27A8C50FE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B4517C-9E63-BDB0-98E7-19A6889E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EE260A-7BDE-A0C9-B894-E919CB9A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B2AFC3-1DB2-2F7B-25A8-2CBC0925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73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B54B6-8BA8-292D-E140-E88D63E3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C7DBFC-9B8B-6D34-D513-2077179E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8CA883-543E-F405-F96A-9A4E6859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39FD9-2E6A-56DA-000D-7E11EBFC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17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016597F-5D8E-A5F4-5104-005E288B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6A722C-51C2-D3E8-D574-A35DDD1B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015453-173B-8636-FE05-233D7049E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2DA00-662F-EB61-9D24-DBA371388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AA178-392C-8006-2547-E6045AFA6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9B3AF7-7175-B961-57CF-A40F305AD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DFE967-5C9A-3C5D-293E-A3B548C9C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B00B9A-3CC3-EEB0-4FC4-CB297581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5D8A7A-F2F8-C89A-692B-E9E20F83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78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19D0F-E935-8603-9987-6EB080C2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CC839D-F2BE-7769-E88F-56DE2C092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77C965-2A1C-DC1B-DF37-F7416625E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BCAE38-4878-390A-47B1-367ED6A41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43710B-32C2-5240-39A3-16B9B208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6C0875-0318-3EAB-67EA-642164DC2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708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7379D-91D8-61E1-DFD7-516892CA4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AB86ED-0D11-0A5B-84C6-07C80BBAC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5FE1C-95EE-0113-23F3-7BBBC2BAA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F2BFC-38AF-EB44-82BD-1B0FA1680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8B3C1-D0EA-F1B4-10CB-7BAA957D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390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15BB23-2867-FF39-CFEC-B13AB123E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84B5A6-7315-636C-92CC-C3B2F7826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7AE93-332B-F876-72E1-80980E74A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9DC45A-EAE2-5B3A-2E6F-25D7BD4B3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FFAD5D-5725-9903-AAA7-97EDBA1A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15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AB7114-CABE-B8A6-0E19-4906CC9D3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D6BDF4-2860-990E-A49D-6303A34B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01E51-FE60-989B-F293-73654CCCA4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4BC62-38C2-4360-AF47-E9A012EE4984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B1A863-84BD-E34C-7FCC-50EAFA03E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964935-4CE5-2653-7EC3-943CF7C0C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0CEC1-8B61-482C-B4CB-9E1F5242AB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25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8B4F5D8-3A29-CE60-D15D-A770B64AF9C8}"/>
              </a:ext>
            </a:extLst>
          </p:cNvPr>
          <p:cNvSpPr txBox="1"/>
          <p:nvPr/>
        </p:nvSpPr>
        <p:spPr>
          <a:xfrm>
            <a:off x="1458686" y="778329"/>
            <a:ext cx="8120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目前的五处消融评估：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BC3DC30-05C1-80BB-0696-3BA4E06FA9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048953"/>
              </p:ext>
            </p:extLst>
          </p:nvPr>
        </p:nvGraphicFramePr>
        <p:xfrm>
          <a:off x="1491343" y="1516735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53381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89996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分支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含义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6367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original_clean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原始干净图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422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adv_original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PGD攻击图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692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clean_reconstructed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干净图直接经过GCN AE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96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adv_reconstructed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攻击图经过GCN AE，不使用diffusion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358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adv_diffusion_purified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攻击图经过diffusion和GCN解码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810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45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70C05-5DC2-35A4-524D-A5053DD33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最初</a:t>
            </a:r>
            <a:r>
              <a:rPr lang="en-US" altLang="zh-CN" dirty="0"/>
              <a:t>GCN</a:t>
            </a:r>
            <a:r>
              <a:rPr lang="zh-CN" altLang="en-US" dirty="0"/>
              <a:t>权重下：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70C7FDF-AA9A-0146-2581-A9A64B108A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167336"/>
              </p:ext>
            </p:extLst>
          </p:nvPr>
        </p:nvGraphicFramePr>
        <p:xfrm>
          <a:off x="838200" y="1532414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6894408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911325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612504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249083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设置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diffusion额外增益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935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realistic，初始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11.6%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9839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oracle，初始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12.0%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4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T=10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19.7%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16.1%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40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T=5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20.8%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16.7%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-0.0033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9233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T=3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20.7%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16.8%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-0.0016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120213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DE156E4-7C9F-8BD1-DBE4-009484114362}"/>
              </a:ext>
            </a:extLst>
          </p:cNvPr>
          <p:cNvSpPr txBox="1"/>
          <p:nvPr/>
        </p:nvSpPr>
        <p:spPr>
          <a:xfrm>
            <a:off x="838199" y="3794062"/>
            <a:ext cx="794657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clean reconstruction mAP50损失 = 0.3777</a:t>
            </a:r>
            <a:endParaRPr lang="en-US" altLang="zh-CN" dirty="0"/>
          </a:p>
          <a:p>
            <a:r>
              <a:rPr lang="zh-CN" altLang="en-US" dirty="0"/>
              <a:t>原始</a:t>
            </a:r>
            <a:r>
              <a:rPr lang="en-US" altLang="zh-CN" dirty="0"/>
              <a:t>clean map</a:t>
            </a:r>
            <a:r>
              <a:rPr lang="zh-CN" altLang="en-US" dirty="0"/>
              <a:t>越等于</a:t>
            </a:r>
            <a:r>
              <a:rPr lang="en-US" altLang="zh-CN" dirty="0"/>
              <a:t>0.556</a:t>
            </a:r>
          </a:p>
          <a:p>
            <a:endParaRPr lang="en-US" altLang="zh-CN" dirty="0"/>
          </a:p>
          <a:p>
            <a:r>
              <a:rPr lang="zh-CN" altLang="zh-CN" dirty="0"/>
              <a:t>这证明最初的主要瓶颈是clean reconstruction上限，而不是GCN没有接入。</a:t>
            </a:r>
          </a:p>
          <a:p>
            <a:r>
              <a:rPr lang="zh-CN" altLang="zh-CN" dirty="0"/>
              <a:t>oracle与realistic几乎相同，也说明被攻击的skip特征不是当时的主要瓶颈。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5882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CC2B2-4CC1-7735-AB6E-09AA240E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任务感知微调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89D64A-6BDE-B254-D03F-4A66FCA8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从五路消融实验的数据对比中，我们得到当前最大的瓶颈在于</a:t>
            </a:r>
            <a:r>
              <a:rPr lang="en-US" altLang="zh-CN" dirty="0"/>
              <a:t>GCN AE</a:t>
            </a:r>
            <a:r>
              <a:rPr lang="zh-CN" altLang="en-US" dirty="0"/>
              <a:t>重建的图像在像素回复方面表现得较好，</a:t>
            </a:r>
            <a:r>
              <a:rPr lang="zh-CN" altLang="zh-CN" dirty="0"/>
              <a:t>但大量破坏了 YOLO 检测所需的火焰、烟雾边界与局部特征。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我们将总损失改为</a:t>
            </a:r>
            <a:r>
              <a:rPr lang="zh-CN" altLang="zh-CN" dirty="0"/>
              <a:t>0.7 × L1+ 0.3 × MSE+ 检测损失权重 × YOLO检测损失</a:t>
            </a:r>
            <a:r>
              <a:rPr lang="zh-CN" altLang="en-US" dirty="0"/>
              <a:t>，保证视觉重建质量和检测相关特征被保存。冻结了</a:t>
            </a:r>
            <a:r>
              <a:rPr lang="en-US" altLang="zh-CN" dirty="0"/>
              <a:t>YOLO</a:t>
            </a:r>
            <a:r>
              <a:rPr lang="zh-CN" altLang="en-US" dirty="0"/>
              <a:t>和</a:t>
            </a:r>
            <a:r>
              <a:rPr lang="en-US" altLang="zh-CN" dirty="0"/>
              <a:t>encoder</a:t>
            </a:r>
            <a:r>
              <a:rPr lang="zh-CN" altLang="en-US" dirty="0"/>
              <a:t>，主要更新</a:t>
            </a:r>
            <a:r>
              <a:rPr lang="en-US" altLang="zh-CN" dirty="0"/>
              <a:t>base decoder</a:t>
            </a:r>
            <a:r>
              <a:rPr lang="zh-CN" altLang="en-US" dirty="0"/>
              <a:t>、</a:t>
            </a:r>
            <a:r>
              <a:rPr lang="en-US" altLang="zh-CN" dirty="0"/>
              <a:t>GCN blocks</a:t>
            </a:r>
            <a:r>
              <a:rPr lang="zh-CN" altLang="en-US" dirty="0"/>
              <a:t>和</a:t>
            </a:r>
            <a:r>
              <a:rPr lang="en-US" altLang="zh-CN" dirty="0"/>
              <a:t>skip quantizer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6308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5116D-E09F-0AA5-E06E-EF40E388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任务感知训练后的结果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13F27-24D0-09C3-5FDB-9C69AEF68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mAP50</a:t>
            </a:r>
            <a:r>
              <a:rPr lang="zh-CN" altLang="en-US" sz="2000" dirty="0"/>
              <a:t>恢复率 </a:t>
            </a:r>
            <a:r>
              <a:rPr lang="en-US" altLang="zh-CN" sz="2000" dirty="0"/>
              <a:t>= 41.6%</a:t>
            </a:r>
          </a:p>
          <a:p>
            <a:r>
              <a:rPr lang="en-US" altLang="zh-CN" sz="2000" dirty="0"/>
              <a:t>mAP50-95</a:t>
            </a:r>
            <a:r>
              <a:rPr lang="zh-CN" altLang="en-US" sz="2000" dirty="0"/>
              <a:t>恢复率 </a:t>
            </a:r>
            <a:r>
              <a:rPr lang="en-US" altLang="zh-CN" sz="2000" dirty="0"/>
              <a:t>= 35.3%</a:t>
            </a:r>
          </a:p>
          <a:p>
            <a:r>
              <a:rPr lang="en-US" altLang="zh-CN" sz="2000" dirty="0"/>
              <a:t>clean</a:t>
            </a:r>
            <a:r>
              <a:rPr lang="zh-CN" altLang="en-US" sz="2000" dirty="0"/>
              <a:t>重建损失 </a:t>
            </a:r>
            <a:r>
              <a:rPr lang="en-US" altLang="zh-CN" sz="2000" dirty="0"/>
              <a:t>= 0.2255</a:t>
            </a:r>
          </a:p>
          <a:p>
            <a:r>
              <a:rPr lang="zh-CN" altLang="en-US" sz="2000" dirty="0"/>
              <a:t>直接重建增益 </a:t>
            </a:r>
            <a:r>
              <a:rPr lang="en-US" altLang="zh-CN" sz="2000" dirty="0"/>
              <a:t>= +0.3195</a:t>
            </a:r>
          </a:p>
          <a:p>
            <a:r>
              <a:rPr lang="en-US" altLang="zh-CN" sz="2000" dirty="0"/>
              <a:t>diffusion</a:t>
            </a:r>
            <a:r>
              <a:rPr lang="zh-CN" altLang="en-US" sz="2000" dirty="0"/>
              <a:t>额外增益 </a:t>
            </a:r>
            <a:r>
              <a:rPr lang="en-US" altLang="zh-CN" sz="2000" dirty="0"/>
              <a:t>= -0.0900</a:t>
            </a:r>
            <a:r>
              <a:rPr lang="zh-CN" altLang="en-US" sz="2000" dirty="0"/>
              <a:t>（</a:t>
            </a:r>
            <a:r>
              <a:rPr lang="en-US" altLang="zh-CN" sz="2000" dirty="0"/>
              <a:t>T=40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mAP50</a:t>
            </a:r>
            <a:r>
              <a:rPr lang="zh-CN" altLang="en-US" sz="2000" dirty="0"/>
              <a:t>恢复率 </a:t>
            </a:r>
            <a:r>
              <a:rPr lang="en-US" altLang="zh-CN" sz="2000" dirty="0"/>
              <a:t>= 56.5%</a:t>
            </a:r>
          </a:p>
          <a:p>
            <a:r>
              <a:rPr lang="en-US" altLang="zh-CN" sz="2000" dirty="0"/>
              <a:t>mAP50-95</a:t>
            </a:r>
            <a:r>
              <a:rPr lang="zh-CN" altLang="en-US" sz="2000" dirty="0"/>
              <a:t>恢复率 </a:t>
            </a:r>
            <a:r>
              <a:rPr lang="en-US" altLang="zh-CN" sz="2000" dirty="0"/>
              <a:t>= 51.7%</a:t>
            </a:r>
          </a:p>
          <a:p>
            <a:r>
              <a:rPr lang="en-US" altLang="zh-CN" sz="2000" dirty="0"/>
              <a:t>clean</a:t>
            </a:r>
            <a:r>
              <a:rPr lang="zh-CN" altLang="en-US" sz="2000" dirty="0"/>
              <a:t>重建损失 </a:t>
            </a:r>
            <a:r>
              <a:rPr lang="en-US" altLang="zh-CN" sz="2000" dirty="0"/>
              <a:t>= 0.2255</a:t>
            </a:r>
          </a:p>
          <a:p>
            <a:r>
              <a:rPr lang="zh-CN" altLang="en-US" sz="2000" dirty="0"/>
              <a:t>直接重建增益 </a:t>
            </a:r>
            <a:r>
              <a:rPr lang="en-US" altLang="zh-CN" sz="2000" dirty="0"/>
              <a:t>= +0.3195</a:t>
            </a:r>
          </a:p>
          <a:p>
            <a:r>
              <a:rPr lang="en-US" altLang="zh-CN" sz="2000" dirty="0"/>
              <a:t>diffusion</a:t>
            </a:r>
            <a:r>
              <a:rPr lang="zh-CN" altLang="en-US" sz="2000" dirty="0"/>
              <a:t>额外增益 </a:t>
            </a:r>
            <a:r>
              <a:rPr lang="en-US" altLang="zh-CN" sz="2000" dirty="0"/>
              <a:t>= -0.0074</a:t>
            </a:r>
            <a:r>
              <a:rPr lang="zh-CN" altLang="en-US" sz="2000" dirty="0"/>
              <a:t>（</a:t>
            </a:r>
            <a:r>
              <a:rPr lang="en-US" altLang="zh-CN" sz="2000" dirty="0"/>
              <a:t>T=10</a:t>
            </a:r>
            <a:r>
              <a:rPr lang="zh-CN" altLang="en-US" sz="20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95751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1FF77-ED46-8F1D-07C7-B1EBAD15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感知微调前，</a:t>
            </a:r>
            <a:r>
              <a:rPr lang="en-US" altLang="zh-CN" dirty="0"/>
              <a:t>T=10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BAB88-C420-D499-DEB4-AA32B6B6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 err="1"/>
              <a:t>original_clean</a:t>
            </a:r>
            <a:endParaRPr lang="en-US" altLang="zh-CN" dirty="0"/>
          </a:p>
          <a:p>
            <a:r>
              <a:rPr lang="en-US" altLang="zh-CN" dirty="0"/>
              <a:t>mAP50=0.5566</a:t>
            </a:r>
          </a:p>
          <a:p>
            <a:r>
              <a:rPr lang="en-US" altLang="zh-CN" dirty="0"/>
              <a:t>mAP50-95=0.2831</a:t>
            </a:r>
          </a:p>
          <a:p>
            <a:endParaRPr lang="en-US" altLang="zh-CN" dirty="0"/>
          </a:p>
          <a:p>
            <a:r>
              <a:rPr lang="en-US" altLang="zh-CN" dirty="0" err="1"/>
              <a:t>adv_original</a:t>
            </a:r>
            <a:r>
              <a:rPr lang="en-US" altLang="zh-CN" dirty="0"/>
              <a:t>  mAP50≈0.0754</a:t>
            </a:r>
          </a:p>
          <a:p>
            <a:pPr marL="0" indent="0">
              <a:buNone/>
            </a:pPr>
            <a:endParaRPr lang="zh-CN" altLang="en-US" dirty="0"/>
          </a:p>
          <a:p>
            <a:r>
              <a:rPr lang="en-US" altLang="zh-CN" dirty="0" err="1"/>
              <a:t>clean_reconstructed</a:t>
            </a:r>
            <a:r>
              <a:rPr lang="en-US" altLang="zh-CN" dirty="0"/>
              <a:t>  mAP50≈0.1789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adv_reconstructed</a:t>
            </a:r>
            <a:r>
              <a:rPr lang="en-US" altLang="zh-CN" dirty="0"/>
              <a:t>  mAP50≈0.1772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adv_diffusion_purified</a:t>
            </a:r>
            <a:r>
              <a:rPr lang="en-US" altLang="zh-CN" dirty="0"/>
              <a:t>  mAP50≈0.1702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5585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20097-F95B-145D-71F7-0CF954552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感知微调前，</a:t>
            </a:r>
            <a:r>
              <a:rPr lang="en-US" altLang="zh-CN" dirty="0"/>
              <a:t>T=5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6ED2F2-AEF2-BFE3-043D-FC32B426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 err="1"/>
              <a:t>original_clean</a:t>
            </a:r>
            <a:r>
              <a:rPr lang="en-US" altLang="zh-CN" dirty="0"/>
              <a:t>  mAP50=0.5566</a:t>
            </a:r>
          </a:p>
          <a:p>
            <a:endParaRPr lang="en-US" altLang="zh-CN" dirty="0"/>
          </a:p>
          <a:p>
            <a:r>
              <a:rPr lang="en-US" altLang="zh-CN" dirty="0" err="1"/>
              <a:t>adv_original</a:t>
            </a:r>
            <a:r>
              <a:rPr lang="en-US" altLang="zh-CN" dirty="0"/>
              <a:t>  mAP50≈0.0744</a:t>
            </a:r>
          </a:p>
          <a:p>
            <a:endParaRPr lang="en-US" altLang="zh-CN" dirty="0"/>
          </a:p>
          <a:p>
            <a:r>
              <a:rPr lang="en-US" altLang="zh-CN" dirty="0" err="1"/>
              <a:t>clean_reconstructed</a:t>
            </a:r>
            <a:r>
              <a:rPr lang="en-US" altLang="zh-CN" dirty="0"/>
              <a:t>  mAP50≈0.1789</a:t>
            </a:r>
          </a:p>
          <a:p>
            <a:endParaRPr lang="en-US" altLang="zh-CN" dirty="0"/>
          </a:p>
          <a:p>
            <a:r>
              <a:rPr lang="en-US" altLang="zh-CN" dirty="0" err="1"/>
              <a:t>adv_reconstructed</a:t>
            </a:r>
            <a:r>
              <a:rPr lang="en-US" altLang="zh-CN" dirty="0"/>
              <a:t>  mAP50≈0.1780</a:t>
            </a:r>
          </a:p>
          <a:p>
            <a:endParaRPr lang="en-US" altLang="zh-CN" dirty="0"/>
          </a:p>
          <a:p>
            <a:r>
              <a:rPr lang="en-US" altLang="zh-CN" dirty="0" err="1"/>
              <a:t>adv_diffusion_purified</a:t>
            </a:r>
            <a:r>
              <a:rPr lang="en-US" altLang="zh-CN" dirty="0"/>
              <a:t>  mAP50≈0.1747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9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6A230-25EC-F0E3-DD95-D28ECE68F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微调前，</a:t>
            </a:r>
            <a:r>
              <a:rPr lang="en-US" altLang="zh-CN" dirty="0"/>
              <a:t>T=3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50FEF2-3EC8-BDE8-71FA-0E5B9DE8B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 err="1"/>
              <a:t>original_clean</a:t>
            </a:r>
            <a:endParaRPr lang="en-US" altLang="zh-CN" dirty="0"/>
          </a:p>
          <a:p>
            <a:r>
              <a:rPr lang="en-US" altLang="zh-CN" dirty="0"/>
              <a:t>mAP50=0.5566</a:t>
            </a:r>
          </a:p>
          <a:p>
            <a:endParaRPr lang="en-US" altLang="zh-CN" dirty="0"/>
          </a:p>
          <a:p>
            <a:r>
              <a:rPr lang="en-US" altLang="zh-CN" dirty="0" err="1"/>
              <a:t>adv_original</a:t>
            </a:r>
            <a:endParaRPr lang="en-US" altLang="zh-CN" dirty="0"/>
          </a:p>
          <a:p>
            <a:r>
              <a:rPr lang="en-US" altLang="zh-CN" dirty="0"/>
              <a:t>mAP50≈0.0759</a:t>
            </a:r>
          </a:p>
          <a:p>
            <a:endParaRPr lang="en-US" altLang="zh-CN" dirty="0"/>
          </a:p>
          <a:p>
            <a:r>
              <a:rPr lang="en-US" altLang="zh-CN" dirty="0" err="1"/>
              <a:t>clean_reconstructed</a:t>
            </a:r>
            <a:endParaRPr lang="en-US" altLang="zh-CN" dirty="0"/>
          </a:p>
          <a:p>
            <a:r>
              <a:rPr lang="en-US" altLang="zh-CN" dirty="0"/>
              <a:t>mAP50≈0.1789</a:t>
            </a:r>
          </a:p>
          <a:p>
            <a:endParaRPr lang="en-US" altLang="zh-CN" dirty="0"/>
          </a:p>
          <a:p>
            <a:r>
              <a:rPr lang="en-US" altLang="zh-CN" dirty="0" err="1"/>
              <a:t>adv_reconstructed</a:t>
            </a:r>
            <a:endParaRPr lang="en-US" altLang="zh-CN" dirty="0"/>
          </a:p>
          <a:p>
            <a:r>
              <a:rPr lang="en-US" altLang="zh-CN" dirty="0"/>
              <a:t>mAP50≈0.1770</a:t>
            </a:r>
          </a:p>
          <a:p>
            <a:endParaRPr lang="en-US" altLang="zh-CN" dirty="0"/>
          </a:p>
          <a:p>
            <a:r>
              <a:rPr lang="en-US" altLang="zh-CN" dirty="0" err="1"/>
              <a:t>adv_diffusion_purified</a:t>
            </a:r>
            <a:endParaRPr lang="en-US" altLang="zh-CN" dirty="0"/>
          </a:p>
          <a:p>
            <a:r>
              <a:rPr lang="en-US" altLang="zh-CN" dirty="0"/>
              <a:t>mAP50≈0.1754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471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38783-FCAA-29C1-EEF6-6F6D75EDB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微调后，</a:t>
            </a:r>
            <a:r>
              <a:rPr lang="en-US" altLang="zh-CN" dirty="0"/>
              <a:t>T=40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EC8756-5845-69A0-7D62-8B5B7E9D5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CN" dirty="0" err="1"/>
              <a:t>original_clean</a:t>
            </a:r>
            <a:r>
              <a:rPr lang="en-US" altLang="zh-CN" dirty="0"/>
              <a:t>   mAP50=0.5566</a:t>
            </a:r>
          </a:p>
          <a:p>
            <a:r>
              <a:rPr lang="en-US" altLang="zh-CN" dirty="0"/>
              <a:t>mAP50-95=0.2831</a:t>
            </a:r>
          </a:p>
          <a:p>
            <a:endParaRPr lang="en-US" altLang="zh-CN" dirty="0"/>
          </a:p>
          <a:p>
            <a:r>
              <a:rPr lang="en-US" altLang="zh-CN" dirty="0" err="1"/>
              <a:t>adv_original</a:t>
            </a:r>
            <a:r>
              <a:rPr lang="en-US" altLang="zh-CN" dirty="0"/>
              <a:t>  mAP50=0.0045</a:t>
            </a:r>
          </a:p>
          <a:p>
            <a:r>
              <a:rPr lang="en-US" altLang="zh-CN" dirty="0"/>
              <a:t>mAP50-95=0.0010</a:t>
            </a:r>
          </a:p>
          <a:p>
            <a:endParaRPr lang="en-US" altLang="zh-CN" dirty="0"/>
          </a:p>
          <a:p>
            <a:r>
              <a:rPr lang="en-US" altLang="zh-CN" dirty="0" err="1"/>
              <a:t>clean_reconstructed</a:t>
            </a:r>
            <a:r>
              <a:rPr lang="en-US" altLang="zh-CN" dirty="0"/>
              <a:t>  mAP50=0.3312</a:t>
            </a:r>
          </a:p>
          <a:p>
            <a:r>
              <a:rPr lang="en-US" altLang="zh-CN" dirty="0"/>
              <a:t>mAP50-95=0.1553</a:t>
            </a:r>
          </a:p>
          <a:p>
            <a:endParaRPr lang="en-US" altLang="zh-CN" dirty="0"/>
          </a:p>
          <a:p>
            <a:r>
              <a:rPr lang="en-US" altLang="zh-CN" dirty="0" err="1"/>
              <a:t>adv_reconstructed</a:t>
            </a:r>
            <a:r>
              <a:rPr lang="en-US" altLang="zh-CN" dirty="0"/>
              <a:t>  mAP50=0.3240</a:t>
            </a:r>
          </a:p>
          <a:p>
            <a:r>
              <a:rPr lang="en-US" altLang="zh-CN" dirty="0"/>
              <a:t>mAP50-95=0.1520</a:t>
            </a:r>
          </a:p>
          <a:p>
            <a:endParaRPr lang="en-US" altLang="zh-CN" dirty="0"/>
          </a:p>
          <a:p>
            <a:r>
              <a:rPr lang="en-US" altLang="zh-CN" dirty="0" err="1"/>
              <a:t>adv_diffusion_purified</a:t>
            </a:r>
            <a:r>
              <a:rPr lang="en-US" altLang="zh-CN" dirty="0"/>
              <a:t>  mAP50≈0.2340</a:t>
            </a:r>
          </a:p>
          <a:p>
            <a:r>
              <a:rPr lang="en-US" altLang="zh-CN" dirty="0"/>
              <a:t>mAP50-95≈0.1006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065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33C3A-4EE9-CB19-2A44-003D0991E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感知微调后，</a:t>
            </a:r>
            <a:r>
              <a:rPr lang="en-US" altLang="zh-CN" dirty="0"/>
              <a:t>T_STAR=10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1474F-5FAD-83CD-161E-58D95DDD2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dirty="0"/>
              <a:t>original_clean mAP50=0.5566 mAP50-95=0.2831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adv_original mAP50=0.0045 mAP50-95=0.0010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clean_reconstructed mAP50=0.3312 mAP50-95=0.1553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adv_reconstructed mAP50=0.3240 mAP50-95=0.1520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adv_diffusion_purified mAP50=0.3166 mAP50-95=0.146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09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1068</Words>
  <Application>Microsoft Office PowerPoint</Application>
  <PresentationFormat>宽屏</PresentationFormat>
  <Paragraphs>120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Courier New</vt:lpstr>
      <vt:lpstr>Office 主题​​</vt:lpstr>
      <vt:lpstr>PowerPoint 演示文稿</vt:lpstr>
      <vt:lpstr>最初GCN权重下：</vt:lpstr>
      <vt:lpstr>任务感知微调</vt:lpstr>
      <vt:lpstr>任务感知训练后的结果</vt:lpstr>
      <vt:lpstr>感知微调前，T=10</vt:lpstr>
      <vt:lpstr>感知微调前，T=5</vt:lpstr>
      <vt:lpstr>微调前，T=3</vt:lpstr>
      <vt:lpstr>微调后，T=40</vt:lpstr>
      <vt:lpstr>感知微调后，T_STAR=10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2</cp:revision>
  <dcterms:created xsi:type="dcterms:W3CDTF">2026-08-23T11:58:58Z</dcterms:created>
  <dcterms:modified xsi:type="dcterms:W3CDTF">2026-08-24T12:27:24Z</dcterms:modified>
</cp:coreProperties>
</file>