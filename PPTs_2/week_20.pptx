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3CBDA-26E0-B525-2E80-3609B4F38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25D76F-45F2-83DD-7CD1-CBAD4238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F9E4DE-E67F-B87E-332B-B448AA93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18A0F-83E8-CD7F-28E0-8BBA721B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B3EAED-7D9E-9BE8-F521-F4FECFD7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74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B4177-14DF-177C-FFBF-ACDBF8C1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050150-7E4E-ABA7-D224-C49E638D7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657B4F-54B7-E7DB-B347-9E4E4677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FC9366-CE3F-4C9F-AB6B-468BD5A3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3A1067-E65C-3D07-E39B-3E1E6C3C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58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DE433-1C5D-0B41-B57E-7B32AF80D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580605-7551-6FDE-F8F6-976293377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B6DAD5-2F34-5CA9-52BE-E434BC7F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A850D9-E1B3-9602-A777-E8CCF725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6ECEE-1C46-D9E7-EB78-EE2116AB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69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87345-27E6-5D18-E4BC-5F6A5566A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0AC04F-2B39-E957-D23F-4F885847E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FB96E7-3005-01A9-A179-550288323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981437-873C-C427-F00B-BE306EFD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24D93A-5484-96AF-C283-3C028B53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72FF42-C2CF-A25D-5F49-E45BFDBC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93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F6D30-F342-6910-032F-5E4E9E8B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384D06-714B-1664-A4DF-56F3D7664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396CD2-80EC-9261-597A-33CA8411B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927BDA-FA68-8845-BD0B-26F10109D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CE8F5C-69FF-04C1-1CDB-F85C0E13F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35CDBB-C2EF-8B95-75EF-B79C928C1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4DBA5C-CBAD-FB6A-A329-551C04028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5FDB5A-3D6B-AC74-B379-CF5EAF23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44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BBDEB-298E-809A-E8A7-5DD30738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EF88B2-87A0-075B-5C09-9952AE26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792638-ACD2-5590-2C48-B5046535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B08AE1-7736-08B0-D977-2C049DC8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0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129C9C-D601-46E5-090F-B1B5215C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C283B2-B443-4E79-4E03-6D4B7BFE4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92C541-34D3-671E-7AFB-B3BAD3F4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66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00CE2-79B4-981D-52C6-9EBF1DE21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CAD0B-7BAD-AB85-D580-8EA64CE8D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80B1DB-2E9C-59EA-762E-7F15325F5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90FC82-4340-44F3-4928-F3356487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33A40D-ABAE-FD29-A417-56104793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870599-9FEE-121A-2936-DA047414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55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7D4C0-286C-D324-244C-B85FB2F4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DBF51C-BBAC-6B88-8057-76588AE30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71B5DC-0E2F-31AF-DB82-B3FD65D1A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D3100A-2A0D-D1BE-EF9C-C3BE2BD0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BB0B1A-9272-FED1-5E4C-FACE36D7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39B112-4350-F7FB-0A9B-90855B52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127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52B83-98BD-8A74-C049-2FF1C49F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74FB62-02BB-12DD-5825-E85EBA054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A7D8B-DD40-7AFF-179E-9C575EFB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5479A5-6F64-838C-800D-D1578D04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CA5671-8EFC-A3A3-D923-0A402BB0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49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FDD601-2EC7-26B9-DBE3-1A05F968A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B6CEDB-E70E-A5EA-7F79-779A34316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F582C-1F05-027D-716C-587B638F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E77693-217E-6E71-4F4E-30B7657A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DF146-60AF-40EE-C731-F1AC8D7E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2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42EBEF-78AA-7DB1-F924-32DA4B86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A60B1B-3B38-AA7D-DC2D-A3B9AA673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664A70-9684-17F7-3B64-2D8FCF579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02E18-E8CC-47F6-BFE0-7315B3BDBF30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B6DB69-F1C3-7A9F-79D7-503B2DBB6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5F71C-0D69-37DF-7E4A-A0E672B3E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19F86-4C1F-4A52-9885-6031B8259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32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A918E-C24E-A343-D224-8722FB4DD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16D9A4-18B8-B5D8-56FA-A07CF5C6B1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58C34C-2385-E4DA-46D3-FAA73419AD49}"/>
              </a:ext>
            </a:extLst>
          </p:cNvPr>
          <p:cNvSpPr txBox="1"/>
          <p:nvPr/>
        </p:nvSpPr>
        <p:spPr>
          <a:xfrm>
            <a:off x="1206347" y="721605"/>
            <a:ext cx="64173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当前的</a:t>
            </a:r>
            <a:r>
              <a:rPr lang="en-US" altLang="zh-CN" dirty="0"/>
              <a:t>pipeline</a:t>
            </a:r>
            <a:r>
              <a:rPr lang="zh-CN" altLang="en-US" dirty="0"/>
              <a:t>设定为邻接矩阵必须来自</a:t>
            </a:r>
            <a:r>
              <a:rPr lang="en-US" altLang="zh-CN" dirty="0"/>
              <a:t>encoder</a:t>
            </a:r>
            <a:r>
              <a:rPr lang="zh-CN" altLang="en-US" dirty="0"/>
              <a:t>层的特征，</a:t>
            </a:r>
            <a:r>
              <a:rPr lang="en-US" altLang="zh-CN" dirty="0"/>
              <a:t>encoder</a:t>
            </a:r>
            <a:r>
              <a:rPr lang="zh-CN" altLang="en-US" dirty="0"/>
              <a:t>与</a:t>
            </a:r>
            <a:r>
              <a:rPr lang="en-US" altLang="zh-CN" dirty="0"/>
              <a:t>decoder</a:t>
            </a:r>
            <a:r>
              <a:rPr lang="zh-CN" altLang="en-US" dirty="0"/>
              <a:t>之前的唯一信息通道就是</a:t>
            </a:r>
            <a:r>
              <a:rPr lang="en-US" altLang="zh-CN" dirty="0"/>
              <a:t>2048bit</a:t>
            </a:r>
            <a:r>
              <a:rPr lang="zh-CN" altLang="en-US" dirty="0"/>
              <a:t>的</a:t>
            </a:r>
            <a:r>
              <a:rPr lang="en-US" altLang="zh-CN" dirty="0"/>
              <a:t>bottleneck</a:t>
            </a:r>
            <a:r>
              <a:rPr lang="zh-CN" altLang="en-US" dirty="0"/>
              <a:t>。如果想要接入</a:t>
            </a:r>
            <a:r>
              <a:rPr lang="en-US" altLang="zh-CN" dirty="0"/>
              <a:t>GCN</a:t>
            </a:r>
            <a:r>
              <a:rPr lang="zh-CN" altLang="en-US" dirty="0"/>
              <a:t>的思路，需要新增一条</a:t>
            </a:r>
            <a:r>
              <a:rPr lang="en-US" altLang="zh-CN" dirty="0"/>
              <a:t>skip connection</a:t>
            </a:r>
            <a:r>
              <a:rPr lang="zh-CN" altLang="en-US" dirty="0"/>
              <a:t>将</a:t>
            </a:r>
            <a:r>
              <a:rPr lang="en-US" altLang="zh-CN" dirty="0"/>
              <a:t>encoder</a:t>
            </a:r>
            <a:r>
              <a:rPr lang="zh-CN" altLang="en-US" dirty="0"/>
              <a:t>中间层的信息传递给</a:t>
            </a:r>
            <a:r>
              <a:rPr lang="en-US" altLang="zh-CN" dirty="0"/>
              <a:t>decoder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普通的</a:t>
            </a:r>
            <a:r>
              <a:rPr lang="en-US" altLang="zh-CN" dirty="0"/>
              <a:t>skip connection</a:t>
            </a:r>
            <a:r>
              <a:rPr lang="zh-CN" altLang="en-US" dirty="0"/>
              <a:t>需要把</a:t>
            </a:r>
            <a:r>
              <a:rPr lang="en-US" altLang="zh-CN" dirty="0"/>
              <a:t>encoder</a:t>
            </a:r>
            <a:r>
              <a:rPr lang="zh-CN" altLang="en-US" dirty="0"/>
              <a:t>的信息特征完全不变地传递下去，这会导致对抗攻击的效果也传递给</a:t>
            </a:r>
            <a:r>
              <a:rPr lang="en-US" altLang="zh-CN" dirty="0"/>
              <a:t>decoder</a:t>
            </a:r>
            <a:r>
              <a:rPr lang="zh-CN" altLang="en-US" dirty="0"/>
              <a:t>，因此我们选择不传递内容，而只传递</a:t>
            </a:r>
            <a:r>
              <a:rPr lang="en-US" altLang="zh-CN" dirty="0"/>
              <a:t>encoder</a:t>
            </a:r>
            <a:r>
              <a:rPr lang="zh-CN" altLang="en-US" dirty="0"/>
              <a:t>的结构信息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ae_attn只能在"bottleneck已经保留下来的信息"范围内重新组织，而GCN skip理论上能够利用"bottleneck已经丢掉、但encoder还留着"的额外结构线索。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48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DF4FC-E156-1664-DBB7-2031EF4C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没有预算限制的</a:t>
            </a:r>
            <a:r>
              <a:rPr lang="en-US" altLang="zh-CN" dirty="0"/>
              <a:t>GCN</a:t>
            </a:r>
            <a:r>
              <a:rPr lang="zh-CN" altLang="en-US" dirty="0"/>
              <a:t>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DFDB14-F351-9172-B5EA-7F79C9C8E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在</a:t>
            </a:r>
            <a:r>
              <a:rPr lang="en-US" altLang="zh-CN" sz="1800" dirty="0"/>
              <a:t>decoder</a:t>
            </a:r>
            <a:r>
              <a:rPr lang="zh-CN" altLang="en-US" sz="1800" dirty="0"/>
              <a:t> </a:t>
            </a:r>
            <a:r>
              <a:rPr lang="en-US" altLang="zh-CN" sz="1800" dirty="0" err="1"/>
              <a:t>mul</a:t>
            </a:r>
            <a:r>
              <a:rPr lang="en-US" altLang="zh-CN" sz="1800" dirty="0"/>
              <a:t>=1</a:t>
            </a:r>
            <a:r>
              <a:rPr lang="zh-CN" altLang="en-US" sz="1800" dirty="0"/>
              <a:t>、</a:t>
            </a:r>
            <a:r>
              <a:rPr lang="en-US" altLang="zh-CN" sz="1800" dirty="0"/>
              <a:t>2</a:t>
            </a:r>
            <a:r>
              <a:rPr lang="zh-CN" altLang="en-US" sz="1800" dirty="0"/>
              <a:t>对于</a:t>
            </a:r>
            <a:r>
              <a:rPr lang="en-US" altLang="zh-CN" sz="1800" dirty="0"/>
              <a:t>encoder </a:t>
            </a:r>
            <a:r>
              <a:rPr lang="en-US" altLang="zh-CN" sz="1800" dirty="0" err="1"/>
              <a:t>mul</a:t>
            </a:r>
            <a:r>
              <a:rPr lang="en-US" altLang="zh-CN" sz="1800" dirty="0"/>
              <a:t>=2</a:t>
            </a:r>
            <a:r>
              <a:rPr lang="zh-CN" altLang="en-US" sz="1800" dirty="0"/>
              <a:t>、</a:t>
            </a:r>
            <a:r>
              <a:rPr lang="en-US" altLang="zh-CN" sz="1800" dirty="0"/>
              <a:t>4</a:t>
            </a:r>
            <a:r>
              <a:rPr lang="zh-CN" altLang="en-US" sz="1800" dirty="0"/>
              <a:t>两层接入</a:t>
            </a:r>
            <a:r>
              <a:rPr lang="en-US" altLang="zh-CN" sz="1800" dirty="0"/>
              <a:t>GCN skip,</a:t>
            </a:r>
            <a:r>
              <a:rPr lang="zh-CN" altLang="en-US" sz="1800" dirty="0"/>
              <a:t>像素层和</a:t>
            </a:r>
            <a:r>
              <a:rPr lang="en-US" altLang="zh-CN" sz="1800" dirty="0"/>
              <a:t>bottleneck</a:t>
            </a:r>
            <a:r>
              <a:rPr lang="zh-CN" altLang="en-US" sz="1800"/>
              <a:t>层则跳过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zh-CN" sz="1800" dirty="0"/>
              <a:t>ae_only (GCN skip) mAP50=0.3521 </a:t>
            </a:r>
            <a:endParaRPr lang="en-US" altLang="zh-CN" sz="1800" dirty="0"/>
          </a:p>
          <a:p>
            <a:r>
              <a:rPr lang="zh-CN" altLang="zh-CN" sz="1800" dirty="0"/>
              <a:t>对照：attn(zero-init) mAP50=0.1814 | 原始AE mAP50=0.0823</a:t>
            </a:r>
            <a:endParaRPr lang="en-US" altLang="zh-CN" sz="1800" dirty="0"/>
          </a:p>
          <a:p>
            <a:r>
              <a:rPr lang="zh-CN" altLang="zh-CN" sz="1800" dirty="0"/>
              <a:t>这个评测场景下，encoder和decoder看的是</a:t>
            </a:r>
            <a:r>
              <a:rPr lang="zh-CN" altLang="zh-CN" sz="1800" b="1" dirty="0"/>
              <a:t>同一张clean图</a:t>
            </a:r>
            <a:r>
              <a:rPr lang="zh-CN" altLang="zh-CN" sz="1800" dirty="0"/>
              <a:t>。GCN skip block虽然只用encoder特征的Q/K去算邻接矩阵（没有直接用V），但这个邻接矩阵本身就已经</a:t>
            </a:r>
            <a:r>
              <a:rPr lang="zh-CN" altLang="zh-CN" sz="1800" b="1" dirty="0"/>
              <a:t>编码了原图在64×64/32×32分辨率下的完整空间结构信息</a:t>
            </a:r>
            <a:r>
              <a:rPr lang="zh-CN" altLang="en-US" sz="1800" b="1" dirty="0"/>
              <a:t>，</a:t>
            </a:r>
            <a:r>
              <a:rPr lang="zh-CN" altLang="zh-CN" sz="1800" dirty="0"/>
              <a:t>不再是单纯从2048bit里去重建。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zh-CN" sz="1800" dirty="0"/>
              <a:t>要让这条线兼容</a:t>
            </a:r>
            <a:r>
              <a:rPr lang="zh-CN" altLang="en-US" sz="1800" dirty="0"/>
              <a:t>当前</a:t>
            </a:r>
            <a:r>
              <a:rPr lang="zh-CN" altLang="zh-CN" sz="1800" dirty="0"/>
              <a:t>框架，核心是</a:t>
            </a:r>
            <a:r>
              <a:rPr lang="zh-CN" altLang="zh-CN" sz="1800" b="1" dirty="0"/>
              <a:t>把skip connection传递的信息也变成有限的bit、并且也要经过净化</a:t>
            </a:r>
            <a:r>
              <a:rPr lang="zh-CN" altLang="zh-CN" sz="1800" dirty="0"/>
              <a:t>，</a:t>
            </a:r>
            <a:r>
              <a:rPr lang="zh-CN" altLang="en-US" sz="1800" dirty="0"/>
              <a:t>下一步将总预算压缩到</a:t>
            </a:r>
            <a:r>
              <a:rPr lang="en-US" altLang="zh-CN" sz="1800" dirty="0"/>
              <a:t>4096bit</a:t>
            </a:r>
            <a:r>
              <a:rPr lang="zh-CN" altLang="en-US" sz="1800" dirty="0"/>
              <a:t>，再重新结合</a:t>
            </a:r>
            <a:r>
              <a:rPr lang="en-US" altLang="zh-CN" sz="1800" dirty="0"/>
              <a:t>GCN</a:t>
            </a:r>
            <a:r>
              <a:rPr lang="zh-CN" altLang="en-US" sz="1800" dirty="0"/>
              <a:t>结构训练。</a:t>
            </a:r>
          </a:p>
        </p:txBody>
      </p:sp>
    </p:spTree>
    <p:extLst>
      <p:ext uri="{BB962C8B-B14F-4D97-AF65-F5344CB8AC3E}">
        <p14:creationId xmlns:p14="http://schemas.microsoft.com/office/powerpoint/2010/main" val="2201910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10238-1531-2558-F549-C42AF001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4096bit+GCN</a:t>
            </a:r>
            <a:r>
              <a:rPr lang="zh-CN" altLang="en-US" dirty="0"/>
              <a:t>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C08914-D4E2-E709-DE02-50DA68B82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zh-CN" altLang="zh-CN" dirty="0"/>
          </a:p>
          <a:p>
            <a:r>
              <a:rPr lang="zh-CN" altLang="zh-CN" dirty="0"/>
              <a:t>  epoch 1: mse=0.0065</a:t>
            </a:r>
          </a:p>
          <a:p>
            <a:r>
              <a:rPr lang="zh-CN" altLang="zh-CN" dirty="0"/>
              <a:t>  epoch 7: mse=0.0045                                                          </a:t>
            </a:r>
          </a:p>
          <a:p>
            <a:r>
              <a:rPr lang="zh-CN" altLang="zh-CN" dirty="0"/>
              <a:t>  epoch 8: mse=0.0047</a:t>
            </a:r>
          </a:p>
          <a:p>
            <a:r>
              <a:rPr lang="zh-CN" altLang="zh-CN" dirty="0"/>
              <a:t>在</a:t>
            </a:r>
            <a:r>
              <a:rPr lang="zh-CN" altLang="zh-CN" b="1" dirty="0"/>
              <a:t>双倍bit预算</a:t>
            </a:r>
            <a:r>
              <a:rPr lang="zh-CN" altLang="zh-CN" dirty="0"/>
              <a:t>下，mAP50从0.1814涨到0.2394（+31.9%）</a:t>
            </a:r>
          </a:p>
        </p:txBody>
      </p:sp>
    </p:spTree>
    <p:extLst>
      <p:ext uri="{BB962C8B-B14F-4D97-AF65-F5344CB8AC3E}">
        <p14:creationId xmlns:p14="http://schemas.microsoft.com/office/powerpoint/2010/main" val="85801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6ABCD-196D-5390-A7FE-E36B8B4F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4096bit</a:t>
            </a:r>
            <a:r>
              <a:rPr lang="zh-CN" altLang="en-US" dirty="0"/>
              <a:t>，无</a:t>
            </a:r>
            <a:r>
              <a:rPr lang="en-US" altLang="zh-CN" dirty="0"/>
              <a:t>GCN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15B3EF-2C4B-5EAE-2904-CC49A1D2B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将主</a:t>
            </a:r>
            <a:r>
              <a:rPr lang="en-US" altLang="zh-CN" dirty="0"/>
              <a:t>z</a:t>
            </a:r>
            <a:r>
              <a:rPr lang="zh-CN" altLang="en-US" dirty="0"/>
              <a:t>扩容到</a:t>
            </a:r>
            <a:r>
              <a:rPr lang="en-US" altLang="zh-CN" dirty="0"/>
              <a:t>4096bit</a:t>
            </a:r>
            <a:r>
              <a:rPr lang="zh-CN" altLang="en-US" dirty="0"/>
              <a:t>，不接入</a:t>
            </a:r>
            <a:r>
              <a:rPr lang="en-US" altLang="zh-CN" dirty="0"/>
              <a:t>GCN</a:t>
            </a:r>
            <a:r>
              <a:rPr lang="zh-CN" altLang="en-US" dirty="0"/>
              <a:t>结构，只单纯扩充</a:t>
            </a:r>
            <a:r>
              <a:rPr lang="en-US" altLang="zh-CN" dirty="0"/>
              <a:t>bottleneck</a:t>
            </a:r>
          </a:p>
          <a:p>
            <a:r>
              <a:rPr lang="zh-CN" altLang="zh-CN" dirty="0"/>
              <a:t>ae_only (纯扩容, 4096bit无GCN) mAP50=0.2631 </a:t>
            </a:r>
            <a:endParaRPr lang="en-US" altLang="zh-CN" dirty="0"/>
          </a:p>
          <a:p>
            <a:r>
              <a:rPr lang="zh-CN" altLang="zh-CN" dirty="0"/>
              <a:t>对照：GCN quant(4096bit) mAP50=0.2394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zh-CN" dirty="0"/>
              <a:t> attn(2048bit) mAP50=0.1814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GCN</a:t>
            </a:r>
            <a:r>
              <a:rPr lang="zh-CN" altLang="en-US" dirty="0"/>
              <a:t>结构在经过池化、量化与反量化之后本身就产生了一定损耗，使得效果不如直接把多出来的</a:t>
            </a:r>
            <a:r>
              <a:rPr lang="en-US" altLang="zh-CN" dirty="0"/>
              <a:t>bit</a:t>
            </a:r>
            <a:r>
              <a:rPr lang="zh-CN" altLang="en-US" dirty="0"/>
              <a:t>给主模型自主训练</a:t>
            </a:r>
          </a:p>
        </p:txBody>
      </p:sp>
    </p:spTree>
    <p:extLst>
      <p:ext uri="{BB962C8B-B14F-4D97-AF65-F5344CB8AC3E}">
        <p14:creationId xmlns:p14="http://schemas.microsoft.com/office/powerpoint/2010/main" val="3921169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824</Words>
  <Application>Microsoft Office PowerPoint</Application>
  <PresentationFormat>宽屏</PresentationFormat>
  <Paragraphs>25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没有预算限制的GCN结构</vt:lpstr>
      <vt:lpstr>4096bit+GCN结构</vt:lpstr>
      <vt:lpstr>4096bit，无GCN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2026-08-08T13:08:18Z</dcterms:created>
  <dcterms:modified xsi:type="dcterms:W3CDTF">2026-08-10T05:36:15Z</dcterms:modified>
</cp:coreProperties>
</file>