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7CF72-4D78-1DD7-5616-F8B3B2C10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B4D0B1-AB43-F5EC-8161-708799A58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E9FAF-43A5-0DD8-A8BA-64CCB8CA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36BAF-2666-73AD-2EC0-C72BEC2B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73410-13C6-9938-B89C-37BBC52B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50677-BF20-4433-CF10-509F92A8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0032D9-3689-E438-12AB-C1AB498F3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F21C9-1F76-E59B-B993-22CF4806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71AFA6-E198-1CC9-F357-CF3FBA4F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3BE56A-5C85-B831-BADE-EB41D56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92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A2B24-FDA7-AF01-BDE5-4C440AEA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3E181-2ACA-4E87-FC69-FBD43658E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088D63-4852-B044-091C-4011B19F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9A2F89-3B5B-602D-B180-CF93D718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C08F86-886A-EC9B-BA98-09E9F61C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97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F03D6-2564-8B39-1914-3A6055CE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CA73B-2514-80BE-53ED-03AE45EDF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CFE0DD-6C9D-B180-F3B6-8C0EA3927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0BCF9-416B-CEE4-759F-FA45A759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39FC0-220D-3811-4F74-A59E0964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51EA25-2448-E8AA-FBAE-F4CE469A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99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4ADB6-3D82-118D-5840-7EAA512F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354F77-8A31-5DD2-89A1-BFBA1C25A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870D6A-1D20-4E66-4923-127E21E2F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5710A3-ABD2-1F2F-1827-EF167D8C6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873F34-0F13-DCEA-E27B-2E16547D3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1AA95-D1F2-8E47-AAAF-284164F8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F99B57-7E3E-B65D-6808-55C9426D0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2D4FE6-A5A5-33C1-DCB1-78177A5F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24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477F5-8EC7-87F2-F1DD-6A28387E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9B9F5B-4402-B879-C81F-077D3351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566866-7FC2-B21E-87F2-9A4C8E42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6D3E0F-71FA-527C-6D6B-8CE11583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14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63785B-1D7F-FDA6-A258-684A858B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7051DE-973A-A8C1-50E0-F74237E4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80E3D2-368D-2133-5F4B-ECB3F87C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09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16103-9FEF-749E-D18D-C25250FF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E3749-0F71-9F01-EE3C-99504310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177A59-3603-C29C-3A32-9DECC61C8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011297-F22D-6ABA-6D2A-D359ED7C4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C24582-0895-109E-FD23-4C186475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071D09-C7DF-4161-50F1-C9DD27EE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7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A763B-561D-16D5-E93C-662BDBCB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82101C-793E-9759-382A-E22FFB13D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39D8EA-778F-818F-F3E5-E1935C561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03A719-D69A-A03C-CC07-54205D4A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21E76-2D06-108B-284A-C19691F3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E18E3D-1DF9-92A5-57C4-8640AD60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02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FD91D-6F72-030D-516B-C4B1580B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517A2D-0EDA-0B50-4B4C-CD1D3AE13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2C81DB-E81C-C084-5A65-35918D0D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B5DFD5-B4D8-68B0-F659-29004DDC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79688-94D6-AD64-9983-DD2789D2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67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50AE71-9042-912C-4803-9EA28FE7C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9AAC2F-1531-EA9B-28E0-721BB1475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6D2673-2D83-9598-F2D5-5C49818F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DB889-3E49-7911-CA33-B8ACD7F6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D4E949-998E-A8DC-588F-A8E802F3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59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758133-AEB6-00A0-155F-A76C339F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C90F6E-0258-FF76-5123-54514BD53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EACAC-BC44-DB9A-1716-73574BE4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5C8C9-4E2B-41F8-8A8B-726541980F7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04F38-6868-0323-C32D-4748A4BC0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E7C0C-A8AF-D6B1-B1FA-619966A53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138CC-4C9D-4AA6-8F6C-2E8F75C545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58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3FC4A-5EB0-6A2D-473E-C83827D09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BC28D5-201D-08F8-894D-9F3BCB598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643F50-03F9-AFAF-9F89-FEAB7F74F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54440" cy="385601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50409BF-68AB-CD8F-9F65-0D067A57D46A}"/>
              </a:ext>
            </a:extLst>
          </p:cNvPr>
          <p:cNvSpPr txBox="1"/>
          <p:nvPr/>
        </p:nvSpPr>
        <p:spPr>
          <a:xfrm>
            <a:off x="616944" y="4060587"/>
            <a:ext cx="58885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Image1</a:t>
            </a:r>
            <a:r>
              <a:rPr lang="zh-CN" altLang="en-US" dirty="0"/>
              <a:t>比较敏感，</a:t>
            </a:r>
            <a:r>
              <a:rPr lang="en-US" altLang="zh-CN" dirty="0"/>
              <a:t>5</a:t>
            </a:r>
            <a:r>
              <a:rPr lang="zh-CN" altLang="en-US" dirty="0"/>
              <a:t>比较鲁棒。</a:t>
            </a:r>
            <a:endParaRPr lang="en-US" altLang="zh-CN" dirty="0"/>
          </a:p>
          <a:p>
            <a:r>
              <a:rPr lang="zh-CN" altLang="en-US" dirty="0"/>
              <a:t>参数下降速率在放缓，符合扩散模型</a:t>
            </a:r>
            <a:r>
              <a:rPr lang="en-US" altLang="zh-CN" dirty="0"/>
              <a:t>t</a:t>
            </a:r>
            <a:r>
              <a:rPr lang="zh-CN" altLang="en-US" dirty="0"/>
              <a:t>越大，添加噪声能破坏的信息越少的特性。</a:t>
            </a:r>
            <a:endParaRPr lang="en-US" altLang="zh-CN" dirty="0"/>
          </a:p>
          <a:p>
            <a:r>
              <a:rPr lang="zh-CN" altLang="en-US" dirty="0"/>
              <a:t>参数变化的曲线，可以用来对比我们的净化模型的退化曲线，如果我们的曲线更加平缓，就体现了我们框架的创新之处。</a:t>
            </a:r>
          </a:p>
        </p:txBody>
      </p:sp>
    </p:spTree>
    <p:extLst>
      <p:ext uri="{BB962C8B-B14F-4D97-AF65-F5344CB8AC3E}">
        <p14:creationId xmlns:p14="http://schemas.microsoft.com/office/powerpoint/2010/main" val="330889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4EA3E-23A0-C8C3-4472-3E0A7835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9527AC6-8A54-E830-FAD9-13AE3B2E2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132" y="365125"/>
            <a:ext cx="6531758" cy="360018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4FF2F88-1301-4111-4EC6-AFC2C392AEA9}"/>
              </a:ext>
            </a:extLst>
          </p:cNvPr>
          <p:cNvSpPr txBox="1"/>
          <p:nvPr/>
        </p:nvSpPr>
        <p:spPr>
          <a:xfrm>
            <a:off x="7541045" y="2252949"/>
            <a:ext cx="42525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训练得到一个</a:t>
            </a:r>
            <a:r>
              <a:rPr lang="zh-CN" altLang="zh-CN" dirty="0"/>
              <a:t>把图像压成2048-bit二值编码、并且能较好重建回图像的</a:t>
            </a:r>
            <a:r>
              <a:rPr lang="en-US" altLang="zh-CN" dirty="0"/>
              <a:t>encoder</a:t>
            </a:r>
            <a:r>
              <a:rPr lang="zh-CN" altLang="en-US" dirty="0"/>
              <a:t>，最终重建图片的</a:t>
            </a:r>
            <a:r>
              <a:rPr lang="en-US" altLang="zh-CN" dirty="0"/>
              <a:t>PSNR</a:t>
            </a:r>
            <a:r>
              <a:rPr lang="zh-CN" altLang="en-US" dirty="0"/>
              <a:t>在</a:t>
            </a:r>
            <a:r>
              <a:rPr lang="en-US" altLang="zh-CN" dirty="0"/>
              <a:t>23dB</a:t>
            </a:r>
            <a:r>
              <a:rPr lang="zh-CN" altLang="en-US" dirty="0"/>
              <a:t>左右。</a:t>
            </a:r>
            <a:endParaRPr lang="en-US" altLang="zh-CN" dirty="0"/>
          </a:p>
          <a:p>
            <a:r>
              <a:rPr lang="zh-CN" altLang="en-US" dirty="0"/>
              <a:t>然后将图片编码为二值潜在</a:t>
            </a:r>
            <a:r>
              <a:rPr lang="en-US" altLang="zh-CN" dirty="0"/>
              <a:t>z0</a:t>
            </a:r>
            <a:r>
              <a:rPr lang="zh-CN" altLang="en-US" dirty="0"/>
              <a:t>，用伯努利扩散的方式对</a:t>
            </a:r>
            <a:r>
              <a:rPr lang="en-US" altLang="zh-CN" dirty="0"/>
              <a:t>z0</a:t>
            </a:r>
            <a:r>
              <a:rPr lang="zh-CN" altLang="en-US" dirty="0"/>
              <a:t>进行随机翻转，检测模型从被反转的编码中还原原始编码的能力。</a:t>
            </a:r>
            <a:endParaRPr lang="en-US" altLang="zh-CN" dirty="0"/>
          </a:p>
          <a:p>
            <a:r>
              <a:rPr lang="zh-CN" altLang="en-US" dirty="0"/>
              <a:t>当前的攻击还不是成熟的对抗攻击，但</a:t>
            </a:r>
            <a:r>
              <a:rPr lang="en-US" altLang="zh-CN" dirty="0"/>
              <a:t>t</a:t>
            </a:r>
            <a:r>
              <a:rPr lang="zh-CN" altLang="en-US" dirty="0"/>
              <a:t>缓慢的下降曲线可以说明方法本身的可行性。</a:t>
            </a:r>
          </a:p>
        </p:txBody>
      </p:sp>
    </p:spTree>
    <p:extLst>
      <p:ext uri="{BB962C8B-B14F-4D97-AF65-F5344CB8AC3E}">
        <p14:creationId xmlns:p14="http://schemas.microsoft.com/office/powerpoint/2010/main" val="87941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1E567-A170-3B4E-103D-CA1D5117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真实图像→PGD攻击→encoder→净化→decoder→检测器mAP</a:t>
            </a:r>
            <a:r>
              <a:rPr lang="en-US" altLang="zh-CN" sz="2400" dirty="0"/>
              <a:t> pipeline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F1D4D-1DF8-D096-9E4F-EFC2FFFDD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97243" cy="4351338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Pilot</a:t>
            </a:r>
            <a:r>
              <a:rPr lang="zh-CN" altLang="en-US" sz="1800" dirty="0"/>
              <a:t>实验记录：</a:t>
            </a:r>
          </a:p>
          <a:p>
            <a:r>
              <a:rPr lang="en-US" altLang="zh-CN" sz="1800" dirty="0"/>
              <a:t>- batch: 16</a:t>
            </a:r>
            <a:r>
              <a:rPr lang="zh-CN" altLang="en-US" sz="1800" dirty="0"/>
              <a:t>张图（</a:t>
            </a:r>
            <a:r>
              <a:rPr lang="en-US" altLang="zh-CN" sz="1800" dirty="0"/>
              <a:t>9</a:t>
            </a:r>
            <a:r>
              <a:rPr lang="zh-CN" altLang="en-US" sz="1800" dirty="0"/>
              <a:t>个真实框实例）</a:t>
            </a:r>
          </a:p>
          <a:p>
            <a:r>
              <a:rPr lang="en-US" altLang="zh-CN" sz="1800" dirty="0"/>
              <a:t>- eps=8/255, alpha=2/255, steps=10, </a:t>
            </a:r>
            <a:r>
              <a:rPr lang="en-US" altLang="zh-CN" sz="1800" dirty="0" err="1"/>
              <a:t>t_star</a:t>
            </a:r>
            <a:r>
              <a:rPr lang="en-US" altLang="zh-CN" sz="1800" dirty="0"/>
              <a:t>=40</a:t>
            </a:r>
          </a:p>
          <a:p>
            <a:r>
              <a:rPr lang="en-US" altLang="zh-CN" sz="1800" dirty="0"/>
              <a:t>- clean  mAP50=0.7301  mAP50-95=0.3622</a:t>
            </a:r>
          </a:p>
          <a:p>
            <a:r>
              <a:rPr lang="en-US" altLang="zh-CN" sz="1800" dirty="0"/>
              <a:t>- adv    mAP50=0.0243  mAP50-95=0.0069</a:t>
            </a:r>
          </a:p>
          <a:p>
            <a:r>
              <a:rPr lang="en-US" altLang="zh-CN" sz="1800" dirty="0"/>
              <a:t>- purified mAP50=0.2229 mAP50-95=0.0858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4398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48958-3A59-6588-0815-DEEA2D25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66E80-B3F0-B9F4-F4CB-EA9BFCF81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zh-CN" sz="1800" dirty="0"/>
              <a:t>这个batch里的框数量: 9</a:t>
            </a:r>
          </a:p>
          <a:p>
            <a:r>
              <a:rPr lang="zh-CN" altLang="zh-CN" sz="1800" b="1" dirty="0"/>
              <a:t>val: </a:t>
            </a:r>
            <a:r>
              <a:rPr lang="zh-CN" altLang="zh-CN" sz="1800" dirty="0"/>
              <a:t>New cache created: /content/eval_clean/labels.cache</a:t>
            </a:r>
          </a:p>
          <a:p>
            <a:r>
              <a:rPr lang="zh-CN" altLang="zh-CN" sz="1800" dirty="0"/>
              <a:t>                 Class     Images  Instances      Box(P          R      mAP50  mAP50-95): 100% ━━━━━━━━━━━━ 4/4 2.7it/s 1.5s</a:t>
            </a:r>
          </a:p>
          <a:p>
            <a:r>
              <a:rPr lang="zh-CN" altLang="zh-CN" sz="1800" dirty="0"/>
              <a:t>                   all         62         69      0.554      0.551      0.528      0.306</a:t>
            </a:r>
          </a:p>
          <a:p>
            <a:r>
              <a:rPr lang="zh-CN" altLang="zh-CN" sz="1800" dirty="0"/>
              <a:t>adv         mAP50=0.0201  mAP50-95=0.0066</a:t>
            </a:r>
          </a:p>
          <a:p>
            <a:r>
              <a:rPr lang="zh-CN" altLang="zh-CN" sz="1800" dirty="0"/>
              <a:t>purified    mAP50=0.0588  mAP50-95=0.0173</a:t>
            </a:r>
            <a:endParaRPr lang="en-US" altLang="zh-CN" sz="1800" dirty="0"/>
          </a:p>
          <a:p>
            <a:r>
              <a:rPr lang="zh-CN" altLang="zh-CN" sz="1800" dirty="0"/>
              <a:t>这个batch里的框数量: 14</a:t>
            </a:r>
          </a:p>
          <a:p>
            <a:r>
              <a:rPr lang="zh-CN" altLang="zh-CN" sz="1800" b="1" dirty="0"/>
              <a:t>val: </a:t>
            </a:r>
            <a:r>
              <a:rPr lang="zh-CN" altLang="zh-CN" sz="1800" dirty="0"/>
              <a:t>Scanning /content/eval_clean/labels... 31 images, 18 backgrounds, 0 corrupt: 100% ━━━━━━━━━━━━ 31/31 2.3Kit/s 0.0s</a:t>
            </a:r>
          </a:p>
          <a:p>
            <a:r>
              <a:rPr lang="zh-CN" altLang="zh-CN" sz="1800" b="1" dirty="0"/>
              <a:t>val: </a:t>
            </a:r>
            <a:r>
              <a:rPr lang="zh-CN" altLang="zh-CN" sz="1800" dirty="0"/>
              <a:t>New cache created: /content/eval_clean/labels.cache</a:t>
            </a:r>
          </a:p>
          <a:p>
            <a:r>
              <a:rPr lang="zh-CN" altLang="zh-CN" sz="1800" dirty="0"/>
              <a:t>                 Class     Images  Instances      Box(P          R      mAP50  mAP50-95): 100% ━━━━━━━━━━━━ 2/2 2.1it/s 1.0s</a:t>
            </a:r>
          </a:p>
          <a:p>
            <a:r>
              <a:rPr lang="zh-CN" altLang="zh-CN" sz="1800" dirty="0"/>
              <a:t>                   all         31         26      0.492      0.484      0.478      0.251</a:t>
            </a:r>
          </a:p>
          <a:p>
            <a:r>
              <a:rPr lang="zh-CN" altLang="zh-CN" sz="1800" dirty="0"/>
              <a:t>adv         mAP50=0.0124  mAP50-95=0.0043</a:t>
            </a:r>
          </a:p>
          <a:p>
            <a:r>
              <a:rPr lang="zh-CN" altLang="zh-CN" sz="1800" dirty="0"/>
              <a:t>purified    mAP50=0.0712  mAP50-95=0.0297</a:t>
            </a:r>
          </a:p>
          <a:p>
            <a:endParaRPr lang="zh-CN" altLang="zh-CN" sz="1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953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BFE98-CAF5-EFDF-50D4-C77FE463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完整测试集的</a:t>
            </a:r>
            <a:r>
              <a:rPr lang="en-US" altLang="zh-CN" sz="2800" dirty="0" err="1"/>
              <a:t>mAP</a:t>
            </a:r>
            <a:r>
              <a:rPr lang="zh-CN" altLang="en-US" sz="2800" dirty="0"/>
              <a:t>检测结果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39D1B9-D6AC-D08B-0B5B-D2CCCFE85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84534"/>
              </p:ext>
            </p:extLst>
          </p:nvPr>
        </p:nvGraphicFramePr>
        <p:xfrm>
          <a:off x="838200" y="169068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73749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12827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488314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1681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Precision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Recall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mAP50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36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clean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0.597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0.557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adv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0.235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0.076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76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purified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0.149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0.057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53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Ae_only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0,229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0.082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682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486</Words>
  <Application>Microsoft Office PowerPoint</Application>
  <PresentationFormat>宽屏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真实图像→PGD攻击→encoder→净化→decoder→检测器mAP pipeline</vt:lpstr>
      <vt:lpstr>PowerPoint 演示文稿</vt:lpstr>
      <vt:lpstr>完整测试集的mAP检测结果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3</cp:revision>
  <dcterms:created xsi:type="dcterms:W3CDTF">2026-07-09T07:49:23Z</dcterms:created>
  <dcterms:modified xsi:type="dcterms:W3CDTF">2026-07-12T13:05:12Z</dcterms:modified>
</cp:coreProperties>
</file>