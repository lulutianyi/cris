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63" r:id="rId4"/>
    <p:sldId id="262" r:id="rId5"/>
    <p:sldId id="264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2EB59-6145-4347-B0A7-948E67A5A9B7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3A15E-4E0F-4D33-8F7D-6EDDD036A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4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A15E-4E0F-4D33-8F7D-6EDDD036A72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15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7394B-DE4D-F9FC-7C53-2A4116456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D297AD-E508-B548-02CD-61042FE5C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D7985C-02E1-9CDB-D6F5-735D7181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A9F54-2A9E-ECCC-7384-ABCAEB48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69500-D8E3-317A-EEA0-A26204B0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45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BD693-F528-419B-397F-5B01B62D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C2B3A-056E-058B-437D-D1DF18FD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B7FF2-1361-F524-4C5B-BD2AEEE9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39A7E-C9A0-D7BA-B3CB-BB13C036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830E4-1977-B807-C32B-0AA517D5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99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E3367-75F5-9B52-542E-981728CB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2A005B-2D58-A62F-8F9E-10FB62742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2FE74-776C-C11F-A472-6F168D1AD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8FFA2-74BE-3A4E-DC76-45953303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5BB4B-0D41-F83C-BD78-5C01B311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06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77726-B7E0-B271-9B9E-1A1ACBFD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E61BB-9C2E-1FB5-7A38-4C0B06445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FECEF-CC71-0011-1D6D-F7BBB8F59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8021C4-EFDC-9F8F-53A6-68AFFCEA0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81A1F2-A1F2-9A79-1EE0-9463E658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7266D8-2431-EDC3-48E9-A753248F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958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A00EE-BDCB-773C-0A10-77BC34A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D2A83E-039A-9AC2-94A0-D3EE8F686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635EA4-149F-4425-F14E-379AC0940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CA405A-A777-AAB8-F818-701B35481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9C446A-63FB-1BA4-5111-DE7EB2FD2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15DEBF-3146-3E3A-358E-6DE9D84B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153A08-B566-7D3E-E5D5-8617C666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3EB740-37E2-75A9-0DDE-A7B87A7F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57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D1B9A-E1D2-53FF-0AC5-7D41F797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F185DB-2E1C-6732-8B76-A50BC032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2C4783-BEA9-5CBE-EF43-AF4337F5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0FC268-C997-2FA1-6602-ED28AD3A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30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A91978-B5AB-21FA-A714-EE6B0A26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5376FD-D712-A949-A22B-A50B896AA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B8AE81-ECB2-7249-53C6-8947A80F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47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17F0B-2A9B-07DE-B6E1-67216F86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5A832E-B110-DBFC-25FB-AE3BE3386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104019-D72B-D956-4879-02F55E0C5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F5464-0189-B3AC-BDAF-043782D8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01157C-7255-92A9-7AAA-05E98752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3B6D12-ECAB-8140-EBE1-49FF02AA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94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54532-FDCE-A1CC-E231-D6EF3DB3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B2788A-3082-B93B-3F8B-5D31131B9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7676F1-2526-65F0-233C-36425EC86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22FEBC-AFAE-5A4C-E784-EF021C5FE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8DA9A5-EF5D-A7CD-66E8-949827E9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6ACE97-3341-6DE3-72FD-9C6F22DC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28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EBFB7-EB45-8F9B-6479-EA55B33CB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FC6FB5-E7F6-4D75-7996-302C47643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070CB9-75B9-70CF-EFD5-823A6FBD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5EC522-E91C-D3DB-66A1-89F5AE2F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5DB04-2F0C-D451-602D-25839BD1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91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30C932-9817-32E8-83E3-D4D5C52B5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487F-B1B1-D808-4300-779ECE395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5BC1D-2D39-65A2-DDE7-20CB84E6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9E593-961B-91A9-F88C-3D03CD0B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4281F-E58F-4C80-2E8B-22002124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15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98B4D4-9178-5653-8214-60DDB4041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44A365-5FD5-B42A-A96B-62654FDDF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A3BCF3-A6B9-CF0A-CA57-58F02F047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27E9C-EAE9-49DC-B478-42C64A920EE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B71F1-1A53-F608-7513-C014F644E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DBEDE0-122D-7D68-25F2-E70C885B7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7EBC9-6C7F-4223-BC20-B5F1BB60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59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B44F3-7E20-5028-57EE-DB653DEC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对抗扩散蒸馏（</a:t>
            </a:r>
            <a:r>
              <a:rPr lang="en-US" altLang="zh-CN" dirty="0"/>
              <a:t>ADD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FB78BC-A378-4190-7733-912AEA0B7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一种通用方法，可将预训练的扩散模型蒸馏为快速的少步图像生成模型，在快速生成高保真样本的同时，提升模型的质量。</a:t>
            </a:r>
            <a:endParaRPr lang="en-US" altLang="zh-CN" dirty="0"/>
          </a:p>
          <a:p>
            <a:r>
              <a:rPr lang="zh-CN" altLang="en-US" dirty="0"/>
              <a:t>包含三个部分：学生模型，权重可训练的判别器，权重冻结的教师模型。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对于对抗性目标，判别器区分生成的样本和真实图像。通过将</a:t>
            </a:r>
            <a:r>
              <a:rPr lang="en-US" altLang="zh-CN" dirty="0"/>
              <a:t>student</a:t>
            </a:r>
            <a:r>
              <a:rPr lang="zh-CN" altLang="en-US" dirty="0"/>
              <a:t>样本与</a:t>
            </a:r>
            <a:r>
              <a:rPr lang="en-US" altLang="zh-CN" dirty="0"/>
              <a:t>teacher</a:t>
            </a:r>
            <a:r>
              <a:rPr lang="zh-CN" altLang="en-US" dirty="0"/>
              <a:t>的过程扩散，并使用</a:t>
            </a:r>
            <a:r>
              <a:rPr lang="en-US" altLang="zh-CN" dirty="0"/>
              <a:t>teacher</a:t>
            </a:r>
            <a:r>
              <a:rPr lang="zh-CN" altLang="en-US" dirty="0"/>
              <a:t>的去噪预测作为蒸馏损失的重建目标，从</a:t>
            </a:r>
            <a:r>
              <a:rPr lang="en-US" altLang="zh-CN" dirty="0"/>
              <a:t>DM teacher</a:t>
            </a:r>
            <a:r>
              <a:rPr lang="zh-CN" altLang="en-US" dirty="0"/>
              <a:t>那里提炼出知识。总体目标结合了</a:t>
            </a:r>
            <a:r>
              <a:rPr lang="zh-CN" altLang="en-US" b="1" dirty="0"/>
              <a:t>对抗损失</a:t>
            </a:r>
            <a:r>
              <a:rPr lang="zh-CN" altLang="en-US" dirty="0"/>
              <a:t>和</a:t>
            </a:r>
            <a:r>
              <a:rPr lang="zh-CN" altLang="en-US" b="1" dirty="0"/>
              <a:t>蒸馏损失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313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F354A-7927-249C-04CB-FB73E085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93E1E5-D4B0-4F9A-F93D-09E7772A8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对抗损失：实现传统的对抗生成方法，训练学生模型生成纹理真实、感知自然的图像</a:t>
            </a:r>
            <a:endParaRPr lang="en-US" altLang="zh-CN" sz="2400" dirty="0"/>
          </a:p>
          <a:p>
            <a:r>
              <a:rPr lang="zh-CN" altLang="en-US" sz="2400" dirty="0"/>
              <a:t>蒸馏损失：学习教师模型的生成分布与语义表示能力，防止学生模型生成带伪影或语义漂移的图像。</a:t>
            </a:r>
            <a:endParaRPr lang="en-US" altLang="zh-CN" sz="2400" dirty="0"/>
          </a:p>
          <a:p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2330CFA-7F04-4A5A-013F-3615E54B9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553249"/>
              </p:ext>
            </p:extLst>
          </p:nvPr>
        </p:nvGraphicFramePr>
        <p:xfrm>
          <a:off x="1008467" y="3947072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6029157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30480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251466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603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方法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步数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质量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问题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870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DDPM/SDXL</a:t>
                      </a:r>
                      <a:r>
                        <a:rPr lang="zh-CN" altLang="en-US"/>
                        <a:t>（标准扩散）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20~50</a:t>
                      </a:r>
                      <a:r>
                        <a:rPr lang="zh-CN" altLang="en-US"/>
                        <a:t>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推理慢，成本高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90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DDIM</a:t>
                      </a:r>
                      <a:r>
                        <a:rPr lang="zh-CN" altLang="en-US"/>
                        <a:t>加速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10~20</a:t>
                      </a:r>
                      <a:r>
                        <a:rPr lang="zh-CN" altLang="en-US"/>
                        <a:t>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中等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步数少了质量掉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674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纯一致性蒸馏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1~4</a:t>
                      </a:r>
                      <a:r>
                        <a:rPr lang="zh-CN" altLang="en-US"/>
                        <a:t>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中等偏低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细节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纹理退化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29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/>
                        <a:t>1~4</a:t>
                      </a:r>
                      <a:r>
                        <a:rPr lang="zh-CN" altLang="en-US" b="1"/>
                        <a:t>步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接近完整模型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——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201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97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7BADB-057D-6FED-D9BD-CB3DCF75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1C76F-A882-8B11-F5E0-198581188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dirty="0"/>
              <a:t>Epoch 1/30 (36.4s) | Train Loss 0.1697 | Val Loss 0.0219 | Train PSNR 14.70 | Val PSNR 17.13 | Codebook perplexity 193.4 | LR enc/dec 5.0e-06/2.0e-04</a:t>
            </a:r>
          </a:p>
          <a:p>
            <a:r>
              <a:rPr lang="en-US" altLang="zh-CN" dirty="0"/>
              <a:t>Epoch 2/30 (32.8s) | Train Loss 0.0841 | Val Loss 0.0139 | Train PSNR 18.33 | Val PSNR 19.10 | Codebook perplexity 216.2 | LR enc/dec 5.0e-06/2.0e-04</a:t>
            </a:r>
          </a:p>
          <a:p>
            <a:r>
              <a:rPr lang="en-US" altLang="zh-CN" dirty="0"/>
              <a:t>Epoch 3/30 (32.8s) | Train Loss 0.0684 | Val Loss 0.0166 | Train PSNR 19.45 | Val PSNR 18.40 | Codebook perplexity 222.7 | LR enc/dec 5.0e-06/2.0e-04</a:t>
            </a:r>
          </a:p>
          <a:p>
            <a:r>
              <a:rPr lang="en-US" altLang="zh-CN" dirty="0"/>
              <a:t>Epoch 4/30 (33.2s) | Train Loss 0.0611 | Val Loss 0.0105 | Train PSNR 20.07 | Val PSNR 20.31 | Codebook perplexity 222.2 | LR enc/dec 5.0e-06/2.0e-04</a:t>
            </a:r>
          </a:p>
          <a:p>
            <a:r>
              <a:rPr lang="en-US" altLang="zh-CN" dirty="0"/>
              <a:t>Epoch 5/30 (33.1s) | Train Loss 0.0573 | Val Loss 0.0099 | Train PSNR 20.39 | Val PSNR 20.66 | Codebook perplexity 226.2 | LR enc/dec 5.0e-06/2.0e-04</a:t>
            </a:r>
          </a:p>
          <a:p>
            <a:r>
              <a:rPr lang="en-US" altLang="zh-CN" dirty="0"/>
              <a:t>Epoch 26/30 (33.0s) | Train Loss 0.0351 | Val Loss 0.0039 | Train PSNR 23.98 | Val PSNR 24.58 | Codebook perplexity 199.9 | LR enc/dec 5.0e-06/2.0e-04</a:t>
            </a:r>
          </a:p>
          <a:p>
            <a:r>
              <a:rPr lang="en-US" altLang="zh-CN" dirty="0"/>
              <a:t>Epoch 27/30 (33.4s) | Train Loss 0.0348 | Val Loss 0.0042 | Train PSNR 24.05 | Val PSNR 24.44 | Codebook perplexity 200.6 | LR enc/dec 5.0e-06/2.0e-04</a:t>
            </a:r>
          </a:p>
          <a:p>
            <a:r>
              <a:rPr lang="en-US" altLang="zh-CN" dirty="0"/>
              <a:t>Epoch 28/30 (33.6s) | Train Loss 0.0341 | Val Loss 0.0039 | Train PSNR 24.29 | Val PSNR 24.64 | Codebook perplexity 200.9 | LR enc/dec 5.0e-06/2.0e-04</a:t>
            </a:r>
          </a:p>
          <a:p>
            <a:r>
              <a:rPr lang="en-US" altLang="zh-CN" dirty="0"/>
              <a:t>Epoch 29/30 (33.7s) | Train Loss 0.0339 | Val Loss 0.0038 | Train PSNR 24.28 | Val PSNR 24.78 | Codebook perplexity 198.5 | LR enc/dec 5.0e-06/2.0e-04</a:t>
            </a:r>
          </a:p>
          <a:p>
            <a:r>
              <a:rPr lang="en-US" altLang="zh-CN" dirty="0"/>
              <a:t>Epoch 30/30 (32.3s) | Train Loss 0.0335 | Val Loss 0.0038 | Train PSNR 24.38 | Val PSNR 24.66 | Codebook perplexity 196.4 | LR enc/dec 5.0e-06/2.0e-04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667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96F1C-D423-1E0A-C2B2-E0E8921F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7C095A-3FF3-F112-7D92-AF73C5FD8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7332"/>
            <a:ext cx="5562600" cy="43338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16A1FB-B58B-2538-3B71-DFB3063A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72865"/>
            <a:ext cx="53625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B5ED5-1E2F-4F7B-7E7E-3A1EE1B3A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51DB66-B787-C792-BA47-27B767E93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/>
              <a:t>已加载最优模型（来自 </a:t>
            </a:r>
            <a:r>
              <a:rPr lang="en-US" altLang="zh-CN" dirty="0"/>
              <a:t>epoch 27</a:t>
            </a:r>
            <a:r>
              <a:rPr lang="zh-CN" altLang="en-US" dirty="0"/>
              <a:t>，</a:t>
            </a:r>
            <a:r>
              <a:rPr lang="en-US" altLang="zh-CN" dirty="0"/>
              <a:t>Val PSNR 22.77 dB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r>
              <a:rPr lang="en-US" altLang="zh-CN" dirty="0"/>
              <a:t>===== </a:t>
            </a:r>
            <a:r>
              <a:rPr lang="zh-CN" altLang="en-US" dirty="0"/>
              <a:t>推理速度测试结果 </a:t>
            </a:r>
            <a:r>
              <a:rPr lang="en-US" altLang="zh-CN" dirty="0"/>
              <a:t>=====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设备        </a:t>
            </a:r>
            <a:r>
              <a:rPr lang="en-US" altLang="zh-CN" dirty="0"/>
              <a:t>: </a:t>
            </a:r>
            <a:r>
              <a:rPr lang="en-US" altLang="zh-CN" dirty="0" err="1"/>
              <a:t>cuda</a:t>
            </a:r>
            <a:r>
              <a:rPr lang="en-US" altLang="zh-CN" dirty="0"/>
              <a:t> (Tesla T4)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输入尺寸    </a:t>
            </a:r>
            <a:r>
              <a:rPr lang="en-US" altLang="zh-CN" dirty="0"/>
              <a:t>: 1 × 3 × 416 × 416</a:t>
            </a:r>
          </a:p>
          <a:p>
            <a:r>
              <a:rPr lang="en-US" altLang="zh-CN" dirty="0"/>
              <a:t>  </a:t>
            </a:r>
            <a:r>
              <a:rPr lang="zh-CN" altLang="en-US" dirty="0"/>
              <a:t>测试轮数    </a:t>
            </a:r>
            <a:r>
              <a:rPr lang="en-US" altLang="zh-CN" dirty="0"/>
              <a:t>: 100 </a:t>
            </a:r>
            <a:r>
              <a:rPr lang="zh-CN" altLang="en-US" dirty="0"/>
              <a:t>次（预热 </a:t>
            </a:r>
            <a:r>
              <a:rPr lang="en-US" altLang="zh-CN" dirty="0"/>
              <a:t>10 </a:t>
            </a:r>
            <a:r>
              <a:rPr lang="zh-CN" altLang="en-US" dirty="0"/>
              <a:t>次）</a:t>
            </a:r>
          </a:p>
          <a:p>
            <a:r>
              <a:rPr lang="zh-CN" altLang="en-US" dirty="0"/>
              <a:t>  平均延迟    </a:t>
            </a:r>
            <a:r>
              <a:rPr lang="en-US" altLang="zh-CN" dirty="0"/>
              <a:t>: 10.100 </a:t>
            </a:r>
            <a:r>
              <a:rPr lang="en-US" altLang="zh-CN" dirty="0" err="1"/>
              <a:t>ms</a:t>
            </a:r>
            <a:r>
              <a:rPr lang="en-US" altLang="zh-CN" dirty="0"/>
              <a:t>  ±0.176 </a:t>
            </a:r>
            <a:r>
              <a:rPr lang="en-US" altLang="zh-CN" dirty="0" err="1"/>
              <a:t>ms</a:t>
            </a:r>
            <a:endParaRPr lang="en-US" altLang="zh-CN" dirty="0"/>
          </a:p>
          <a:p>
            <a:r>
              <a:rPr lang="en-US" altLang="zh-CN" dirty="0"/>
              <a:t>  P50 </a:t>
            </a:r>
            <a:r>
              <a:rPr lang="zh-CN" altLang="en-US" dirty="0"/>
              <a:t>延迟    </a:t>
            </a:r>
            <a:r>
              <a:rPr lang="en-US" altLang="zh-CN" dirty="0"/>
              <a:t>: 10.040 </a:t>
            </a:r>
            <a:r>
              <a:rPr lang="en-US" altLang="zh-CN" dirty="0" err="1"/>
              <a:t>ms</a:t>
            </a:r>
            <a:endParaRPr lang="en-US" altLang="zh-CN" dirty="0"/>
          </a:p>
          <a:p>
            <a:r>
              <a:rPr lang="en-US" altLang="zh-CN" dirty="0"/>
              <a:t>  P95 </a:t>
            </a:r>
            <a:r>
              <a:rPr lang="zh-CN" altLang="en-US" dirty="0"/>
              <a:t>延迟    </a:t>
            </a:r>
            <a:r>
              <a:rPr lang="en-US" altLang="zh-CN" dirty="0"/>
              <a:t>: 10.557 </a:t>
            </a:r>
            <a:r>
              <a:rPr lang="en-US" altLang="zh-CN" dirty="0" err="1"/>
              <a:t>ms</a:t>
            </a:r>
            <a:endParaRPr lang="en-US" altLang="zh-CN" dirty="0"/>
          </a:p>
          <a:p>
            <a:r>
              <a:rPr lang="en-US" altLang="zh-CN" dirty="0"/>
              <a:t>  P99 </a:t>
            </a:r>
            <a:r>
              <a:rPr lang="zh-CN" altLang="en-US" dirty="0"/>
              <a:t>延迟    </a:t>
            </a:r>
            <a:r>
              <a:rPr lang="en-US" altLang="zh-CN" dirty="0"/>
              <a:t>: 10.633 </a:t>
            </a:r>
            <a:r>
              <a:rPr lang="en-US" altLang="zh-CN" dirty="0" err="1"/>
              <a:t>ms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吞吐量      </a:t>
            </a:r>
            <a:r>
              <a:rPr lang="en-US" altLang="zh-CN" dirty="0"/>
              <a:t>: 99.0 FPS</a:t>
            </a:r>
          </a:p>
          <a:p>
            <a:endParaRPr lang="en-US" altLang="zh-CN" dirty="0"/>
          </a:p>
          <a:p>
            <a:r>
              <a:rPr lang="zh-CN" altLang="en-US" dirty="0"/>
              <a:t>已加载最优模型（来自 </a:t>
            </a:r>
            <a:r>
              <a:rPr lang="en-US" altLang="zh-CN" dirty="0"/>
              <a:t>epoch 28</a:t>
            </a:r>
            <a:r>
              <a:rPr lang="zh-CN" altLang="en-US" dirty="0"/>
              <a:t>，</a:t>
            </a:r>
            <a:r>
              <a:rPr lang="en-US" altLang="zh-CN" dirty="0"/>
              <a:t>Val PSNR 23.01 dB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2568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6F4F9-9600-87D2-A908-6F008457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829FEE4-FCA8-D6FF-7867-CD79047E7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562600" cy="43338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E395BF-B428-1C74-91D6-364E183D6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997" y="1690688"/>
            <a:ext cx="53625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7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625</Words>
  <Application>Microsoft Office PowerPoint</Application>
  <PresentationFormat>宽屏</PresentationFormat>
  <Paragraphs>51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对抗扩散蒸馏（ADD）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6</cp:revision>
  <dcterms:created xsi:type="dcterms:W3CDTF">2026-05-19T11:26:10Z</dcterms:created>
  <dcterms:modified xsi:type="dcterms:W3CDTF">2026-05-28T13:42:52Z</dcterms:modified>
</cp:coreProperties>
</file>