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57" r:id="rId4"/>
    <p:sldId id="262" r:id="rId5"/>
    <p:sldId id="26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53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FBDE006-9061-853C-F809-112B150396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4993710-C213-5909-DFDE-80935F7F25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66B601C-4CF5-9F0A-3BEA-077AB257BE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3A90C38-96C3-5505-C527-5FBD9C3F1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284239-507A-B3A4-936A-A7554F5B6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85812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622E747-001E-56F2-48AF-85745E2D3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CB43D9-950E-24D5-2E67-9381A12C13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6A5A20-1712-8D79-4132-CB65A795C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09A6130-0E1F-63E8-B783-D392BD3C6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1F1F875-E229-1B45-FB40-0B56540AB4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3533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D82FFB9-91D3-78BA-5882-731FF67342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85EF7A-B11E-53B4-73FE-C8BB2B06F0B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A93175-C18C-3469-E4A9-7F7AFA2CE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69716C-69CC-DAEC-13F6-8370BBABF0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4324489-513F-555E-4A48-916652BD4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9586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A2CDA9-6CB1-5673-754A-5EB034E1D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46FA1CC-CDA6-678B-2822-D0C6CBAE57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7C7D149-95A9-05CA-C9DA-87EE41D27A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9E545D4-B379-DCD0-4963-33F0D2682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80C2EA7-DA3D-31D6-2196-FD10F6303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2E19880-1C99-D1E0-1A37-0FD99C01C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25572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CFC718-CD0E-8FD6-D44A-130E8C32FD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A186942-7979-A1C9-D374-01B27830CB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D8B36BF-DEBB-BD5F-4E61-E9C73749A5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6DB5B145-FC49-2A36-9B2C-A1D7E84FD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CAF7C6A-1753-964E-3857-440B4DE38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75AF53EC-8F7A-4CF3-3940-4B18A6845F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EF263538-E7EB-673E-A1BF-8568582FEF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CEEF011-C843-C921-7665-08ADA5A2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18681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151E28-F1CA-E53F-F41F-5FA3A2C9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5C232751-2591-20F0-2321-586C0B06D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2E601152-88C3-63AF-C166-03EC25B2F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7C1D49D-829E-22B9-C861-623B9F9F6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56417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9ABFBF4-0D4D-80D2-DD51-20EC9FFFDB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463C9D9-B459-DB8A-0608-BDEBAC534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E3A07A3-ECD7-A388-7AF1-B4F7AF9F2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759338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3529D37-76B0-E8B4-597E-F6997B07C8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499E020-291B-CE06-B8E9-3683D95DD2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6E5EDBE-DE4A-5A9D-846E-581EA9D1F8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3568EBCF-C52B-0E5C-D931-3D5E2C5D9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34FA566-D4F0-0F5D-0C39-0A85A3F97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00C4593-3189-B4FE-EFEF-AD7921BA77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29144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5EBBEA8-8EB9-09B1-BA71-035A7D5C4A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926C4EF8-D77D-0253-95B5-D3DC344719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4AA9CBBC-B311-27A0-AD9C-6A0DF415DF2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14BDA27-4660-6346-51B8-9375E9B63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87DA89-8963-057A-94D5-C5DBCB5372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408663E-BC19-5ADA-2B26-C1A37A2D3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50981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351446D-6182-6D3F-536C-B5FEEDC1F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17459DD3-48A6-2AF1-46A2-0B1FAF23C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967971-408D-6B1A-C0AA-9247F60BBC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5AEDCD3-573B-526B-4BDE-D33F90AD0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98D9F2E-D001-7F42-BF50-7C3CDBD547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1611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E544CB17-F294-FDF1-B7FC-DEF07C7779A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72A9B6-FAA0-FF51-CE9B-0F3E40BFEA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6308FC1-00D9-C673-6FD9-F34D20FA80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BD73D5-ED68-47E3-751A-8ADB52AF7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1D0D3A-0FA5-B447-C9FE-1AA96EEB9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68266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FA5F1EDE-D8B4-6366-4B07-A65C7AB6F9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B8DEDE-785D-0C4A-9AAB-CF0B40408C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D100A0-AA9B-3893-9E99-AA4ED734DA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6C7579C-2082-4292-BDB7-A987B8E5653D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6B906AA-110B-8586-1C9C-2C9F4B1317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36B9B2-0945-9A22-869D-C9E59C24BA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8437A0-F8AC-45F6-8AA7-9F4192FC69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58807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4089D14-214E-BC15-5AF9-7D8A260A7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Binary latent diffusion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19CD505-E759-FB9A-74F3-3AE9A722E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368143" cy="4351338"/>
          </a:xfrm>
        </p:spPr>
        <p:txBody>
          <a:bodyPr/>
          <a:lstStyle/>
          <a:p>
            <a:r>
              <a:rPr lang="zh-CN" altLang="zh-CN" sz="2000" dirty="0"/>
              <a:t>binary latent space能够提供紧凑的离散图像表示，其分布比像素或连续latent表示更容易建模；同时它用binary向量表示每个图像patch，而不是像VQ那样用codebook index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dirty="0"/>
          </a:p>
          <a:p>
            <a:r>
              <a:rPr lang="zh-CN" altLang="en-US" sz="2000" dirty="0"/>
              <a:t>框架：图像 → </a:t>
            </a:r>
            <a:r>
              <a:rPr lang="en-US" altLang="zh-CN" sz="2000" dirty="0"/>
              <a:t>Bernoulli autoencoder → binary latent → binary diffusion → binary latent → decoder → </a:t>
            </a:r>
            <a:r>
              <a:rPr lang="zh-CN" altLang="en-US" sz="2000" dirty="0"/>
              <a:t>图像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我们的调整：</a:t>
            </a:r>
            <a:r>
              <a:rPr lang="en-US" altLang="zh-CN" sz="2000" dirty="0" err="1"/>
              <a:t>x_adv</a:t>
            </a:r>
            <a:r>
              <a:rPr lang="en-US" altLang="zh-CN" sz="2000" dirty="0"/>
              <a:t> → Bernoulli encoder → binary latent</a:t>
            </a:r>
            <a:r>
              <a:rPr lang="zh-CN" altLang="en-US" sz="2000" dirty="0"/>
              <a:t>（含对抗噪声）→ 加噪</a:t>
            </a:r>
            <a:r>
              <a:rPr lang="en-US" altLang="zh-CN" sz="2000" dirty="0"/>
              <a:t>t*</a:t>
            </a:r>
            <a:r>
              <a:rPr lang="zh-CN" altLang="en-US" sz="2000" dirty="0"/>
              <a:t>步 → </a:t>
            </a:r>
            <a:r>
              <a:rPr lang="en-US" altLang="zh-CN" sz="2000" dirty="0"/>
              <a:t>binary diffusion</a:t>
            </a:r>
            <a:r>
              <a:rPr lang="zh-CN" altLang="en-US" sz="2000" dirty="0"/>
              <a:t>反向去噪 → </a:t>
            </a:r>
            <a:r>
              <a:rPr lang="en-US" altLang="zh-CN" sz="2000" dirty="0"/>
              <a:t>binary latent</a:t>
            </a:r>
            <a:r>
              <a:rPr lang="zh-CN" altLang="en-US" sz="2000" dirty="0"/>
              <a:t>（干净）→ </a:t>
            </a:r>
            <a:r>
              <a:rPr lang="en-US" altLang="zh-CN" sz="2000" dirty="0"/>
              <a:t>decoder → </a:t>
            </a:r>
            <a:r>
              <a:rPr lang="en-US" altLang="zh-CN" sz="2000" dirty="0" err="1"/>
              <a:t>x_clean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31074437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E61977D-6779-99A4-261F-A12CE98816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二元潜在空间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23336D0-381F-3AAB-C0C3-1B5B7593E4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zh-CN" dirty="0"/>
              <a:t>二元潜在空间是一种用于图像表示的紧凑且表达力强的空间，其中每个图像块被表示为一个二进制向量。</a:t>
            </a:r>
            <a:endParaRPr lang="zh-CN" altLang="en-US" dirty="0"/>
          </a:p>
        </p:txBody>
      </p:sp>
      <p:graphicFrame>
        <p:nvGraphicFramePr>
          <p:cNvPr id="4" name="表格 3">
            <a:extLst>
              <a:ext uri="{FF2B5EF4-FFF2-40B4-BE49-F238E27FC236}">
                <a16:creationId xmlns:a16="http://schemas.microsoft.com/office/drawing/2014/main" id="{2785142F-D913-E89D-FEDC-CFA5561FE36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2670030"/>
              </p:ext>
            </p:extLst>
          </p:nvPr>
        </p:nvGraphicFramePr>
        <p:xfrm>
          <a:off x="1395185" y="2940352"/>
          <a:ext cx="8127999" cy="348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2711993785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3052559969"/>
                    </a:ext>
                  </a:extLst>
                </a:gridCol>
                <a:gridCol w="2709333">
                  <a:extLst>
                    <a:ext uri="{9D8B030D-6E8A-4147-A177-3AD203B41FA5}">
                      <a16:colId xmlns:a16="http://schemas.microsoft.com/office/drawing/2014/main" val="126189143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二元潜在空间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LDM</a:t>
                      </a:r>
                      <a:r>
                        <a:rPr lang="zh-CN" altLang="en-US" dirty="0"/>
                        <a:t>潜在空间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5674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表示方式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将图像块表示为二进制向量，每个向量由多个独立的伯努利变量组成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将图像块表示为连续的实值向量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08960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建立模型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二元潜在扩散模型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传统</a:t>
                      </a:r>
                      <a:r>
                        <a:rPr lang="zh-CN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扩散模型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959937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生成效率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采样步骤较少，采样速度更快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en-US" dirty="0"/>
                        <a:t>采样速度较慢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44360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zh-CN" altLang="en-US" dirty="0"/>
                        <a:t>表达能力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能够生成高分辨率的图像，但表达能力有限。需要更大的潜在空间来表示更复杂的图像特征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CN" altLang="zh-CN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能够生成更高质量的图像，并且表达能力更强。能够表示更复杂的图像特征，并生成更具多样性的图像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8338122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489466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C4CAC6-0AE5-9BFE-52E6-9B08BFA58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41D8822F-26FD-3103-59DE-0640F1022A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91255"/>
            <a:ext cx="5257800" cy="1752600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B26E7C1-DFA6-E63B-C817-87FDB8F6D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3938803"/>
            <a:ext cx="5149850" cy="1692031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272930D0-DF9A-2331-4E17-DAAC9D6A4A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92481" y="2021387"/>
            <a:ext cx="4636019" cy="1520646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5F24E8AF-694B-0D18-BAEE-1F64DC69260B}"/>
              </a:ext>
            </a:extLst>
          </p:cNvPr>
          <p:cNvSpPr txBox="1"/>
          <p:nvPr/>
        </p:nvSpPr>
        <p:spPr>
          <a:xfrm>
            <a:off x="6464300" y="3743855"/>
            <a:ext cx="4273550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左上角：原始网络训练</a:t>
            </a:r>
            <a:r>
              <a:rPr lang="en-US" altLang="zh-CN" dirty="0"/>
              <a:t>10000</a:t>
            </a:r>
            <a:r>
              <a:rPr lang="zh-CN" altLang="en-US" dirty="0"/>
              <a:t>个</a:t>
            </a:r>
            <a:r>
              <a:rPr lang="en-US" altLang="zh-CN" dirty="0"/>
              <a:t>iter</a:t>
            </a:r>
            <a:r>
              <a:rPr lang="zh-CN" altLang="en-US" dirty="0"/>
              <a:t>后的图像</a:t>
            </a:r>
            <a:endParaRPr lang="en-US" altLang="zh-CN" dirty="0"/>
          </a:p>
          <a:p>
            <a:r>
              <a:rPr lang="zh-CN" altLang="en-US" dirty="0"/>
              <a:t>左下角：</a:t>
            </a:r>
            <a:r>
              <a:rPr lang="en-US" altLang="zh-CN" dirty="0" err="1"/>
              <a:t>vqdim</a:t>
            </a:r>
            <a:r>
              <a:rPr lang="zh-CN" altLang="en-US" dirty="0"/>
              <a:t>从</a:t>
            </a:r>
            <a:r>
              <a:rPr lang="en-US" altLang="zh-CN" dirty="0"/>
              <a:t>8</a:t>
            </a:r>
            <a:r>
              <a:rPr lang="zh-CN" altLang="en-US" dirty="0"/>
              <a:t>上调至</a:t>
            </a:r>
            <a:r>
              <a:rPr lang="en-US" altLang="zh-CN" dirty="0"/>
              <a:t>32</a:t>
            </a:r>
            <a:r>
              <a:rPr lang="zh-CN" altLang="en-US" dirty="0"/>
              <a:t>，训练</a:t>
            </a:r>
            <a:r>
              <a:rPr lang="en-US" altLang="zh-CN" dirty="0"/>
              <a:t>10000</a:t>
            </a:r>
            <a:r>
              <a:rPr lang="zh-CN" altLang="en-US" dirty="0"/>
              <a:t>个</a:t>
            </a:r>
            <a:r>
              <a:rPr lang="en-US" altLang="zh-CN" dirty="0"/>
              <a:t>iter</a:t>
            </a:r>
            <a:r>
              <a:rPr lang="zh-CN" altLang="en-US" dirty="0"/>
              <a:t>后的图像</a:t>
            </a:r>
            <a:endParaRPr lang="en-US" altLang="zh-CN" dirty="0"/>
          </a:p>
          <a:p>
            <a:r>
              <a:rPr lang="zh-CN" altLang="en-US" dirty="0"/>
              <a:t>右上角：</a:t>
            </a:r>
            <a:r>
              <a:rPr lang="en-US" altLang="zh-CN" dirty="0" err="1"/>
              <a:t>ch_mult</a:t>
            </a:r>
            <a:r>
              <a:rPr lang="zh-CN" altLang="en-US" dirty="0"/>
              <a:t>从（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，</a:t>
            </a:r>
            <a:r>
              <a:rPr lang="en-US" altLang="zh-CN" dirty="0"/>
              <a:t>8</a:t>
            </a:r>
            <a:r>
              <a:rPr lang="zh-CN" altLang="en-US" dirty="0"/>
              <a:t>）调整为（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</a:t>
            </a:r>
            <a:r>
              <a:rPr lang="zh-CN" altLang="en-US" dirty="0"/>
              <a:t>，</a:t>
            </a:r>
            <a:r>
              <a:rPr lang="en-US" altLang="zh-CN" dirty="0"/>
              <a:t>4</a:t>
            </a:r>
            <a:r>
              <a:rPr lang="zh-CN" altLang="en-US" dirty="0"/>
              <a:t>），空间信息量增加为</a:t>
            </a:r>
            <a:r>
              <a:rPr lang="en-US" altLang="zh-CN" dirty="0"/>
              <a:t>4</a:t>
            </a:r>
            <a:r>
              <a:rPr lang="zh-CN" altLang="en-US" dirty="0"/>
              <a:t>倍，训练</a:t>
            </a:r>
            <a:r>
              <a:rPr lang="en-US" altLang="zh-CN" dirty="0"/>
              <a:t>4000</a:t>
            </a:r>
            <a:r>
              <a:rPr lang="zh-CN" altLang="en-US" dirty="0"/>
              <a:t>个</a:t>
            </a:r>
            <a:r>
              <a:rPr lang="en-US" altLang="zh-CN" dirty="0"/>
              <a:t>iter</a:t>
            </a:r>
            <a:r>
              <a:rPr lang="zh-CN" altLang="en-US" dirty="0"/>
              <a:t>后的图像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由于这种方法</a:t>
            </a:r>
            <a:r>
              <a:rPr lang="en-US" altLang="zh-CN" dirty="0" err="1"/>
              <a:t>bpp</a:t>
            </a:r>
            <a:r>
              <a:rPr lang="zh-CN" altLang="en-US" dirty="0"/>
              <a:t>极小（</a:t>
            </a:r>
            <a:r>
              <a:rPr lang="en-US" altLang="zh-CN" dirty="0"/>
              <a:t>0.03</a:t>
            </a:r>
            <a:r>
              <a:rPr lang="zh-CN" altLang="en-US" dirty="0"/>
              <a:t>）导致</a:t>
            </a:r>
            <a:r>
              <a:rPr lang="en-US" altLang="zh-CN" dirty="0" err="1"/>
              <a:t>psnr</a:t>
            </a:r>
            <a:r>
              <a:rPr lang="zh-CN" altLang="en-US" dirty="0"/>
              <a:t>较低且上升趋向很弱。</a:t>
            </a:r>
          </a:p>
        </p:txBody>
      </p:sp>
    </p:spTree>
    <p:extLst>
      <p:ext uri="{BB962C8B-B14F-4D97-AF65-F5344CB8AC3E}">
        <p14:creationId xmlns:p14="http://schemas.microsoft.com/office/powerpoint/2010/main" val="390966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89CE3-01D3-D5B2-EB1D-8CEB48C903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30DB6B0F-4451-7C67-CFE9-A41230D457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7679" y="-1"/>
            <a:ext cx="5747668" cy="32444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C07198F-A745-326C-D259-3F09863EBD8A}"/>
              </a:ext>
            </a:extLst>
          </p:cNvPr>
          <p:cNvSpPr txBox="1"/>
          <p:nvPr/>
        </p:nvSpPr>
        <p:spPr>
          <a:xfrm>
            <a:off x="6585868" y="1443841"/>
            <a:ext cx="37392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zh-CN" dirty="0"/>
              <a:t>binary加噪不会让两者的分布"接近"，而是把两者都随机化，差异反而被噪声本身淹没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zh-CN" b="1" dirty="0"/>
              <a:t>模型对弱攻击（flip=3%、10%）净化效果为负</a:t>
            </a:r>
            <a:r>
              <a:rPr lang="zh-CN" altLang="zh-CN" dirty="0"/>
              <a:t>，purification引入的额外误差大于它修复的bit数量。</a:t>
            </a:r>
          </a:p>
          <a:p>
            <a:r>
              <a:rPr lang="zh-CN" altLang="zh-CN" b="1" dirty="0"/>
              <a:t>模型对强攻击（flip=20%、30%）净化有效</a:t>
            </a:r>
            <a:r>
              <a:rPr lang="zh-CN" altLang="zh-CN" dirty="0"/>
              <a:t>，flip=30%时bit accuracy从0.701提升到0.835，delta=+0.134。</a:t>
            </a:r>
            <a:endParaRPr lang="en-US" altLang="zh-CN" dirty="0"/>
          </a:p>
          <a:p>
            <a:r>
              <a:rPr lang="zh-CN" altLang="en-US" dirty="0"/>
              <a:t>目前使用的网络</a:t>
            </a:r>
            <a:r>
              <a:rPr lang="zh-CN" altLang="zh-CN" dirty="0"/>
              <a:t>MLP容量不足，无法做到精确的局部修复</a:t>
            </a:r>
          </a:p>
          <a:p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575FAA5-4E46-93F7-B6D8-A0AA04218B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49" y="3342433"/>
            <a:ext cx="5371206" cy="2984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783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5A4F13-D31E-517C-1AE0-42D40EB00E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endParaRPr lang="zh-CN" altLang="en-US" sz="3200" dirty="0"/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0411572A-DE0B-B51C-D32E-CD5E23564B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36430" y="2029436"/>
            <a:ext cx="8350359" cy="460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6210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2413</TotalTime>
  <Words>448</Words>
  <Application>Microsoft Office PowerPoint</Application>
  <PresentationFormat>宽屏</PresentationFormat>
  <Paragraphs>33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Binary latent diffusion</vt:lpstr>
      <vt:lpstr>二元潜在空间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Terrsa X</dc:creator>
  <cp:lastModifiedBy>Terrsa X</cp:lastModifiedBy>
  <cp:revision>5</cp:revision>
  <dcterms:created xsi:type="dcterms:W3CDTF">2026-07-03T07:26:28Z</dcterms:created>
  <dcterms:modified xsi:type="dcterms:W3CDTF">2026-07-06T16:28:46Z</dcterms:modified>
</cp:coreProperties>
</file>