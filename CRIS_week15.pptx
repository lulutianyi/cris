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57" r:id="rId4"/>
    <p:sldId id="262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97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BDE006-9061-853C-F809-112B150396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4993710-C213-5909-DFDE-80935F7F25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66B601C-4CF5-9F0A-3BEA-077AB25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A90C38-96C3-5505-C527-5FBD9C3F1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284239-507A-B3A4-936A-A7554F5B6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8581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2E747-001E-56F2-48AF-85745E2D3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0CB43D9-950E-24D5-2E67-9381A12C1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6A5A20-1712-8D79-4132-CB65A795C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9A6130-0E1F-63E8-B783-D392BD3C6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F1F875-E229-1B45-FB40-0B56540AB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353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82FFB9-91D3-78BA-5882-731FF6734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B85EF7A-B11E-53B4-73FE-C8BB2B06F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A93175-C18C-3469-E4A9-7F7AFA2CE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69716C-69CC-DAEC-13F6-8370BBAB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324489-513F-555E-4A48-916652BD4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9586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A2CDA9-6CB1-5673-754A-5EB034E1D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46FA1CC-CDA6-678B-2822-D0C6CBAE57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7C7D149-95A9-05CA-C9DA-87EE41D27A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9E545D4-B379-DCD0-4963-33F0D2682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0C2EA7-DA3D-31D6-2196-FD10F6303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2E19880-1C99-D1E0-1A37-0FD99C01C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2557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CFC718-CD0E-8FD6-D44A-130E8C32F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A186942-7979-A1C9-D374-01B27830C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D8B36BF-DEBB-BD5F-4E61-E9C73749A5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DB5B145-FC49-2A36-9B2C-A1D7E84FDB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CAF7C6A-1753-964E-3857-440B4DE386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5AF53EC-8F7A-4CF3-3940-4B18A6845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F263538-E7EB-673E-A1BF-8568582FE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CEEF011-C843-C921-7665-08ADA5A2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1868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151E28-F1CA-E53F-F41F-5FA3A2C93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C232751-2591-20F0-2321-586C0B06D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E601152-88C3-63AF-C166-03EC25B2F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7C1D49D-829E-22B9-C861-623B9F9F6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5641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9ABFBF4-0D4D-80D2-DD51-20EC9FFFD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63C9D9-B459-DB8A-0608-BDEBAC534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E3A07A3-ECD7-A388-7AF1-B4F7AF9F2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7593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529D37-76B0-E8B4-597E-F6997B07C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99E020-291B-CE06-B8E9-3683D95DD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6E5EDBE-DE4A-5A9D-846E-581EA9D1F8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568EBCF-C52B-0E5C-D931-3D5E2C5D9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34FA566-D4F0-0F5D-0C39-0A85A3F9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0C4593-3189-B4FE-EFEF-AD7921BA7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2914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EBBEA8-8EB9-09B1-BA71-035A7D5C4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26C4EF8-D77D-0253-95B5-D3DC344719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AA9CBBC-B311-27A0-AD9C-6A0DF415DF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14BDA27-4660-6346-51B8-9375E9B63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87DA89-8963-057A-94D5-C5DBCB537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08663E-BC19-5ADA-2B26-C1A37A2D3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5098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51446D-6182-6D3F-536C-B5FEEDC1F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7459DD3-48A6-2AF1-46A2-0B1FAF23CD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967971-408D-6B1A-C0AA-9247F60BB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AEDCD3-573B-526B-4BDE-D33F90AD0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98D9F2E-D001-7F42-BF50-7C3CDBD54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1611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544CB17-F294-FDF1-B7FC-DEF07C7779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372A9B6-FAA0-FF51-CE9B-0F3E40BFE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308FC1-00D9-C673-6FD9-F34D20FA8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BD73D5-ED68-47E3-751A-8ADB52AF7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E1D0D3A-0FA5-B447-C9FE-1AA96EEB9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826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A5F1EDE-D8B4-6366-4B07-A65C7AB6F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B8DEDE-785D-0C4A-9AAB-CF0B40408C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D100A0-AA9B-3893-9E99-AA4ED734DA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7579C-2082-4292-BDB7-A987B8E5653D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B906AA-110B-8586-1C9C-2C9F4B1317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36B9B2-0945-9A22-869D-C9E59C24B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8437A0-F8AC-45F6-8AA7-9F4192FC69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5880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89D14-214E-BC15-5AF9-7D8A260A7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Binary latent diffusion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19CD505-E759-FB9A-74F3-3AE9A722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68143" cy="4351338"/>
          </a:xfrm>
        </p:spPr>
        <p:txBody>
          <a:bodyPr/>
          <a:lstStyle/>
          <a:p>
            <a:r>
              <a:rPr lang="zh-CN" altLang="zh-CN" sz="2000" dirty="0"/>
              <a:t>binary latent space能够提供紧凑的离散图像表示，其分布比像素或连续latent表示更容易建模；同时它用binary向量表示每个图像patch，而不是像VQ那样用codebook index</a:t>
            </a:r>
            <a:r>
              <a:rPr lang="zh-CN" altLang="en-US" sz="2000" dirty="0"/>
              <a:t>。</a:t>
            </a:r>
            <a:endParaRPr lang="en-US" altLang="zh-CN" sz="2000" dirty="0"/>
          </a:p>
          <a:p>
            <a:endParaRPr lang="en-US" altLang="zh-CN" dirty="0"/>
          </a:p>
          <a:p>
            <a:r>
              <a:rPr lang="zh-CN" altLang="en-US" sz="2000" dirty="0"/>
              <a:t>框架：图像 → </a:t>
            </a:r>
            <a:r>
              <a:rPr lang="en-US" altLang="zh-CN" sz="2000" dirty="0"/>
              <a:t>Bernoulli autoencoder → binary latent → binary diffusion → binary latent → decoder → </a:t>
            </a:r>
            <a:r>
              <a:rPr lang="zh-CN" altLang="en-US" sz="2000" dirty="0"/>
              <a:t>图像</a:t>
            </a:r>
            <a:endParaRPr lang="en-US" altLang="zh-CN" sz="2000" dirty="0"/>
          </a:p>
          <a:p>
            <a:endParaRPr lang="en-US" altLang="zh-CN" sz="2000" dirty="0"/>
          </a:p>
          <a:p>
            <a:r>
              <a:rPr lang="zh-CN" altLang="en-US" sz="2000" dirty="0"/>
              <a:t>我们的调整：</a:t>
            </a:r>
            <a:r>
              <a:rPr lang="en-US" altLang="zh-CN" sz="2000" dirty="0" err="1"/>
              <a:t>x_adv</a:t>
            </a:r>
            <a:r>
              <a:rPr lang="en-US" altLang="zh-CN" sz="2000" dirty="0"/>
              <a:t> → Bernoulli encoder → binary latent</a:t>
            </a:r>
            <a:r>
              <a:rPr lang="zh-CN" altLang="en-US" sz="2000" dirty="0"/>
              <a:t>（含对抗噪声）→ 加噪</a:t>
            </a:r>
            <a:r>
              <a:rPr lang="en-US" altLang="zh-CN" sz="2000" dirty="0"/>
              <a:t>t*</a:t>
            </a:r>
            <a:r>
              <a:rPr lang="zh-CN" altLang="en-US" sz="2000" dirty="0"/>
              <a:t>步 → </a:t>
            </a:r>
            <a:r>
              <a:rPr lang="en-US" altLang="zh-CN" sz="2000" dirty="0"/>
              <a:t>binary diffusion</a:t>
            </a:r>
            <a:r>
              <a:rPr lang="zh-CN" altLang="en-US" sz="2000" dirty="0"/>
              <a:t>反向去噪 → </a:t>
            </a:r>
            <a:r>
              <a:rPr lang="en-US" altLang="zh-CN" sz="2000" dirty="0"/>
              <a:t>binary latent</a:t>
            </a:r>
            <a:r>
              <a:rPr lang="zh-CN" altLang="en-US" sz="2000" dirty="0"/>
              <a:t>（干净）→ </a:t>
            </a:r>
            <a:r>
              <a:rPr lang="en-US" altLang="zh-CN" sz="2000" dirty="0"/>
              <a:t>decoder → </a:t>
            </a:r>
            <a:r>
              <a:rPr lang="en-US" altLang="zh-CN" sz="2000" dirty="0" err="1"/>
              <a:t>x_clean</a:t>
            </a:r>
            <a:endParaRPr lang="en-US" altLang="zh-CN" sz="2000" dirty="0"/>
          </a:p>
        </p:txBody>
      </p:sp>
    </p:spTree>
    <p:extLst>
      <p:ext uri="{BB962C8B-B14F-4D97-AF65-F5344CB8AC3E}">
        <p14:creationId xmlns:p14="http://schemas.microsoft.com/office/powerpoint/2010/main" val="3107443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61977D-6779-99A4-261F-A12CE9881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二元潜在空间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23336D0-381F-3AAB-C0C3-1B5B7593E4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zh-CN" dirty="0"/>
              <a:t>二元潜在空间是一种用于图像表示的紧凑且表达力强的空间，其中每个图像块被表示为一个二进制向量。</a:t>
            </a:r>
            <a:endParaRPr lang="zh-CN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785142F-D913-E89D-FEDC-CFA5561FE3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670030"/>
              </p:ext>
            </p:extLst>
          </p:nvPr>
        </p:nvGraphicFramePr>
        <p:xfrm>
          <a:off x="1395185" y="2940352"/>
          <a:ext cx="8127999" cy="348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71199378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05255996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261891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二元潜在空间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LDM</a:t>
                      </a:r>
                      <a:r>
                        <a:rPr lang="zh-CN" altLang="en-US" dirty="0"/>
                        <a:t>潜在空间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5674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dirty="0"/>
                        <a:t>表示方式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将图像块表示为二进制向量，每个向量由多个独立的伯努利变量组成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将图像块表示为连续的实值向量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896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dirty="0"/>
                        <a:t>建立模型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二元潜在扩散模型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传统</a:t>
                      </a:r>
                      <a:r>
                        <a:rPr lang="zh-CN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扩散模型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99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dirty="0"/>
                        <a:t>生成效率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采样步骤较少，采样速度更快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采样速度较慢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443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dirty="0"/>
                        <a:t>表达能力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能够生成高分辨率的图像，但表达能力有限。需要更大的潜在空间来表示更复杂的图像特征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能够生成更高质量的图像，并且表达能力更强。能够表示更复杂的图像特征，并生成更具多样性的图像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3812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946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C4CAC6-0AE5-9BFE-52E6-9B08BFA58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41D8822F-26FD-3103-59DE-0640F1022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91255"/>
            <a:ext cx="5257800" cy="17526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B26E7C1-DFA6-E63B-C817-87FDB8F6DD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938803"/>
            <a:ext cx="5149850" cy="169203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72930D0-DF9A-2331-4E17-DAAC9D6A4A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2481" y="2021387"/>
            <a:ext cx="4636019" cy="1520646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5F24E8AF-694B-0D18-BAEE-1F64DC69260B}"/>
              </a:ext>
            </a:extLst>
          </p:cNvPr>
          <p:cNvSpPr txBox="1"/>
          <p:nvPr/>
        </p:nvSpPr>
        <p:spPr>
          <a:xfrm>
            <a:off x="6464300" y="3743855"/>
            <a:ext cx="42735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左上角：原始网络训练</a:t>
            </a:r>
            <a:r>
              <a:rPr lang="en-US" altLang="zh-CN" dirty="0"/>
              <a:t>10000</a:t>
            </a:r>
            <a:r>
              <a:rPr lang="zh-CN" altLang="en-US" dirty="0"/>
              <a:t>个</a:t>
            </a:r>
            <a:r>
              <a:rPr lang="en-US" altLang="zh-CN" dirty="0"/>
              <a:t>iter</a:t>
            </a:r>
            <a:r>
              <a:rPr lang="zh-CN" altLang="en-US" dirty="0"/>
              <a:t>后的图像</a:t>
            </a:r>
            <a:endParaRPr lang="en-US" altLang="zh-CN" dirty="0"/>
          </a:p>
          <a:p>
            <a:r>
              <a:rPr lang="zh-CN" altLang="en-US" dirty="0"/>
              <a:t>左下角：</a:t>
            </a:r>
            <a:r>
              <a:rPr lang="en-US" altLang="zh-CN" dirty="0" err="1"/>
              <a:t>vqdim</a:t>
            </a:r>
            <a:r>
              <a:rPr lang="zh-CN" altLang="en-US" dirty="0"/>
              <a:t>从</a:t>
            </a:r>
            <a:r>
              <a:rPr lang="en-US" altLang="zh-CN" dirty="0"/>
              <a:t>8</a:t>
            </a:r>
            <a:r>
              <a:rPr lang="zh-CN" altLang="en-US" dirty="0"/>
              <a:t>上调至</a:t>
            </a:r>
            <a:r>
              <a:rPr lang="en-US" altLang="zh-CN" dirty="0"/>
              <a:t>32</a:t>
            </a:r>
            <a:r>
              <a:rPr lang="zh-CN" altLang="en-US" dirty="0"/>
              <a:t>，训练</a:t>
            </a:r>
            <a:r>
              <a:rPr lang="en-US" altLang="zh-CN" dirty="0"/>
              <a:t>10000</a:t>
            </a:r>
            <a:r>
              <a:rPr lang="zh-CN" altLang="en-US" dirty="0"/>
              <a:t>个</a:t>
            </a:r>
            <a:r>
              <a:rPr lang="en-US" altLang="zh-CN" dirty="0"/>
              <a:t>iter</a:t>
            </a:r>
            <a:r>
              <a:rPr lang="zh-CN" altLang="en-US" dirty="0"/>
              <a:t>后的图像</a:t>
            </a:r>
            <a:endParaRPr lang="en-US" altLang="zh-CN" dirty="0"/>
          </a:p>
          <a:p>
            <a:r>
              <a:rPr lang="zh-CN" altLang="en-US" dirty="0"/>
              <a:t>右上角：</a:t>
            </a:r>
            <a:r>
              <a:rPr lang="en-US" altLang="zh-CN" dirty="0" err="1"/>
              <a:t>ch_mult</a:t>
            </a:r>
            <a:r>
              <a:rPr lang="zh-CN" altLang="en-US" dirty="0"/>
              <a:t>从（</a:t>
            </a:r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2</a:t>
            </a:r>
            <a:r>
              <a:rPr lang="zh-CN" altLang="en-US" dirty="0"/>
              <a:t>，</a:t>
            </a:r>
            <a:r>
              <a:rPr lang="en-US" altLang="zh-CN" dirty="0"/>
              <a:t>4</a:t>
            </a:r>
            <a:r>
              <a:rPr lang="zh-CN" altLang="en-US" dirty="0"/>
              <a:t>，</a:t>
            </a:r>
            <a:r>
              <a:rPr lang="en-US" altLang="zh-CN" dirty="0"/>
              <a:t>8</a:t>
            </a:r>
            <a:r>
              <a:rPr lang="zh-CN" altLang="en-US" dirty="0"/>
              <a:t>）调整为（</a:t>
            </a:r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2</a:t>
            </a:r>
            <a:r>
              <a:rPr lang="zh-CN" altLang="en-US" dirty="0"/>
              <a:t>，</a:t>
            </a:r>
            <a:r>
              <a:rPr lang="en-US" altLang="zh-CN" dirty="0"/>
              <a:t>4</a:t>
            </a:r>
            <a:r>
              <a:rPr lang="zh-CN" altLang="en-US" dirty="0"/>
              <a:t>），空间信息量增加为</a:t>
            </a:r>
            <a:r>
              <a:rPr lang="en-US" altLang="zh-CN" dirty="0"/>
              <a:t>4</a:t>
            </a:r>
            <a:r>
              <a:rPr lang="zh-CN" altLang="en-US" dirty="0"/>
              <a:t>倍，训练</a:t>
            </a:r>
            <a:r>
              <a:rPr lang="en-US" altLang="zh-CN" dirty="0"/>
              <a:t>4000</a:t>
            </a:r>
            <a:r>
              <a:rPr lang="zh-CN" altLang="en-US" dirty="0"/>
              <a:t>个</a:t>
            </a:r>
            <a:r>
              <a:rPr lang="en-US" altLang="zh-CN" dirty="0"/>
              <a:t>iter</a:t>
            </a:r>
            <a:r>
              <a:rPr lang="zh-CN" altLang="en-US" dirty="0"/>
              <a:t>后的图像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由于这种方法</a:t>
            </a:r>
            <a:r>
              <a:rPr lang="en-US" altLang="zh-CN" dirty="0" err="1"/>
              <a:t>bpp</a:t>
            </a:r>
            <a:r>
              <a:rPr lang="zh-CN" altLang="en-US" dirty="0"/>
              <a:t>极小（</a:t>
            </a:r>
            <a:r>
              <a:rPr lang="en-US" altLang="zh-CN" dirty="0"/>
              <a:t>0.03</a:t>
            </a:r>
            <a:r>
              <a:rPr lang="zh-CN" altLang="en-US" dirty="0"/>
              <a:t>）导致</a:t>
            </a:r>
            <a:r>
              <a:rPr lang="en-US" altLang="zh-CN" dirty="0" err="1"/>
              <a:t>psnr</a:t>
            </a:r>
            <a:r>
              <a:rPr lang="zh-CN" altLang="en-US" dirty="0"/>
              <a:t>较低且上升趋向很弱。</a:t>
            </a:r>
          </a:p>
        </p:txBody>
      </p:sp>
    </p:spTree>
    <p:extLst>
      <p:ext uri="{BB962C8B-B14F-4D97-AF65-F5344CB8AC3E}">
        <p14:creationId xmlns:p14="http://schemas.microsoft.com/office/powerpoint/2010/main" val="390966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E89CE3-01D3-D5B2-EB1D-8CEB48C9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0DB6B0F-4451-7C67-CFE9-A41230D457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91910" y="1743982"/>
            <a:ext cx="4970047" cy="280551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FC07198F-A745-326C-D259-3F09863EBD8A}"/>
              </a:ext>
            </a:extLst>
          </p:cNvPr>
          <p:cNvSpPr txBox="1"/>
          <p:nvPr/>
        </p:nvSpPr>
        <p:spPr>
          <a:xfrm>
            <a:off x="6662057" y="1975757"/>
            <a:ext cx="373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你能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B9D2E74-026A-5601-2482-202D930BA4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131" y="3010579"/>
            <a:ext cx="4370312" cy="2731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378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5A4F13-D31E-517C-1AE0-42D40EB00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sz="3200" dirty="0"/>
              <a:t>Masked Bernoulli Diffusion</a:t>
            </a:r>
            <a:endParaRPr lang="zh-CN" altLang="en-US" sz="32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29D5B6-7163-30E0-7478-C8A8F1426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400" dirty="0"/>
              <a:t>结构：</a:t>
            </a:r>
            <a:r>
              <a:rPr lang="zh-CN" altLang="zh-CN" sz="2400" dirty="0"/>
              <a:t>先用autoencoder把图像压缩到binary latent表示，再在这个binary latent空间上用Bernoulli噪声schedule训练diffusion模型，用去噪过程中bit翻转概率高的位置来识别异常区域。</a:t>
            </a:r>
            <a:endParaRPr lang="en-US" altLang="zh-CN" sz="2400" dirty="0"/>
          </a:p>
          <a:p>
            <a:r>
              <a:rPr lang="zh-CN" altLang="zh-CN" sz="2400" dirty="0"/>
              <a:t>MICCAI</a:t>
            </a:r>
            <a:r>
              <a:rPr lang="zh-CN" altLang="en-US" sz="2400" dirty="0"/>
              <a:t>：</a:t>
            </a:r>
            <a:r>
              <a:rPr lang="zh-CN" altLang="zh-CN" sz="2400" b="1" dirty="0"/>
              <a:t>无监督异常检测</a:t>
            </a:r>
            <a:r>
              <a:rPr lang="zh-CN" altLang="zh-CN" sz="2400" dirty="0"/>
              <a:t>，异常是自然发生的病变，目标是定位哪些区域异常</a:t>
            </a:r>
            <a:r>
              <a:rPr lang="zh-CN" altLang="en-US" sz="2400" dirty="0"/>
              <a:t>，</a:t>
            </a:r>
            <a:r>
              <a:rPr lang="zh-CN" altLang="zh-CN" sz="2400" dirty="0"/>
              <a:t>不需要修复图像。</a:t>
            </a:r>
          </a:p>
          <a:p>
            <a:r>
              <a:rPr lang="zh-CN" altLang="en-US" sz="2400" b="1" dirty="0"/>
              <a:t>我们的</a:t>
            </a:r>
            <a:r>
              <a:rPr lang="zh-CN" altLang="zh-CN" sz="2400" b="1" dirty="0"/>
              <a:t>对抗样本净化</a:t>
            </a:r>
            <a:r>
              <a:rPr lang="zh-CN" altLang="zh-CN" sz="2400" dirty="0"/>
              <a:t>，异常是人为注入的对抗扰动，目标是恢复干净图像送给分类器。</a:t>
            </a:r>
            <a:r>
              <a:rPr lang="zh-CN" altLang="en-US" sz="2400" dirty="0"/>
              <a:t>我们</a:t>
            </a:r>
            <a:r>
              <a:rPr lang="zh-CN" altLang="zh-CN" sz="2400" dirty="0"/>
              <a:t>需要的不只是检测哪些bit被扰动了，还需要把它们恢复回正确的值。这是一个更强的任务要求。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42621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8C4260-C284-1C0B-31CD-1578AE557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E07A05-41BB-8333-86AF-F2B869AE3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zh-CN" dirty="0"/>
              <a:t>MICCAI论文提出的masking算法，基于这些翻转概率提出了一种masking算法来改善异常检测分数。可以把类似的masking机制引入反向去噪过程，优先修复高翻转概率的bit，低翻转概率的bit保持不变，从而在净化对抗扰动的同时更好地保留语义信息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0638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1525</TotalTime>
  <Words>529</Words>
  <Application>Microsoft Office PowerPoint</Application>
  <PresentationFormat>宽屏</PresentationFormat>
  <Paragraphs>33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等线</vt:lpstr>
      <vt:lpstr>等线 Light</vt:lpstr>
      <vt:lpstr>Arial</vt:lpstr>
      <vt:lpstr>Office 主题​​</vt:lpstr>
      <vt:lpstr>Binary latent diffusion</vt:lpstr>
      <vt:lpstr>二元潜在空间</vt:lpstr>
      <vt:lpstr>PowerPoint 演示文稿</vt:lpstr>
      <vt:lpstr>PowerPoint 演示文稿</vt:lpstr>
      <vt:lpstr>Masked Bernoulli Diffusion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Terrsa X</dc:creator>
  <cp:lastModifiedBy>Terrsa X</cp:lastModifiedBy>
  <cp:revision>4</cp:revision>
  <dcterms:created xsi:type="dcterms:W3CDTF">2026-07-03T07:26:28Z</dcterms:created>
  <dcterms:modified xsi:type="dcterms:W3CDTF">2026-07-05T12:29:24Z</dcterms:modified>
</cp:coreProperties>
</file>