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BE411-BF03-E4B6-822C-0284D8853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A113F1-F196-A5D8-F059-264879510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5E87F-9651-D7C1-8CF4-94CBF7DD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BC13CB-21C1-2031-ED13-3B097397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95BF7-492F-9A7C-7DE4-9F05DCA0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8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0879A-DAFE-92FB-4462-C3592AA6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4BD8E2-9DBA-B799-2FCF-5DD526AAA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7B9244-DE80-E202-D573-988466EF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B54BB-EAE4-86C4-D076-6B273CB5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8500B7-623D-A0D5-D37F-FD9A825E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29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7BE99-BC09-C485-3438-B5018EFE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6F9E4-C4EE-9C8A-D2DB-42B813068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E3E1E-96ED-1572-739F-0573D201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27377-2F3F-178F-F423-DA0ED791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EDDAB-9968-38FE-B0EF-FDD7C066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63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DDD7B-3A45-EF2F-C976-0E039756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1F87A4-D88E-BF3B-957A-35C153044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7D376-5836-AB7F-1042-107781E7B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1E5AA1-F684-930F-2467-1E63A523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83EA6B-87CF-9DBA-484F-B3E038BC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BC3CF-722D-8B1C-D1D7-4840CF97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435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08B02-B57F-FDE9-C197-D40A26ED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4FF8DD-E8DE-5856-07B9-97053B29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23C6DB-E7DF-0C65-19C4-457594A9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E86E1B-D5C2-1161-AB0F-F4D7E91CA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C2DC11-8962-0E6A-44FB-8DFD03D1D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F944FE-2018-62DD-C25C-E79294C03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FB1374-D4B0-059D-5A71-98BF2599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526750-1A7B-B2C5-990B-1FF19E11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67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8826F-4DEE-9600-061E-9B9CD2B5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ABFBB3-F93F-D2E1-6064-7A7F2ED0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BF3441-381F-2D3E-D3D7-4B7621CAF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0466C0-1FBF-15B3-237F-5E3ED122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63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AB402A-76F8-0F16-B647-8854A8DF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4B968E-059A-F529-8F37-C0C40D4C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E70A4C-1495-D82F-B637-96379FA8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2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A18E3-59A5-C7C1-50D5-98A467EA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EE5DC3-BADB-D60B-F218-09C882D98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AED007-0359-F579-29A7-ABCE872C3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9EE20D-2289-D538-1511-3AA2FD0C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66C40A-0DE8-4D5F-0CDD-FC0CB86F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02CA30-9FB6-D933-7DEB-C5712EAB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94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40D4C-C4AE-3D05-19A1-2E229D0C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84C125-172D-B9A3-5D0D-D3B243480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AD921-01C5-7557-0E7E-C98E2B821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5A1A6B-0C05-B91D-56ED-AFF89E12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7A02ED-F799-0F90-0835-7691AEE0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09A25-7F8C-8919-3953-D801EE07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22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D6492-19D2-BF0A-4297-8B787269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31E415-CB32-82DE-7FC3-F43108067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E097A4-DC5F-1DBA-0486-C9166E0C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355E9-3F79-A62A-09AB-04F7CDDC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6E0AE-69AA-56B0-55B4-0C216F42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89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FCE73B-D382-CCD2-2E74-BA81C3E62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AF11E8-88A3-06CF-0FD9-DF5F74CB9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44061-096D-A696-DE08-DCE6D2BE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C301E-AC98-61E8-A88A-D92E4846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90F13-0C19-1AB7-B9AE-2D7C1818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6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769267-AA70-A076-B102-B844A9F6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086F9-1D3F-C358-7DC0-33C7EA11B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5D1DED-D2C9-D935-D30C-C468F171E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E594B-726D-439D-AD90-42485E72686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FD1DA-D25E-5413-43A0-D6AE90882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7DD585-3586-5F44-821C-1CBA83189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A66B-6174-47D8-BD51-CAEDF3529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15038-9967-EE8E-F5AE-8A4ED140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对抗攻击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29080-1BAC-5ED8-25BF-07EBF0FD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给神经网络施加一个小的扰动，使神经网络发生错误。</a:t>
            </a:r>
            <a:endParaRPr lang="en-US" altLang="zh-CN" dirty="0"/>
          </a:p>
          <a:p>
            <a:r>
              <a:rPr lang="en-US" altLang="zh-CN" dirty="0"/>
              <a:t>FGSM:</a:t>
            </a:r>
            <a:r>
              <a:rPr lang="zh-CN" altLang="en-US" dirty="0"/>
              <a:t>先取损失对输入图像的梯度，再在梯度方向上施加扰动，让损失变大，模型效果变差。</a:t>
            </a:r>
            <a:endParaRPr lang="en-US" altLang="zh-CN" dirty="0"/>
          </a:p>
          <a:p>
            <a:r>
              <a:rPr lang="zh-CN" altLang="en-US" dirty="0"/>
              <a:t>优点：计算一次损失和梯度就可以施加，快而有效，缺点是扰动的大小不好确定。</a:t>
            </a:r>
            <a:endParaRPr lang="en-US" altLang="zh-CN" dirty="0"/>
          </a:p>
          <a:p>
            <a:r>
              <a:rPr lang="en-US" altLang="zh-CN" dirty="0"/>
              <a:t>PGD </a:t>
            </a:r>
            <a:r>
              <a:rPr lang="zh-CN" altLang="en-US" dirty="0"/>
              <a:t>会在一个局部邻域内</a:t>
            </a:r>
            <a:r>
              <a:rPr lang="zh-CN" altLang="en-US" b="1" dirty="0"/>
              <a:t>多步迭代地进行扰动</a:t>
            </a:r>
            <a:r>
              <a:rPr lang="zh-CN" altLang="en-US" dirty="0"/>
              <a:t>，每一步都在当前对抗样本基础上进一步最大化损失，并通过投影确保扰动不会超过指定的上限，从而更有效地逼近最坏情况。</a:t>
            </a:r>
          </a:p>
        </p:txBody>
      </p:sp>
    </p:spTree>
    <p:extLst>
      <p:ext uri="{BB962C8B-B14F-4D97-AF65-F5344CB8AC3E}">
        <p14:creationId xmlns:p14="http://schemas.microsoft.com/office/powerpoint/2010/main" val="112812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6B07964-AAED-CE1C-CAE8-7C2ABAC83D2A}"/>
              </a:ext>
            </a:extLst>
          </p:cNvPr>
          <p:cNvSpPr txBox="1">
            <a:spLocks/>
          </p:cNvSpPr>
          <p:nvPr/>
        </p:nvSpPr>
        <p:spPr>
          <a:xfrm>
            <a:off x="-2539689" y="-2064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400" dirty="0"/>
              <a:t>score based diffusion 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19788A-8D90-DE46-4B1F-6BBAB560921F}"/>
              </a:ext>
            </a:extLst>
          </p:cNvPr>
          <p:cNvSpPr txBox="1"/>
          <p:nvPr/>
        </p:nvSpPr>
        <p:spPr>
          <a:xfrm>
            <a:off x="127421" y="1277729"/>
            <a:ext cx="122251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score: </a:t>
            </a:r>
            <a:r>
              <a:rPr lang="zh-CN" altLang="en-US" sz="2400" dirty="0"/>
              <a:t>概率密度的梯度</a:t>
            </a:r>
            <a:endParaRPr lang="en-US" altLang="zh-CN" sz="2400" dirty="0"/>
          </a:p>
          <a:p>
            <a:r>
              <a:rPr lang="en-US" altLang="zh-CN" sz="2400" dirty="0"/>
              <a:t>   score based diffusion:</a:t>
            </a:r>
            <a:r>
              <a:rPr lang="zh-CN" altLang="en-US" sz="2400" dirty="0"/>
              <a:t> 用 “梯度方向” 把纯噪声一步步变回清晰图像的生成模型</a:t>
            </a:r>
            <a:endParaRPr lang="en-US" altLang="zh-CN" sz="2400" dirty="0"/>
          </a:p>
          <a:p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普通扩散</a:t>
            </a:r>
            <a:r>
              <a:rPr lang="en-US" altLang="zh-CN" sz="2400" dirty="0"/>
              <a:t>(DDPM): </a:t>
            </a:r>
            <a:r>
              <a:rPr lang="zh-CN" altLang="en-US" sz="2400" dirty="0"/>
              <a:t>学习预测噪声</a:t>
            </a:r>
            <a:r>
              <a:rPr lang="en-US" altLang="zh-CN" sz="2400" dirty="0"/>
              <a:t>, </a:t>
            </a:r>
            <a:r>
              <a:rPr lang="zh-CN" altLang="en-US" sz="2400" dirty="0"/>
              <a:t>把噪声减掉就得到清晰图</a:t>
            </a:r>
          </a:p>
          <a:p>
            <a:r>
              <a:rPr lang="en-US" altLang="zh-CN" sz="2400" dirty="0"/>
              <a:t>     Score-Based Diffusion:</a:t>
            </a:r>
            <a:r>
              <a:rPr lang="zh-CN" altLang="en-US" sz="2400" dirty="0"/>
              <a:t> 学习分数 ∇</a:t>
            </a:r>
            <a:r>
              <a:rPr lang="en-US" altLang="zh-CN" sz="2400" dirty="0"/>
              <a:t>log p (x)</a:t>
            </a:r>
            <a:r>
              <a:rPr lang="zh-CN" altLang="en-US" sz="2400" dirty="0"/>
              <a:t> </a:t>
            </a:r>
            <a:r>
              <a:rPr lang="en-US" altLang="zh-CN" sz="2400" dirty="0"/>
              <a:t>, </a:t>
            </a:r>
            <a:r>
              <a:rPr lang="zh-CN" altLang="en-US" sz="2400" dirty="0"/>
              <a:t>沿着概率更高的方向把噪声变成真实样本</a:t>
            </a:r>
            <a:endParaRPr lang="en-US" altLang="zh-CN" sz="2400" dirty="0"/>
          </a:p>
          <a:p>
            <a:endParaRPr lang="zh-CN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不用算复杂概率；</a:t>
            </a:r>
            <a:r>
              <a:rPr lang="en-US" altLang="zh-CN" sz="2400" dirty="0"/>
              <a:t>SDE </a:t>
            </a:r>
            <a:r>
              <a:rPr lang="zh-CN" altLang="en-US" sz="2400" dirty="0"/>
              <a:t>随机微分方程统一所有扩散</a:t>
            </a:r>
            <a:endParaRPr lang="en-US" altLang="zh-CN" sz="2400" dirty="0"/>
          </a:p>
          <a:p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训练方法：去噪分数匹配。模型通过给定带噪声的 </a:t>
            </a:r>
            <a:r>
              <a:rPr lang="en-US" altLang="zh-CN" sz="2400" dirty="0" err="1"/>
              <a:t>x_t</a:t>
            </a:r>
            <a:r>
              <a:rPr lang="zh-CN" altLang="en-US" sz="2400" dirty="0"/>
              <a:t>，预测它的 </a:t>
            </a:r>
            <a:r>
              <a:rPr lang="en-US" altLang="zh-CN" sz="2400" dirty="0"/>
              <a:t>Score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6019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8DCCCB-6E42-431C-BD38-D613CDBB9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diffpure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2DAAE-8370-88DA-D3A6-3B877FE72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扩散模型天生擅长将被噪声污染的图像恢复为原始图像，通过利用改进后的扩散模型，可以把对抗攻击的干扰当作噪声去除。</a:t>
            </a:r>
            <a:endParaRPr lang="en-US" altLang="zh-CN" sz="2400" dirty="0"/>
          </a:p>
          <a:p>
            <a:r>
              <a:rPr lang="en-US" altLang="zh-CN" sz="2400" dirty="0" err="1"/>
              <a:t>Diffpure</a:t>
            </a:r>
            <a:r>
              <a:rPr lang="zh-CN" altLang="en-US" sz="2400" dirty="0"/>
              <a:t>的基础就建立在</a:t>
            </a:r>
            <a:r>
              <a:rPr lang="en-US" altLang="zh-CN" sz="2400" dirty="0"/>
              <a:t>score-based diffusion model</a:t>
            </a:r>
            <a:r>
              <a:rPr lang="zh-CN" altLang="en-US" sz="2400" dirty="0"/>
              <a:t>上：这是一种对概率分布函数</a:t>
            </a:r>
            <a:r>
              <a:rPr lang="en-US" altLang="zh-CN" sz="2400" dirty="0"/>
              <a:t>log</a:t>
            </a:r>
            <a:r>
              <a:rPr lang="zh-CN" altLang="en-US" sz="2400" dirty="0"/>
              <a:t>的梯度进行建模的模型。</a:t>
            </a:r>
            <a:r>
              <a:rPr lang="en-US" altLang="zh-CN" sz="2400" dirty="0" err="1"/>
              <a:t>logp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t</a:t>
            </a:r>
            <a:r>
              <a:rPr lang="en-US" altLang="zh-CN" sz="2400" dirty="0"/>
              <a:t>)</a:t>
            </a:r>
            <a:r>
              <a:rPr lang="zh-CN" altLang="en-US" sz="2400" dirty="0"/>
              <a:t>的梯度，也就是这个情景中的</a:t>
            </a:r>
            <a:r>
              <a:rPr lang="en-US" altLang="zh-CN" sz="2400" dirty="0"/>
              <a:t>score function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这个梯度就像是指向真实图片类型的箭头，逐步引导模型生成更接近真实图片的结果。而</a:t>
            </a:r>
            <a:r>
              <a:rPr lang="en-US" altLang="zh-CN" sz="2400" dirty="0" err="1"/>
              <a:t>diffpure</a:t>
            </a:r>
            <a:r>
              <a:rPr lang="zh-CN" altLang="en-US" sz="2400" dirty="0"/>
              <a:t>会先添加大量噪声淹没对抗攻击带来的扰动，然后利用扩散模型降噪的能力复原图像。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7C04E4-C7C9-1908-61FD-D4348374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89" y="4408792"/>
            <a:ext cx="4786411" cy="208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4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7CC45-8403-B9B6-08F9-70419A6A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信息瓶颈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42273-CA60-CBA9-B738-F68CA8BF1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互信息：两个随机变量中共同保有的信息量，可以用来衡量变量之间的关联性。</a:t>
            </a:r>
            <a:endParaRPr lang="en-US" altLang="zh-CN" dirty="0"/>
          </a:p>
          <a:p>
            <a:r>
              <a:rPr lang="zh-CN" altLang="en-US" dirty="0"/>
              <a:t>率失真理论：尽可能把数据</a:t>
            </a:r>
            <a:r>
              <a:rPr lang="en-US" altLang="zh-CN" dirty="0"/>
              <a:t>x</a:t>
            </a:r>
            <a:r>
              <a:rPr lang="zh-CN" altLang="en-US" dirty="0"/>
              <a:t>压缩到</a:t>
            </a:r>
            <a:r>
              <a:rPr lang="en-US" altLang="zh-CN" dirty="0"/>
              <a:t>z</a:t>
            </a:r>
            <a:r>
              <a:rPr lang="zh-CN" altLang="en-US" dirty="0"/>
              <a:t>并使得</a:t>
            </a:r>
            <a:r>
              <a:rPr lang="en-US" altLang="zh-CN" dirty="0"/>
              <a:t>z</a:t>
            </a:r>
            <a:r>
              <a:rPr lang="zh-CN" altLang="en-US" dirty="0"/>
              <a:t>复原后的结果与原来的</a:t>
            </a:r>
            <a:r>
              <a:rPr lang="en-US" altLang="zh-CN" dirty="0"/>
              <a:t>x</a:t>
            </a:r>
            <a:r>
              <a:rPr lang="zh-CN" altLang="en-US" dirty="0"/>
              <a:t>尽可能接近，类似于</a:t>
            </a:r>
            <a:r>
              <a:rPr lang="en-US" altLang="zh-CN" dirty="0"/>
              <a:t>VAE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信息瓶颈则是多加入了一层目标数据</a:t>
            </a:r>
            <a:r>
              <a:rPr lang="en-US" altLang="zh-CN" dirty="0"/>
              <a:t>y</a:t>
            </a:r>
            <a:r>
              <a:rPr lang="zh-CN" altLang="en-US" dirty="0"/>
              <a:t>，使得</a:t>
            </a:r>
            <a:r>
              <a:rPr lang="en-US" altLang="zh-CN" dirty="0"/>
              <a:t>z</a:t>
            </a:r>
            <a:r>
              <a:rPr lang="zh-CN" altLang="en-US" dirty="0"/>
              <a:t>对</a:t>
            </a:r>
            <a:r>
              <a:rPr lang="en-US" altLang="zh-CN" dirty="0"/>
              <a:t>x</a:t>
            </a:r>
            <a:r>
              <a:rPr lang="zh-CN" altLang="en-US" dirty="0"/>
              <a:t>的压缩效果尽可能高的同时，描述</a:t>
            </a:r>
            <a:r>
              <a:rPr lang="en-US" altLang="zh-CN" dirty="0"/>
              <a:t>y</a:t>
            </a:r>
            <a:r>
              <a:rPr lang="zh-CN" altLang="en-US" dirty="0"/>
              <a:t>的效果也同样尽可能好，即在两个互信息（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）与（</a:t>
            </a:r>
            <a:r>
              <a:rPr lang="en-US" altLang="zh-CN" dirty="0"/>
              <a:t>z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）之间取得一个平衡。</a:t>
            </a:r>
            <a:endParaRPr lang="en-US" altLang="zh-CN" dirty="0"/>
          </a:p>
          <a:p>
            <a:r>
              <a:rPr lang="zh-CN" altLang="en-US" dirty="0"/>
              <a:t>最大化目标函数：</a:t>
            </a:r>
            <a:r>
              <a:rPr lang="en-US" altLang="zh-CN" dirty="0"/>
              <a:t>LIB=I(X;Z)−</a:t>
            </a:r>
            <a:r>
              <a:rPr lang="el-GR" altLang="zh-CN" dirty="0"/>
              <a:t>β⋅</a:t>
            </a:r>
            <a:r>
              <a:rPr lang="en-US" altLang="zh-CN" dirty="0"/>
              <a:t>I(Z;Y)</a:t>
            </a:r>
          </a:p>
          <a:p>
            <a:pPr marL="0" indent="0">
              <a:buNone/>
            </a:pPr>
            <a:r>
              <a:rPr lang="zh-CN" altLang="en-US" dirty="0"/>
              <a:t>   最大化 </a:t>
            </a:r>
            <a:r>
              <a:rPr lang="en-US" altLang="zh-CN" dirty="0"/>
              <a:t>I(Z;Y):</a:t>
            </a:r>
            <a:r>
              <a:rPr lang="zh-CN" altLang="en-US" dirty="0"/>
              <a:t> 中间表示 </a:t>
            </a:r>
            <a:r>
              <a:rPr lang="en-US" altLang="zh-CN" dirty="0"/>
              <a:t>Z </a:t>
            </a:r>
            <a:r>
              <a:rPr lang="zh-CN" altLang="en-US" dirty="0"/>
              <a:t>含有尽可能多的与输出 </a:t>
            </a:r>
            <a:r>
              <a:rPr lang="en-US" altLang="zh-CN" dirty="0"/>
              <a:t>Y </a:t>
            </a:r>
            <a:r>
              <a:rPr lang="zh-CN" altLang="en-US" dirty="0"/>
              <a:t>相关的信息。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最小化 </a:t>
            </a:r>
            <a:r>
              <a:rPr lang="en-US" altLang="zh-CN" dirty="0"/>
              <a:t>I(X;Z)</a:t>
            </a:r>
            <a:r>
              <a:rPr lang="zh-CN" altLang="en-US" dirty="0"/>
              <a:t>：中间表示 </a:t>
            </a:r>
            <a:r>
              <a:rPr lang="en-US" altLang="zh-CN" dirty="0"/>
              <a:t>Z </a:t>
            </a:r>
            <a:r>
              <a:rPr lang="zh-CN" altLang="en-US" dirty="0"/>
              <a:t>不包含过多关于输入 </a:t>
            </a:r>
            <a:r>
              <a:rPr lang="en-US" altLang="zh-CN" dirty="0"/>
              <a:t>X </a:t>
            </a:r>
            <a:r>
              <a:rPr lang="zh-CN" altLang="en-US" dirty="0"/>
              <a:t>的冗余信息。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E8EC7D-48B4-32D6-BB1A-9551B8D5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752" y="75674"/>
            <a:ext cx="2353601" cy="15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7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505</Words>
  <Application>Microsoft Office PowerPoint</Application>
  <PresentationFormat>宽屏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对抗攻击</vt:lpstr>
      <vt:lpstr>PowerPoint 演示文稿</vt:lpstr>
      <vt:lpstr>diffpure</vt:lpstr>
      <vt:lpstr>信息瓶颈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2026-05-13T07:39:07Z</dcterms:created>
  <dcterms:modified xsi:type="dcterms:W3CDTF">2026-05-15T12:36:00Z</dcterms:modified>
</cp:coreProperties>
</file>