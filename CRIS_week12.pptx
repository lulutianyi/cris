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2E581-37A8-70AB-A8F9-355102557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B73F9A-8950-86F6-2145-76EA95A46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AE1F27-40CF-6E08-3EDB-32483620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E38B9-683C-AB91-B1B2-0B70350A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B53337-78AD-2772-89A3-C8A2B883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06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C6C859-2F9A-D743-BF89-8705B36F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C201E-F7DA-DA34-F7DF-9233F18EF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4AC2C5-EDDE-2172-FD4D-5C4E1673C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2A8E9F-2FFB-65A0-4F23-0EFC69E1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ED112E-3DB7-E7DF-0357-42630165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34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03ED9-B4D2-ABB4-B151-331D090BD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0C9918-8399-956F-2707-DD17DC9DB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1DBB69-96A9-3ADA-E57A-3901AD781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DA571-CD6E-34D8-D487-3DB7AA0FF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F3DB55-8CC9-393C-DF9E-6936D927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71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D4109-EADC-E03D-E24E-DD20213D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E7E68A-2B08-F4E2-C4FF-72CC8651B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1D94C7-4AEB-6C54-E53E-2A6AEA4EC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EE848F-0B3E-4AC4-5ED2-5AD2AD538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EB22DA-A65F-0B28-1278-A70DCE809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4233F1-AE3B-8491-97F2-7667268E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89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30F17-3979-83E4-7B42-72E8DCE7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80AF05-5266-6B47-0BBF-E36868306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2735E8-EFA7-CF6A-F887-3B47576C4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2BE724-CB77-2B04-3010-5F6345159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7CA568-03E2-402E-2686-C27B20B80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11A2D1-D4CC-586E-BF84-DA95313E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0A9730-A002-6FAD-2C3A-B92495CCA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BE4C31-0FB3-3ACE-CAC0-6DAF6E10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86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8BE19-159E-34D7-6D3F-CE7A8895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FD1E2E-F296-6B68-37B7-845877119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8B20E11-0F30-FA9A-D65B-DEAFC068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655F84-4485-B7C0-E46D-061334E5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47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655CC0-7C3E-0525-0385-FB32DA85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46073D-2B26-096D-DAA9-7DF239DC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63948F-9827-6278-C99B-2033FC2C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85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DC927-F1A5-BFD1-EE6A-B4C967CD8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35D277-86B3-6114-FE68-87210EA83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10C661-7B2A-98F3-F504-D64E51906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CF69B6-BBB0-E294-8C9F-7E575BC25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203D01-C088-62B9-6779-7A4DBE49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5B3A3F-777B-C369-EFE8-49AC185B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505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4AE81-5B92-6766-5C88-B8D92140F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C44CBC-3848-7789-8F31-4B3171D6B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F83B16-5357-621C-888F-963AFDD4A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A6144C-48D0-2E36-2B5E-91AA0142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FEBC8A-72BD-F268-3442-7B29D9225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74A120-930B-4F90-0D6A-4C54B5FE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511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FC72F-5D09-E2F6-AFF8-D8A2C707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81717D-1503-BDAB-6612-5EF5674E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59F7A-7A8F-28DF-B212-0FE18769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11996-4F3C-5797-EA28-CBB17A8DB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3B9AF2-BD50-3D79-CCFF-E010F23C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09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C3347A8-15C3-8342-F65A-3DFC0BEA1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E4CD0D-6CC8-F63C-6449-DC2D032C3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E6D97A-6ACF-03E8-FDAF-40D750F1D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526956-7DCC-56AE-01D7-2C524AC6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45761A-8768-176E-82EF-1D856677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3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6EA207-EEBA-7BC6-0B76-91B1617F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F73F30-A718-0960-90D5-49853399E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60F38-2B6E-0306-F812-A8AECEAAF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DAFE5-8B83-4320-928F-6D4704D81A98}" type="datetimeFigureOut">
              <a:rPr lang="zh-CN" altLang="en-US" smtClean="0"/>
              <a:t>2026/6/12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0DFD03-CA6C-DDDC-8A56-C2E037C95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D7C1B8-79EB-6E98-7A55-DA08BA66A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A480C-CE99-4C8D-B587-B7CF860CFA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00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zhida.zhihu.com/search?content_id=201760496&amp;content_type=Article&amp;match_order=1&amp;q=SCCTX&amp;zhida_source=entity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4BD00-046B-6F56-3858-A44CD2F347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24227B-215B-3F93-32C7-C5C6DE5232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22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A2032-F0A4-331E-7811-507F9A137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ELIC</a:t>
            </a:r>
            <a:r>
              <a:rPr lang="zh-CN" altLang="en-US" dirty="0"/>
              <a:t>对于传统</a:t>
            </a:r>
            <a:r>
              <a:rPr lang="en-US" altLang="zh-CN" dirty="0"/>
              <a:t>LIC</a:t>
            </a:r>
            <a:r>
              <a:rPr lang="zh-CN" altLang="en-US" dirty="0"/>
              <a:t>的改进：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834D44-8D85-C4BB-B197-4D62AE60B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dirty="0"/>
              <a:t>绝大多数拥有优越性能的LIC方案需要引入自回归模型作为上下文预测模型，这使得解码必须沿空间或通道维度串行执行，无法充分利用硬件的并行计算能力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本论文提出了一种</a:t>
            </a:r>
            <a:r>
              <a:rPr lang="zh-CN" altLang="zh-CN" sz="2000" dirty="0"/>
              <a:t>非均匀分组的空间-通道联合上下文模型（</a:t>
            </a:r>
            <a:r>
              <a:rPr lang="zh-CN" altLang="zh-CN" sz="2000" dirty="0">
                <a:hlinkClick r:id="rId2"/>
              </a:rPr>
              <a:t>SCCTX</a:t>
            </a:r>
            <a:r>
              <a:rPr lang="zh-CN" altLang="zh-CN" sz="2000" dirty="0"/>
              <a:t>），并适当简化了变换网络，得到了可以充分利用并行算力并取得更好率失真性能-速度平衡的编码模型ELIC。</a:t>
            </a:r>
            <a:r>
              <a:rPr lang="zh-CN" altLang="en-US" sz="2000" dirty="0"/>
              <a:t>文章的核心假设在于，空间上下文与通道上下文存在正交性，</a:t>
            </a:r>
            <a:r>
              <a:rPr lang="zh-CN" altLang="zh-CN" sz="2000" dirty="0"/>
              <a:t>将这两个不同维度的上下文模型有机结合后，可以进一步提升其识别隐变量间相关性的能力，从而不需要引入额外计算就可以进一步提升率失真性能。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GDN</a:t>
            </a:r>
            <a:r>
              <a:rPr lang="zh-CN" altLang="en-US" sz="2000" dirty="0"/>
              <a:t>层的替换：文章尝试用可伸缩的卷积残差块替代引入平方根的</a:t>
            </a:r>
            <a:r>
              <a:rPr lang="en-US" altLang="zh-CN" sz="2000" dirty="0"/>
              <a:t>GDN</a:t>
            </a:r>
            <a:r>
              <a:rPr lang="zh-CN" altLang="en-US" sz="2000" dirty="0"/>
              <a:t>层，起到了较好的维护数值稳定性的效果。</a:t>
            </a:r>
            <a:r>
              <a:rPr lang="en-US" altLang="zh-CN" sz="2000" dirty="0"/>
              <a:t>GDN</a:t>
            </a:r>
            <a:r>
              <a:rPr lang="zh-CN" altLang="en-US" sz="2000" dirty="0"/>
              <a:t>类似于逐点注意力机制，而仅通过堆叠残差块也可以实现较好的</a:t>
            </a:r>
            <a:r>
              <a:rPr lang="en-US" altLang="zh-CN" sz="2000" dirty="0"/>
              <a:t>RD</a:t>
            </a:r>
            <a:r>
              <a:rPr lang="zh-CN" altLang="en-US" sz="2000" dirty="0"/>
              <a:t>性能。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5036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F5819D-5555-F673-BD40-E2F6203E5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535EE-3060-1E85-9E64-E1F0452DB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除了</a:t>
            </a:r>
            <a:r>
              <a:rPr lang="en-US" altLang="zh-CN" dirty="0"/>
              <a:t>PSNR</a:t>
            </a:r>
            <a:r>
              <a:rPr lang="zh-CN" altLang="en-US" dirty="0"/>
              <a:t>和</a:t>
            </a:r>
            <a:r>
              <a:rPr lang="en-US" altLang="zh-CN" dirty="0"/>
              <a:t>MS-SSIM</a:t>
            </a:r>
            <a:r>
              <a:rPr lang="zh-CN" altLang="en-US" dirty="0"/>
              <a:t>等指标外，文章使用</a:t>
            </a:r>
            <a:r>
              <a:rPr lang="en-US" altLang="zh-CN" dirty="0"/>
              <a:t>BD</a:t>
            </a:r>
            <a:r>
              <a:rPr lang="zh-CN" altLang="en-US" dirty="0"/>
              <a:t>率来衡量率失真性能。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762179-D7A0-0FF5-89A9-A3EF771E7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42822"/>
            <a:ext cx="5187724" cy="32690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3082BB9-9FC7-D90E-5649-28D9782A6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404" y="2439986"/>
            <a:ext cx="4276725" cy="39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94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3386C-3ECF-BAF3-C1E7-7F0F4818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A5D51E8-5B85-87DD-8EFD-83E1C8C4B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87" y="46789"/>
            <a:ext cx="2922814" cy="23621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3586D5-2BFF-78AE-3111-3D6CAEC26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31" y="2432608"/>
            <a:ext cx="2828925" cy="23233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A53A687-D266-050C-F6E1-41378E474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118" y="2248763"/>
            <a:ext cx="2868882" cy="23604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B50CD1D-BCD7-FD22-9E82-754BF4A6A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956" y="0"/>
            <a:ext cx="2917622" cy="236213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BE1B62B-3D83-0889-8B0C-A3F7BE9EC988}"/>
              </a:ext>
            </a:extLst>
          </p:cNvPr>
          <p:cNvSpPr txBox="1"/>
          <p:nvPr/>
        </p:nvSpPr>
        <p:spPr>
          <a:xfrm>
            <a:off x="6096000" y="2248763"/>
            <a:ext cx="60950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在率失真损失之外加入下游任务的感知损失，能够引导压缩模型保留对该任务有用的特征，而不只是最小化像素级误差。对 </a:t>
            </a:r>
            <a:r>
              <a:rPr lang="en-US" altLang="zh-CN" dirty="0"/>
              <a:t>D-Fire </a:t>
            </a:r>
            <a:r>
              <a:rPr lang="zh-CN" altLang="en-US" dirty="0"/>
              <a:t>来说，火焰边缘和烟雾纹理这些检测关键区域得到了更好的保护。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F5D53D6A-2814-627F-15E6-C70E0D32C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887485"/>
              </p:ext>
            </p:extLst>
          </p:nvPr>
        </p:nvGraphicFramePr>
        <p:xfrm>
          <a:off x="2230304" y="4918653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5284973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46675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334912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最终</a:t>
                      </a:r>
                      <a:r>
                        <a:rPr lang="en-US" altLang="zh-CN" dirty="0" err="1"/>
                        <a:t>bpp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最终</a:t>
                      </a:r>
                      <a:r>
                        <a:rPr lang="en-US" altLang="zh-CN" dirty="0"/>
                        <a:t>PSNR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89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Factorizedprior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0.85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37.5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5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Cheng2020Anchor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82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Cheng2020+</a:t>
                      </a:r>
                      <a:r>
                        <a:rPr lang="zh-CN" altLang="en-US" dirty="0"/>
                        <a:t>检测损失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0.42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512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498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5A7967-F86C-171A-1AD2-F9716500C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9" y="18255"/>
            <a:ext cx="10515600" cy="1325563"/>
          </a:xfrm>
        </p:spPr>
        <p:txBody>
          <a:bodyPr/>
          <a:lstStyle/>
          <a:p>
            <a:r>
              <a:rPr lang="en-US" altLang="zh-CN" dirty="0"/>
              <a:t>MLIC: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F14C8-F7A6-4A74-51A4-951F73B03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4753"/>
            <a:ext cx="5551583" cy="5712486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MLIC</a:t>
            </a:r>
            <a:r>
              <a:rPr lang="zh-CN" altLang="zh-CN" sz="2000" dirty="0"/>
              <a:t>模型通过优化图像的局部特征和全局上下文之间的关系，实现了更为高效的图像压缩。在传统方法中，全局上下文的捕获往往涉及到二次复杂度的时间消耗，而MLIC通过线性复杂度的多参考熵模型，大幅降低了计算成本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D-fire</a:t>
            </a:r>
            <a:r>
              <a:rPr lang="zh-CN" altLang="en-US" sz="2000" dirty="0"/>
              <a:t>数据集第一张图片经过</a:t>
            </a:r>
            <a:r>
              <a:rPr lang="en-US" altLang="zh-CN" sz="2000" dirty="0"/>
              <a:t>MLIC++(q5</a:t>
            </a:r>
            <a:r>
              <a:rPr lang="zh-CN" altLang="en-US" sz="2000" dirty="0"/>
              <a:t>档位，</a:t>
            </a:r>
            <a:r>
              <a:rPr lang="el-GR" altLang="zh-CN" sz="20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λ</a:t>
            </a:r>
            <a:r>
              <a:rPr lang="en-US" altLang="zh-CN" sz="20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=0.0250</a:t>
            </a:r>
            <a:r>
              <a:rPr lang="en-US" altLang="zh-CN" sz="2000" dirty="0">
                <a:ea typeface="Segoe UI Symbol" panose="020B0502040204020203" pitchFamily="34" charset="0"/>
              </a:rPr>
              <a:t>)</a:t>
            </a:r>
            <a:r>
              <a:rPr lang="zh-CN" altLang="en-US" sz="2000" dirty="0">
                <a:latin typeface="+mn-ea"/>
              </a:rPr>
              <a:t>重建结果：</a:t>
            </a:r>
            <a:r>
              <a:rPr lang="zh-CN" altLang="zh-CN" sz="1600" dirty="0"/>
              <a:t>PSNR: 33.92 dB | bpp: 1.0906</a:t>
            </a:r>
          </a:p>
          <a:p>
            <a:r>
              <a:rPr lang="en-US" altLang="zh-CN" sz="2000" dirty="0">
                <a:latin typeface="+mn-ea"/>
              </a:rPr>
              <a:t>50</a:t>
            </a:r>
            <a:r>
              <a:rPr lang="zh-CN" altLang="en-US" sz="2000" dirty="0">
                <a:latin typeface="+mn-ea"/>
              </a:rPr>
              <a:t>张</a:t>
            </a:r>
            <a:r>
              <a:rPr lang="en-US" altLang="zh-CN" sz="2000" dirty="0">
                <a:latin typeface="+mn-ea"/>
              </a:rPr>
              <a:t>D-fire</a:t>
            </a:r>
            <a:r>
              <a:rPr lang="zh-CN" altLang="en-US" sz="2000" dirty="0">
                <a:latin typeface="+mn-ea"/>
              </a:rPr>
              <a:t>数据集图片的基线</a:t>
            </a:r>
            <a:r>
              <a:rPr lang="en-US" altLang="zh-CN" sz="2000" dirty="0">
                <a:latin typeface="+mn-ea"/>
              </a:rPr>
              <a:t>RD</a:t>
            </a:r>
            <a:r>
              <a:rPr lang="zh-CN" altLang="en-US" sz="2000" dirty="0">
                <a:latin typeface="+mn-ea"/>
              </a:rPr>
              <a:t>性能：</a:t>
            </a:r>
            <a:endParaRPr lang="en-US" altLang="zh-CN" sz="2000" dirty="0">
              <a:latin typeface="+mn-ea"/>
            </a:endParaRPr>
          </a:p>
          <a:p>
            <a:r>
              <a:rPr lang="zh-CN" altLang="zh-CN" sz="2000" dirty="0"/>
              <a:t>平均 PSNR: 37.96 dB | 平均 bpp: 0.515</a:t>
            </a:r>
            <a:endParaRPr lang="en-US" altLang="zh-CN" sz="2000" dirty="0"/>
          </a:p>
          <a:p>
            <a:r>
              <a:rPr lang="zh-CN" altLang="en-US" sz="2000" dirty="0">
                <a:latin typeface="+mn-ea"/>
              </a:rPr>
              <a:t>预训练数据：</a:t>
            </a:r>
            <a:r>
              <a:rPr lang="en-US" altLang="zh-CN" sz="2000" dirty="0">
                <a:latin typeface="+mn-ea"/>
              </a:rPr>
              <a:t>DIV2K + Flicker2K + COCO + ImageNet</a:t>
            </a:r>
            <a:r>
              <a:rPr lang="zh-CN" altLang="en-US" sz="2000" dirty="0">
                <a:latin typeface="+mn-ea"/>
              </a:rPr>
              <a:t>（自然图像）</a:t>
            </a:r>
          </a:p>
          <a:p>
            <a:r>
              <a:rPr lang="zh-CN" altLang="en-US" sz="2000" dirty="0">
                <a:latin typeface="+mn-ea"/>
              </a:rPr>
              <a:t>                        ↓ 已训练好的权重</a:t>
            </a:r>
          </a:p>
          <a:p>
            <a:r>
              <a:rPr lang="zh-CN" altLang="en-US" sz="2000" dirty="0">
                <a:latin typeface="+mn-ea"/>
              </a:rPr>
              <a:t>测试数据：</a:t>
            </a:r>
            <a:r>
              <a:rPr lang="en-US" altLang="zh-CN" sz="2000" dirty="0">
                <a:latin typeface="+mn-ea"/>
              </a:rPr>
              <a:t>D-Fire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UAV</a:t>
            </a:r>
            <a:r>
              <a:rPr lang="zh-CN" altLang="en-US" sz="2000" dirty="0">
                <a:latin typeface="+mn-ea"/>
              </a:rPr>
              <a:t>拍摄的火灾</a:t>
            </a:r>
            <a:r>
              <a:rPr lang="en-US" altLang="zh-CN" sz="2000" dirty="0">
                <a:latin typeface="+mn-ea"/>
              </a:rPr>
              <a:t>/</a:t>
            </a:r>
            <a:r>
              <a:rPr lang="zh-CN" altLang="en-US" sz="2000" dirty="0">
                <a:latin typeface="+mn-ea"/>
              </a:rPr>
              <a:t>烟雾图像）</a:t>
            </a:r>
          </a:p>
          <a:p>
            <a:r>
              <a:rPr lang="zh-CN" altLang="en-US" sz="2000" dirty="0">
                <a:latin typeface="+mn-ea"/>
              </a:rPr>
              <a:t>                        ↓ 直接推理，没有</a:t>
            </a:r>
            <a:r>
              <a:rPr lang="en-US" altLang="zh-CN" sz="2000" dirty="0">
                <a:latin typeface="+mn-ea"/>
              </a:rPr>
              <a:t>fine-tune</a:t>
            </a:r>
          </a:p>
          <a:p>
            <a:r>
              <a:rPr lang="zh-CN" altLang="en-US" sz="2000" dirty="0">
                <a:latin typeface="+mn-ea"/>
              </a:rPr>
              <a:t>结果：</a:t>
            </a:r>
            <a:r>
              <a:rPr lang="en-US" altLang="zh-CN" sz="2000" dirty="0">
                <a:latin typeface="+mn-ea"/>
              </a:rPr>
              <a:t>37.96 dB  0.515 </a:t>
            </a:r>
            <a:r>
              <a:rPr lang="en-US" altLang="zh-CN" sz="2000" dirty="0" err="1">
                <a:latin typeface="+mn-ea"/>
              </a:rPr>
              <a:t>bpp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24E901-FF3B-80C3-9C4B-31BABCB29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478" y="1690688"/>
            <a:ext cx="4856322" cy="442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70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443</Words>
  <Application>Microsoft Office PowerPoint</Application>
  <PresentationFormat>宽屏</PresentationFormat>
  <Paragraphs>30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Segoe UI Symbol</vt:lpstr>
      <vt:lpstr>Office 主题​​</vt:lpstr>
      <vt:lpstr>PowerPoint 演示文稿</vt:lpstr>
      <vt:lpstr>ELIC对于传统LIC的改进：</vt:lpstr>
      <vt:lpstr>PowerPoint 演示文稿</vt:lpstr>
      <vt:lpstr>PowerPoint 演示文稿</vt:lpstr>
      <vt:lpstr>MLIC: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4</cp:revision>
  <dcterms:created xsi:type="dcterms:W3CDTF">2026-06-09T12:41:08Z</dcterms:created>
  <dcterms:modified xsi:type="dcterms:W3CDTF">2026-06-12T12:26:44Z</dcterms:modified>
</cp:coreProperties>
</file>