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72" r:id="rId11"/>
    <p:sldId id="275" r:id="rId12"/>
    <p:sldId id="27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F0299-5FA8-5743-AC23-5DFABE696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98D22B-A979-1616-0285-2E0069465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CFA75-D22F-6F16-B54E-A1B7E18A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482F2D-26B0-C0E6-577B-C699B9C0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D7E13-A917-1C93-FB81-499B30B9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46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B7B96-7E93-7D3C-CFB6-4A89CC09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510CE-C3B7-EE1D-AEB5-3CDA2639C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393F1-3802-2CAF-1F8D-6B67B1CF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9A4C2-60CF-3D04-AD5E-99404EF5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56A098-415E-2A3B-53FC-D044A7AB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88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13DB9-D686-2FA6-A79C-31AA2D51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C08D0E-7E2F-EC5B-42B1-9A3452A42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1D46B1-9506-B569-0AFD-3960E170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03018-D313-D75D-95C5-65C25DB9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B5DCFF-6895-62F0-4F66-64062F79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2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D66C4-4A9F-3C46-5070-92D0CBCC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7359F-74A6-B0EB-6A2F-1E38F01F7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5D4C44-2C96-39CC-AFAC-F0E73819E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8C7300-9126-9F17-915A-6D6B79E1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E76CD7-7145-D9C1-EC84-7735A74D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7418B7-B221-C2B0-C415-63342A71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4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BBCD5-CFDA-9C40-FD05-10535F53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E6760A-F226-9390-F44E-A288BED18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193BBC-0E0B-79F6-82A0-51ED77BD9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8155D0-DE46-0157-BD25-B196E13A7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D78D83-E5E5-6CA8-D50B-510CF75EC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B7B396-1863-DF0B-16CA-21644473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829868-31A3-0BC5-149D-BBF4A941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0DFA77-E8DF-DDBE-2F45-6F3747F1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23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68231-8C98-6856-6F80-6AD46663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22C9D6-00EE-C796-F492-CCEB6BD8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1F8488-317E-1C58-4E50-59F655F8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1E46DA-A943-1EC3-2E12-B064749A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4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65E6D0-5D2C-F910-3203-D347CC56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DF9C3A-9E30-79EF-F59C-AD453F03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B0680F-739C-5CEF-096B-C7A85008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1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E72EB-26C8-5668-23C1-0A8FAB14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85188-6D4D-D1EA-7925-A009F2C2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97745F-0DA9-E026-278A-FAE24AFC8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7433B7-B045-E7A2-AD04-11D0C4FA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DD5841-0DE6-5259-64A3-004D19FA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6C8CB7-B90C-364E-3869-3A4B8A51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43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4BD14-7DA5-6873-BFE5-671EA5F9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FB5F9F-CC8B-E3CC-E9C3-E8C2FAC83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DA6189-ED20-36A1-974C-BE948CDB8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17BDF-5CE5-5579-F3D2-CABEF856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A12195-F034-2F90-423E-4E84321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327943-0F25-6EB3-1639-9083450C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01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A3CCC-5B5E-6DFE-C7AD-461DC52C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D671BF-42A4-8CBC-71DB-A9CE14FF1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5480E-3D09-1F1E-8BAE-E3C1A276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6D258-1873-C672-69E0-972F9148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3E3054-3D5B-0E8E-60B4-5461C31F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17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29F0C3-4E9B-6BEC-50C8-99AD39734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FA6DDA-85C2-5158-80E6-424150F0F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A99CC-C6DF-CB4B-D513-ABE84675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E3664-945B-8165-8F14-86569C39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10830-5CA0-35B3-3D4A-5EB73F51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47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B0A123-9E25-19D9-F3B3-4B1F1B8B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BBD76-B72C-C0D3-4EA9-545F6870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0A9345-320D-A80E-7DA4-0916EC2F0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E9683-99FD-4A6F-8BB5-F0BD95D3FD2B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6AEF-6820-6F8D-C3FC-F8C7FEE8B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ADCFC-14A7-519D-C95D-F895ACA03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1CA94-C6B2-407C-8F63-638E243A58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8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K-means" TargetMode="External"/><Relationship Id="rId2" Type="http://schemas.openxmlformats.org/officeDocument/2006/relationships/hyperlink" Target="https://zh.wikipedia.org/wiki/%E8%81%9A%E9%A1%9E%E5%88%86%E6%9E%9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60104-CCED-9C69-18B3-E15FD1D250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图片压缩的各种方法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D7C521-832B-5738-F63E-42795A008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88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70880-06AA-07DF-EBC7-211A0EC1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07" y="0"/>
            <a:ext cx="10515600" cy="1325563"/>
          </a:xfrm>
        </p:spPr>
        <p:txBody>
          <a:bodyPr/>
          <a:lstStyle/>
          <a:p>
            <a:r>
              <a:rPr lang="zh-CN" altLang="en-US" dirty="0"/>
              <a:t>空间域压缩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C4D2B0-86A2-7DFA-5CB8-9920F814E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下采样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降低图像数据维度和分辨率，类似于生成缩略图，通过聚合局部区域信息，用更少的像素表示原始区域特征。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数学表达为将分辨率为</a:t>
            </a:r>
            <a:r>
              <a:rPr lang="en-US" altLang="zh-CN" sz="2000" dirty="0"/>
              <a:t>H*W</a:t>
            </a:r>
            <a:r>
              <a:rPr lang="zh-CN" altLang="en-US" sz="2000" dirty="0"/>
              <a:t>的输入进行</a:t>
            </a:r>
            <a:r>
              <a:rPr lang="en-US" altLang="zh-CN" sz="2000" dirty="0"/>
              <a:t>1/n</a:t>
            </a:r>
            <a:r>
              <a:rPr lang="zh-CN" altLang="en-US" sz="2000" dirty="0"/>
              <a:t>倍下采样，输出分辨率为</a:t>
            </a:r>
            <a:r>
              <a:rPr lang="en-US" altLang="zh-CN" sz="2000" dirty="0"/>
              <a:t>H/n*W/n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局限性：会造成细节信息丧失和锐度下降</a:t>
            </a:r>
            <a:endParaRPr lang="en-US" altLang="zh-CN" sz="2000" dirty="0"/>
          </a:p>
          <a:p>
            <a:r>
              <a:rPr lang="zh-CN" altLang="en-US" dirty="0"/>
              <a:t>传统预测编码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增量编码（</a:t>
            </a:r>
            <a:r>
              <a:rPr lang="en-US" altLang="zh-CN" sz="2000" dirty="0"/>
              <a:t>DM</a:t>
            </a:r>
            <a:r>
              <a:rPr lang="zh-CN" altLang="en-US" sz="2000" dirty="0"/>
              <a:t>）在存储数据时，通过记录相邻数据之间的差异来替代完整数据的存储，适用于数据变化相对较小的情况。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差分脉冲编码调制（</a:t>
            </a:r>
            <a:r>
              <a:rPr lang="en-US" altLang="zh-CN" sz="2000" dirty="0"/>
              <a:t>DPCM</a:t>
            </a:r>
            <a:r>
              <a:rPr lang="zh-CN" altLang="en-US" sz="2000" dirty="0"/>
              <a:t>）在</a:t>
            </a:r>
            <a:r>
              <a:rPr lang="en-US" altLang="zh-CN" sz="2000" dirty="0"/>
              <a:t>DPCM</a:t>
            </a:r>
            <a:r>
              <a:rPr lang="zh-CN" altLang="en-US" sz="2000" dirty="0"/>
              <a:t>里，实际之取样值与预测值相减得一误差值，此误差值在经过量化与编码后送出。和</a:t>
            </a:r>
            <a:r>
              <a:rPr lang="en-US" altLang="zh-CN" sz="2000" dirty="0"/>
              <a:t>Delta</a:t>
            </a:r>
            <a:r>
              <a:rPr lang="zh-CN" altLang="en-US" sz="2000" dirty="0"/>
              <a:t>编码不同的是，</a:t>
            </a:r>
            <a:r>
              <a:rPr lang="en-US" altLang="zh-CN" sz="2000" dirty="0"/>
              <a:t>DPCM</a:t>
            </a:r>
            <a:r>
              <a:rPr lang="zh-CN" altLang="en-US" sz="2000" dirty="0"/>
              <a:t>使用较精确的预测器而且他的输出也不再是只有两种值。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局限性：预测编码默认信号是平滑变化的，在物体边界或高频纹理处预测的残差值会很大。量化过程中如果出现误差，也会一步步逐渐累积导致图像出现偏移。</a:t>
            </a:r>
          </a:p>
        </p:txBody>
      </p:sp>
    </p:spTree>
    <p:extLst>
      <p:ext uri="{BB962C8B-B14F-4D97-AF65-F5344CB8AC3E}">
        <p14:creationId xmlns:p14="http://schemas.microsoft.com/office/powerpoint/2010/main" val="351657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4F6AF-9D3F-E2E6-AEAD-DE3B2E8B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变换域压缩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FE6CA-65C1-1A9C-3F18-9A2B222E0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变换域的技术本质是将图像从像素、灰度直接表征的空间域转换到数学变换域，通过凸显图像的频率特征、稀疏性等内在规律，实现数据压缩、特征提取等任务。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离散余弦变化（</a:t>
            </a:r>
            <a:r>
              <a:rPr lang="en-US" altLang="zh-CN" sz="2000" dirty="0"/>
              <a:t>DCT</a:t>
            </a:r>
            <a:r>
              <a:rPr lang="zh-CN" altLang="en-US" sz="2000" dirty="0"/>
              <a:t>）：</a:t>
            </a:r>
            <a:r>
              <a:rPr lang="en-US" altLang="zh-CN" sz="2000" dirty="0"/>
              <a:t>DCT </a:t>
            </a:r>
            <a:r>
              <a:rPr lang="zh-CN" altLang="en-US" sz="2000" dirty="0"/>
              <a:t>将图像分解为不同频率的</a:t>
            </a:r>
            <a:r>
              <a:rPr lang="zh-CN" altLang="en-US" sz="2000" b="1" dirty="0"/>
              <a:t>余弦波</a:t>
            </a:r>
            <a:r>
              <a:rPr lang="zh-CN" altLang="en-US" sz="2000" dirty="0"/>
              <a:t>组合。它的一大特性是“能量集中”，即图像的大部分重要信息（低频部分）会聚集在变换后矩阵的左上角，而右下角的高频细节通常趋于零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小波变换：与 </a:t>
            </a:r>
            <a:r>
              <a:rPr lang="en-US" altLang="zh-CN" sz="2000" dirty="0"/>
              <a:t>DCT </a:t>
            </a:r>
            <a:r>
              <a:rPr lang="zh-CN" altLang="en-US" sz="2000" dirty="0"/>
              <a:t>使用无限长的余弦波不同，</a:t>
            </a:r>
            <a:r>
              <a:rPr lang="en-US" altLang="zh-CN" sz="2000" dirty="0"/>
              <a:t>DWT </a:t>
            </a:r>
            <a:r>
              <a:rPr lang="zh-CN" altLang="en-US" sz="2000" dirty="0"/>
              <a:t>使用的是</a:t>
            </a:r>
            <a:r>
              <a:rPr lang="zh-CN" altLang="en-US" sz="2000" b="1" dirty="0"/>
              <a:t>有限长、可缩放的“小波”</a:t>
            </a:r>
            <a:r>
              <a:rPr lang="zh-CN" altLang="en-US" sz="2000" dirty="0"/>
              <a:t>。它通过高通和低通滤波器，将图像递归地分解为：低频近似（</a:t>
            </a:r>
            <a:r>
              <a:rPr lang="en-US" altLang="zh-CN" sz="2000" dirty="0"/>
              <a:t>LL</a:t>
            </a:r>
            <a:r>
              <a:rPr lang="zh-CN" altLang="en-US" sz="2000" dirty="0"/>
              <a:t>）和三个方向的高频细节（</a:t>
            </a:r>
            <a:r>
              <a:rPr lang="en-US" altLang="zh-CN" sz="2000" dirty="0"/>
              <a:t>LH, HL, HH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FFT</a:t>
            </a:r>
            <a:r>
              <a:rPr lang="zh-CN" altLang="en-US" sz="2000" dirty="0"/>
              <a:t>变换：</a:t>
            </a:r>
            <a:r>
              <a:rPr lang="en-US" altLang="zh-CN" sz="2000" dirty="0"/>
              <a:t>FFT </a:t>
            </a:r>
            <a:r>
              <a:rPr lang="zh-CN" altLang="en-US" sz="2000" dirty="0"/>
              <a:t>是傅里叶变换（</a:t>
            </a:r>
            <a:r>
              <a:rPr lang="en-US" altLang="zh-CN" sz="2000" dirty="0"/>
              <a:t>DFT</a:t>
            </a:r>
            <a:r>
              <a:rPr lang="zh-CN" altLang="en-US" sz="2000" dirty="0"/>
              <a:t>）的高效实现，它将图像分解为</a:t>
            </a:r>
            <a:r>
              <a:rPr lang="zh-CN" altLang="en-US" sz="2000" b="1" dirty="0"/>
              <a:t>复数形式的正弦和余弦波</a:t>
            </a:r>
            <a:r>
              <a:rPr lang="zh-CN" altLang="en-US" sz="2000" dirty="0"/>
              <a:t>。它产生的是复数结果（实部和虚部，或者幅度和相位）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952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0BCAC-897F-6337-B686-5353D23C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6F349BF-DFCC-8F82-65A4-43790B1B5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154942"/>
              </p:ext>
            </p:extLst>
          </p:nvPr>
        </p:nvGraphicFramePr>
        <p:xfrm>
          <a:off x="838200" y="2096294"/>
          <a:ext cx="10515600" cy="3535680"/>
        </p:xfrm>
        <a:graphic>
          <a:graphicData uri="http://schemas.openxmlformats.org/drawingml/2006/table">
            <a:tbl>
              <a:tblPr/>
              <a:tblGrid>
                <a:gridCol w="2505456">
                  <a:extLst>
                    <a:ext uri="{9D8B030D-6E8A-4147-A177-3AD203B41FA5}">
                      <a16:colId xmlns:a16="http://schemas.microsoft.com/office/drawing/2014/main" val="1006891476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32638622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536159029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960357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特性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DCT (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离散余弦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DWT (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小波变换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FFT (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傅里叶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874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基础函数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实数余弦波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紧支撑小波（可伸缩）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复数正余弦波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176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能量集中度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极高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（最适合有损压缩）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高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中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06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处理单位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分块处理（通常 </a:t>
                      </a: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8*8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全图迭代处理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通常全图处理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0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视觉缺陷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压缩过高会出现“方块效应”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压缩过高会出现“光晕</a:t>
                      </a:r>
                      <a:r>
                        <a:rPr lang="en-US" altLang="zh-C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模糊”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容易出现“振铃效应”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60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计算复杂度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中等（硬件加速成熟）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较高（涉及多级滤波）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较低（算法极其成熟）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52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主要优势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去相关性强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，标准统一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多分辨率特性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，无方块感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适合全局频率特征分析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86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0DB58-3266-A6CD-2749-05A6E2F5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熵编码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AB277-A7EC-FC38-1FAF-B8DF04169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dirty="0"/>
              <a:t>霍夫曼编码：出现频率越高的字符用越短的二进制编码，出现频率越低的字符，用越长的二进制编码。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在图片压缩中，可以推导为：出现频率越高的像素分配越短的二进制编码（如无人机拍摄大片绿地时，可以用比特</a:t>
            </a:r>
            <a:r>
              <a:rPr lang="en-US" altLang="zh-CN" sz="2400" dirty="0"/>
              <a:t>01</a:t>
            </a:r>
            <a:r>
              <a:rPr lang="zh-CN" altLang="en-US" sz="2400" dirty="0"/>
              <a:t>代表绿色</a:t>
            </a:r>
            <a:r>
              <a:rPr lang="en-US" altLang="zh-CN" sz="2400" dirty="0"/>
              <a:t>)</a:t>
            </a:r>
            <a:r>
              <a:rPr lang="zh-CN" altLang="en-US" sz="2400" dirty="0"/>
              <a:t>，偶然出现的噪点和异物用长编码。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算术编码：不是为每个符号分配独立的码字，而是将整个符号序列映射为 </a:t>
            </a:r>
            <a:r>
              <a:rPr lang="en-US" altLang="zh-CN" sz="2400" dirty="0"/>
              <a:t>[0,1) </a:t>
            </a:r>
            <a:r>
              <a:rPr lang="zh-CN" altLang="en-US" sz="2400" dirty="0"/>
              <a:t>区间内的一个小数。根据符号的概率分配区间，高频符号占据更大的区间，低频符号占据更小的区间。编码过程中不断缩小区间，最终得到一个唯一表示整个序列的小数。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局限性：对硬件要求较高，会受到物理层面的限制。霍夫曼编码的概率分布统计会造成额外开销。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5073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13823-F8D3-A345-E2DB-47883327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无人机交流中的具体应用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48179-9EFE-5840-9794-98EC28D2F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在实际的无人机图传系统中，霍夫曼编码通常不是独立存在的，而是作为整个压缩链路的</a:t>
            </a:r>
            <a:r>
              <a:rPr lang="zh-CN" altLang="en-US" b="1" dirty="0"/>
              <a:t>最后一步</a:t>
            </a:r>
            <a:r>
              <a:rPr lang="zh-CN" altLang="en-US" dirty="0"/>
              <a:t>：</a:t>
            </a:r>
          </a:p>
          <a:p>
            <a:r>
              <a:rPr lang="zh-CN" altLang="en-US" b="1" dirty="0"/>
              <a:t>预处理（变换与量化）：</a:t>
            </a:r>
            <a:r>
              <a:rPr lang="zh-CN" altLang="en-US" dirty="0"/>
              <a:t> 无人机摄像头捕获图像后，先通过 </a:t>
            </a:r>
            <a:r>
              <a:rPr lang="en-US" altLang="zh-CN" b="1" dirty="0"/>
              <a:t>DCT</a:t>
            </a:r>
            <a:r>
              <a:rPr lang="zh-CN" altLang="en-US" b="1" dirty="0"/>
              <a:t>（离散余弦变换）</a:t>
            </a:r>
            <a:r>
              <a:rPr lang="zh-CN" altLang="en-US" dirty="0"/>
              <a:t> 将像素转为频率系数，再进行</a:t>
            </a:r>
            <a:r>
              <a:rPr lang="zh-CN" altLang="en-US" b="1" dirty="0"/>
              <a:t>量化</a:t>
            </a:r>
            <a:r>
              <a:rPr lang="zh-CN" altLang="en-US" dirty="0"/>
              <a:t>。量化后会产生大量的“</a:t>
            </a:r>
            <a:r>
              <a:rPr lang="en-US" altLang="zh-CN" dirty="0"/>
              <a:t>0”</a:t>
            </a:r>
            <a:r>
              <a:rPr lang="zh-CN" altLang="en-US" dirty="0"/>
              <a:t>和重复的小数字。</a:t>
            </a:r>
          </a:p>
          <a:p>
            <a:r>
              <a:rPr lang="zh-CN" altLang="en-US" b="1" dirty="0"/>
              <a:t>符号化：</a:t>
            </a:r>
            <a:r>
              <a:rPr lang="zh-CN" altLang="en-US" dirty="0"/>
              <a:t> 将量化后的系数排列成序列。此时序列中存在明显的统计分布规律。</a:t>
            </a:r>
          </a:p>
          <a:p>
            <a:r>
              <a:rPr lang="zh-CN" altLang="en-US" b="1" dirty="0"/>
              <a:t>构建霍夫曼树：</a:t>
            </a:r>
            <a:r>
              <a:rPr lang="zh-CN" altLang="en-US" dirty="0"/>
              <a:t> 实时统计当前帧（或一组帧）中各数值出现的频率，构建最优二叉树。</a:t>
            </a:r>
          </a:p>
          <a:p>
            <a:r>
              <a:rPr lang="zh-CN" altLang="en-US" b="1" dirty="0"/>
              <a:t>比特流封装：</a:t>
            </a:r>
            <a:r>
              <a:rPr lang="zh-CN" altLang="en-US" dirty="0"/>
              <a:t> 根据霍夫曼树将图像转换为二进制流，通过无线电链路发送。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210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3AAC9-1414-9244-72C6-1FF7CABC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D1385-501F-6CA0-98CC-CD865B601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矢量量化</a:t>
            </a:r>
            <a:endParaRPr lang="en-US" altLang="zh-CN" dirty="0"/>
          </a:p>
          <a:p>
            <a:r>
              <a:rPr lang="zh-CN" altLang="en-US" sz="2000" dirty="0"/>
              <a:t>借由样本向量的训练来估计密度几率函数。透过分割大数量的资料点</a:t>
            </a:r>
            <a:r>
              <a:rPr lang="en-US" altLang="zh-CN" sz="2000" dirty="0"/>
              <a:t>(</a:t>
            </a:r>
            <a:r>
              <a:rPr lang="zh-CN" altLang="en-US" sz="2000" dirty="0"/>
              <a:t>函数</a:t>
            </a:r>
            <a:r>
              <a:rPr lang="en-US" altLang="zh-CN" sz="2000" dirty="0"/>
              <a:t>)</a:t>
            </a:r>
            <a:r>
              <a:rPr lang="zh-CN" altLang="en-US" sz="2000" dirty="0"/>
              <a:t>，让每个小</a:t>
            </a:r>
            <a:r>
              <a:rPr lang="zh-CN" altLang="en-US" sz="2000" dirty="0">
                <a:hlinkClick r:id="rId2" tooltip="聚类分析"/>
              </a:rPr>
              <a:t>群集</a:t>
            </a:r>
            <a:r>
              <a:rPr lang="zh-CN" altLang="en-US" sz="2000" dirty="0"/>
              <a:t>都有相同的资料点，而这些小群集的所有资料就由其正中央的点作为代表，这点与</a:t>
            </a:r>
            <a:r>
              <a:rPr lang="en-US" altLang="zh-CN" sz="2000" dirty="0">
                <a:hlinkClick r:id="rId3" tooltip="K-means"/>
              </a:rPr>
              <a:t>k-</a:t>
            </a:r>
            <a:r>
              <a:rPr lang="zh-CN" altLang="en-US" sz="2000" dirty="0">
                <a:hlinkClick r:id="rId3" tooltip="K-means"/>
              </a:rPr>
              <a:t>平均算法</a:t>
            </a:r>
            <a:r>
              <a:rPr lang="zh-CN" altLang="en-US" sz="2000" dirty="0"/>
              <a:t>以及其他群集分析的特性相当。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zh-CN" altLang="en-US" sz="2000" dirty="0"/>
              <a:t>缺点：花费在寻找最近的码向量以及计算向量距离的时间多；且压缩后的影像品质与编码     本的好坏关联度大</a:t>
            </a:r>
            <a:endParaRPr lang="en-US" altLang="zh-CN" sz="2000" dirty="0"/>
          </a:p>
          <a:p>
            <a:r>
              <a:rPr lang="zh-CN" altLang="en-US" dirty="0"/>
              <a:t>分形压缩</a:t>
            </a:r>
            <a:endParaRPr lang="en-US" altLang="zh-CN" dirty="0"/>
          </a:p>
          <a:p>
            <a:r>
              <a:rPr lang="zh-CN" altLang="en-US" sz="2000" dirty="0"/>
              <a:t>利用图像整体与部分的自相似性压缩。适用分形压缩的图案的共同特性为，虽然人眼会觉得图片看起来复杂无比，但实际上图片却只包含非常低的资讯量，因此可以经过一个简单的算法产生</a:t>
            </a:r>
            <a:endParaRPr lang="en-US" altLang="zh-CN" sz="2000" dirty="0"/>
          </a:p>
          <a:p>
            <a:r>
              <a:rPr lang="zh-CN" altLang="en-US" sz="2000" dirty="0"/>
              <a:t>缺点：解密速度很快，但加密过程耗费的计算量极大，尤其当影片需要由影碟或文件上下载时，分形压缩更显劣势。</a:t>
            </a:r>
          </a:p>
        </p:txBody>
      </p:sp>
    </p:spTree>
    <p:extLst>
      <p:ext uri="{BB962C8B-B14F-4D97-AF65-F5344CB8AC3E}">
        <p14:creationId xmlns:p14="http://schemas.microsoft.com/office/powerpoint/2010/main" val="2348477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F53C7-3187-66AB-9348-9B5B8DA1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深度学习压缩算法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22781FF-59C3-E5FD-13BC-40323C403B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48694"/>
          <a:ext cx="10515600" cy="3505200"/>
        </p:xfrm>
        <a:graphic>
          <a:graphicData uri="http://schemas.openxmlformats.org/drawingml/2006/table">
            <a:tbl>
              <a:tblPr/>
              <a:tblGrid>
                <a:gridCol w="3289126">
                  <a:extLst>
                    <a:ext uri="{9D8B030D-6E8A-4147-A177-3AD203B41FA5}">
                      <a16:colId xmlns:a16="http://schemas.microsoft.com/office/drawing/2014/main" val="223582819"/>
                    </a:ext>
                  </a:extLst>
                </a:gridCol>
                <a:gridCol w="3289126">
                  <a:extLst>
                    <a:ext uri="{9D8B030D-6E8A-4147-A177-3AD203B41FA5}">
                      <a16:colId xmlns:a16="http://schemas.microsoft.com/office/drawing/2014/main" val="2186927511"/>
                    </a:ext>
                  </a:extLst>
                </a:gridCol>
                <a:gridCol w="3937348">
                  <a:extLst>
                    <a:ext uri="{9D8B030D-6E8A-4147-A177-3AD203B41FA5}">
                      <a16:colId xmlns:a16="http://schemas.microsoft.com/office/drawing/2014/main" val="415217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类别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代表算法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项目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核心局限性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缺点</a:t>
                      </a:r>
                      <a:endParaRPr lang="zh-CN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501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卷积自编码器 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CNN-based)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Ballé, Cheng2020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感受野有限，对全局结构的捕捉能力弱，容易在边缘产生模糊。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0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注意力机制 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Attention)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Cheng2020, ELIC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计算开销极大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。虽然指标好，但推理速度慢，难以在移动端实时运行。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34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隐式表示 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INR-based)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NeRV, COOL-CHIC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编码速度极慢</a:t>
                      </a:r>
                      <a:r>
                        <a:rPr lang="zh-CN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。每压缩一个新视频都需要重新训练一遍模型。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411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GAN/</a:t>
                      </a:r>
                      <a:r>
                        <a:rPr lang="zh-CN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扩散模型 </a:t>
                      </a:r>
                      <a:r>
                        <a:rPr lang="en-US" altLang="zh-C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Generative)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HiFi-C, ILLM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指标虚高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。虽然视觉上非常清晰，但会产生“虚假细节”（</a:t>
                      </a:r>
                      <a:r>
                        <a:rPr lang="en-US" altLang="zh-C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Hallucination</a:t>
                      </a:r>
                      <a:r>
                        <a:rPr lang="zh-CN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），不适用于医疗等严谨场景。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47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2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5795A-69FE-FD84-1B94-AC789219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E796CB-D1FB-891B-0749-03E0D0C40F20}"/>
              </a:ext>
            </a:extLst>
          </p:cNvPr>
          <p:cNvSpPr txBox="1"/>
          <p:nvPr/>
        </p:nvSpPr>
        <p:spPr>
          <a:xfrm>
            <a:off x="1090974" y="2106273"/>
            <a:ext cx="85638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ROI</a:t>
            </a:r>
            <a:r>
              <a:rPr lang="zh-CN" altLang="en-US" sz="2400" dirty="0"/>
              <a:t>（</a:t>
            </a:r>
            <a:r>
              <a:rPr lang="en-US" altLang="zh-CN" sz="2400" dirty="0"/>
              <a:t>Regions of interest</a:t>
            </a:r>
            <a:r>
              <a:rPr lang="zh-CN" altLang="en-US" sz="2400" dirty="0"/>
              <a:t>）压缩：给特定语义区域（如人脸，火灾）更多比特分配，而背景高度压缩，常用于智慧城市和消防领域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VCM</a:t>
            </a:r>
            <a:r>
              <a:rPr lang="zh-CN" altLang="en-US" sz="2400" dirty="0"/>
              <a:t>（</a:t>
            </a:r>
            <a:r>
              <a:rPr lang="en-US" altLang="zh-CN" sz="2400" dirty="0"/>
              <a:t>Video coding for machines</a:t>
            </a:r>
            <a:r>
              <a:rPr lang="zh-CN" altLang="en-US" sz="2400" dirty="0"/>
              <a:t>）：面向机器任务的压缩这种压缩不是给人看，而是为了让</a:t>
            </a:r>
            <a:r>
              <a:rPr lang="en-US" altLang="zh-CN" sz="2400" dirty="0"/>
              <a:t>AI</a:t>
            </a:r>
            <a:r>
              <a:rPr lang="zh-CN" altLang="en-US" sz="2400" dirty="0"/>
              <a:t>能够直接在压缩流中进行检测或分类</a:t>
            </a:r>
          </a:p>
        </p:txBody>
      </p:sp>
    </p:spTree>
    <p:extLst>
      <p:ext uri="{BB962C8B-B14F-4D97-AF65-F5344CB8AC3E}">
        <p14:creationId xmlns:p14="http://schemas.microsoft.com/office/powerpoint/2010/main" val="318822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8EE71-9C2F-6E6D-926E-5C88B3BB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Resnet-18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16CE1A-981C-B19C-EB21-5C275FA16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Resnet</a:t>
            </a:r>
            <a:r>
              <a:rPr lang="zh-CN" altLang="en-US" sz="2000" dirty="0"/>
              <a:t>（残差神经网络）假设一个层数较少的神经网络已经达到了较高准确率，我们可以在这个神经网络之后，拼接一段恒等变换的网络层，这些恒等变换的网络层对输入数据不做任何转换，直接返回（</a:t>
            </a:r>
            <a:r>
              <a:rPr lang="en-US" altLang="zh-CN" sz="2000" dirty="0"/>
              <a:t>y=x</a:t>
            </a:r>
            <a:r>
              <a:rPr lang="zh-CN" altLang="en-US" sz="2000" dirty="0"/>
              <a:t>），就能得到一个深度较大的神经网络，并且，这个深度较大的神经网络的准确率没有理由降低。</a:t>
            </a:r>
            <a:endParaRPr lang="en-US" altLang="zh-CN" sz="2000" dirty="0"/>
          </a:p>
          <a:p>
            <a:r>
              <a:rPr lang="en-US" altLang="zh-CN" sz="2000" dirty="0"/>
              <a:t>18</a:t>
            </a:r>
            <a:r>
              <a:rPr lang="zh-CN" altLang="en-US" sz="2000" dirty="0"/>
              <a:t>指的是带有权重的</a:t>
            </a:r>
            <a:r>
              <a:rPr lang="en-US" altLang="zh-CN" sz="2000" dirty="0"/>
              <a:t>18</a:t>
            </a:r>
            <a:r>
              <a:rPr lang="zh-CN" altLang="en-US" sz="2000" dirty="0"/>
              <a:t>层，包括卷积层和全连接层，不包括池化层和</a:t>
            </a:r>
            <a:r>
              <a:rPr lang="en-US" altLang="zh-CN" sz="2000" dirty="0"/>
              <a:t>BN</a:t>
            </a:r>
            <a:r>
              <a:rPr lang="zh-CN" altLang="en-US" sz="2000" dirty="0"/>
              <a:t>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Cifar10</a:t>
            </a:r>
            <a:r>
              <a:rPr lang="zh-CN" altLang="en-US" sz="2000" dirty="0"/>
              <a:t>指的是</a:t>
            </a:r>
            <a:r>
              <a:rPr lang="en-US" altLang="zh-CN" sz="2000" dirty="0"/>
              <a:t>TensorFlow</a:t>
            </a:r>
            <a:r>
              <a:rPr lang="zh-CN" altLang="en-US" sz="2000" dirty="0"/>
              <a:t>上的一个图片数据库。</a:t>
            </a:r>
          </a:p>
        </p:txBody>
      </p:sp>
    </p:spTree>
    <p:extLst>
      <p:ext uri="{BB962C8B-B14F-4D97-AF65-F5344CB8AC3E}">
        <p14:creationId xmlns:p14="http://schemas.microsoft.com/office/powerpoint/2010/main" val="25015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90398-07D3-221A-659F-E51C787A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第一次运行的结果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FBE72AC-D08F-ECC8-C8C2-2812EC2F7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9048" y="1270166"/>
            <a:ext cx="3314724" cy="21812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DC6B16D-11F0-B7A5-86AC-176234699D99}"/>
              </a:ext>
            </a:extLst>
          </p:cNvPr>
          <p:cNvSpPr txBox="1"/>
          <p:nvPr/>
        </p:nvSpPr>
        <p:spPr>
          <a:xfrm>
            <a:off x="733097" y="1789414"/>
            <a:ext cx="60949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EPOCH=001,Accuracy= 55.030%</a:t>
            </a:r>
          </a:p>
          <a:p>
            <a:r>
              <a:rPr lang="zh-CN" altLang="en-US" dirty="0"/>
              <a:t>EPOCH=002,Accuracy= 67.646%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001  00001 |Loss: 2.492 | Acc: 10.938% </a:t>
            </a:r>
          </a:p>
          <a:p>
            <a:r>
              <a:rPr lang="en-US" altLang="zh-CN" dirty="0"/>
              <a:t>001  00002 |Loss: 2.451 | Acc: 9.766% </a:t>
            </a:r>
          </a:p>
          <a:p>
            <a:r>
              <a:rPr lang="en-US" altLang="zh-CN" dirty="0"/>
              <a:t>001  00003 |Loss: 2.391 | Acc: 11.719% </a:t>
            </a:r>
          </a:p>
          <a:p>
            <a:r>
              <a:rPr lang="en-US" altLang="zh-CN" dirty="0"/>
              <a:t>001  00004 |Loss: 2.374 | Acc: 11.719% </a:t>
            </a:r>
          </a:p>
          <a:p>
            <a:r>
              <a:rPr lang="en-US" altLang="zh-CN" dirty="0"/>
              <a:t>001  00005 |Loss: 2.375 | Acc: 11.406% </a:t>
            </a:r>
          </a:p>
          <a:p>
            <a:r>
              <a:rPr lang="en-US" altLang="zh-CN" dirty="0"/>
              <a:t>001  00006 |Loss: 2.384 | Acc: 11.328% </a:t>
            </a:r>
          </a:p>
          <a:p>
            <a:r>
              <a:rPr lang="en-US" altLang="zh-CN" dirty="0"/>
              <a:t>001  00007 |Loss: 2.372 | Acc: 12.165% </a:t>
            </a:r>
          </a:p>
          <a:p>
            <a:r>
              <a:rPr lang="en-US" altLang="zh-CN" dirty="0"/>
              <a:t>001  00008 |Loss: 2.348 | Acc: 12.500% </a:t>
            </a:r>
          </a:p>
          <a:p>
            <a:r>
              <a:rPr lang="en-US" altLang="zh-CN" dirty="0"/>
              <a:t>001  00009 |Loss: 2.321 | Acc: 13.281% </a:t>
            </a:r>
          </a:p>
          <a:p>
            <a:r>
              <a:rPr lang="en-US" altLang="zh-CN" dirty="0"/>
              <a:t>001  00010 |Loss: 2.294 | Acc: 13.828% </a:t>
            </a:r>
          </a:p>
          <a:p>
            <a:r>
              <a:rPr lang="en-US" altLang="zh-CN" dirty="0"/>
              <a:t>001  00011 |Loss: 2.270 | Acc: 14.347% </a:t>
            </a:r>
          </a:p>
          <a:p>
            <a:r>
              <a:rPr lang="en-US" altLang="zh-CN" dirty="0"/>
              <a:t>001  00012 |Loss: 2.252 | Acc: 14.714% </a:t>
            </a:r>
          </a:p>
          <a:p>
            <a:pPr marL="342900" indent="-342900">
              <a:buAutoNum type="arabicPlain"/>
            </a:pP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1D2A64-5063-3BC8-104E-98123907FEC7}"/>
              </a:ext>
            </a:extLst>
          </p:cNvPr>
          <p:cNvSpPr txBox="1"/>
          <p:nvPr/>
        </p:nvSpPr>
        <p:spPr>
          <a:xfrm>
            <a:off x="5664551" y="3630553"/>
            <a:ext cx="60949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002  00773 |Loss: 0.915 | Acc: 67.533% </a:t>
            </a:r>
          </a:p>
          <a:p>
            <a:r>
              <a:rPr lang="zh-CN" altLang="en-US" dirty="0"/>
              <a:t>002  00774 |Loss: 0.915 | Acc: 67.538% </a:t>
            </a:r>
          </a:p>
          <a:p>
            <a:r>
              <a:rPr lang="zh-CN" altLang="en-US" dirty="0"/>
              <a:t>002  00775 |Loss: 0.914 | Acc: 67.564% </a:t>
            </a:r>
          </a:p>
          <a:p>
            <a:r>
              <a:rPr lang="zh-CN" altLang="en-US" dirty="0"/>
              <a:t>002  00776 |Loss: 0.914 | Acc: 67.565% </a:t>
            </a:r>
          </a:p>
          <a:p>
            <a:r>
              <a:rPr lang="zh-CN" altLang="en-US" dirty="0"/>
              <a:t>002  00777 |Loss: 0.914 | Acc: 67.588% </a:t>
            </a:r>
          </a:p>
          <a:p>
            <a:r>
              <a:rPr lang="zh-CN" altLang="en-US" dirty="0"/>
              <a:t>002  00778 |Loss: 0.914 | Acc: 67.593% </a:t>
            </a:r>
          </a:p>
          <a:p>
            <a:r>
              <a:rPr lang="zh-CN" altLang="en-US" dirty="0"/>
              <a:t>002  00779 |Loss: 0.913 | Acc: 67.618% </a:t>
            </a:r>
          </a:p>
          <a:p>
            <a:r>
              <a:rPr lang="zh-CN" altLang="en-US" dirty="0"/>
              <a:t>002  00780 |Loss: 0.913 | Acc: 67.633% </a:t>
            </a:r>
          </a:p>
          <a:p>
            <a:r>
              <a:rPr lang="zh-CN" altLang="en-US" dirty="0"/>
              <a:t>002  00781 |Loss: 0.913 | Acc: 67.636% </a:t>
            </a:r>
          </a:p>
          <a:p>
            <a:r>
              <a:rPr lang="zh-CN" altLang="en-US" dirty="0"/>
              <a:t>002  00782 |Loss: 0.912 | Acc: 67.646% </a:t>
            </a:r>
          </a:p>
        </p:txBody>
      </p:sp>
    </p:spTree>
    <p:extLst>
      <p:ext uri="{BB962C8B-B14F-4D97-AF65-F5344CB8AC3E}">
        <p14:creationId xmlns:p14="http://schemas.microsoft.com/office/powerpoint/2010/main" val="290421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038AC-C9EC-02DC-E5DE-D81B77A6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第二次运行的结果</a:t>
            </a:r>
            <a:br>
              <a:rPr lang="en-US" altLang="zh-CN" dirty="0"/>
            </a:br>
            <a:r>
              <a:rPr lang="zh-CN" altLang="en-US" sz="1800" dirty="0"/>
              <a:t>（增加结果显示的限制、减少训练长度、可视化结果）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E80A29-856C-D4AA-7E05-1C3E83C6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/>
              <a:t>[Epoch:5, Iter:220] Loss: 0.752 | Acc: 73.22%</a:t>
            </a:r>
          </a:p>
          <a:p>
            <a:r>
              <a:rPr lang="en-US" altLang="zh-CN" sz="1600" dirty="0"/>
              <a:t>[Epoch:5, Iter:240] Loss: 0.747 | Acc: 73.35%</a:t>
            </a:r>
          </a:p>
          <a:p>
            <a:r>
              <a:rPr lang="en-US" altLang="zh-CN" sz="1600" dirty="0"/>
              <a:t>[Epoch:5, Iter:260] Loss: 0.745 | Acc: 73.44%</a:t>
            </a:r>
          </a:p>
          <a:p>
            <a:r>
              <a:rPr lang="en-US" altLang="zh-CN" sz="1600" dirty="0"/>
              <a:t>[Epoch:5, Iter:280] Loss: 0.746 | Acc: 73.46%</a:t>
            </a:r>
          </a:p>
          <a:p>
            <a:r>
              <a:rPr lang="en-US" altLang="zh-CN" sz="1600" dirty="0"/>
              <a:t>[Epoch:5, Iter:300] Loss: 0.741 | Acc: 73.56%</a:t>
            </a:r>
          </a:p>
          <a:p>
            <a:r>
              <a:rPr lang="en-US" altLang="zh-CN" sz="1600" dirty="0"/>
              <a:t>[Epoch:5, Iter:320] Loss: 0.739 | Acc: 73.59%</a:t>
            </a:r>
          </a:p>
          <a:p>
            <a:r>
              <a:rPr lang="en-US" altLang="zh-CN" sz="1600" dirty="0"/>
              <a:t>[Epoch:5, Iter:340] Loss: 0.740 | Acc: 73.57%</a:t>
            </a:r>
          </a:p>
          <a:p>
            <a:r>
              <a:rPr lang="en-US" altLang="zh-CN" sz="1600" dirty="0"/>
              <a:t>[Epoch:5, Iter:360] Loss: 0.739 | Acc: 73.60%</a:t>
            </a:r>
          </a:p>
          <a:p>
            <a:r>
              <a:rPr lang="en-US" altLang="zh-CN" sz="1600" dirty="0"/>
              <a:t>[Epoch:5, Iter:380] Loss: 0.736 | Acc: 73.68%</a:t>
            </a:r>
          </a:p>
          <a:p>
            <a:endParaRPr lang="en-US" altLang="zh-CN" sz="1600" dirty="0"/>
          </a:p>
          <a:p>
            <a:r>
              <a:rPr lang="en-US" altLang="zh-CN" sz="1600" dirty="0"/>
              <a:t>Waiting Test...</a:t>
            </a:r>
          </a:p>
          <a:p>
            <a:r>
              <a:rPr lang="en-US" altLang="zh-CN" sz="1600" dirty="0"/>
              <a:t>Test Accuracy: 74.120%</a:t>
            </a:r>
            <a:endParaRPr lang="zh-CN" alt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7ADD32-6674-5C4C-7993-73EB7BD07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67" y="2705363"/>
            <a:ext cx="9193321" cy="30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8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1828</Words>
  <Application>Microsoft Office PowerPoint</Application>
  <PresentationFormat>宽屏</PresentationFormat>
  <Paragraphs>124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Google Sans Text</vt:lpstr>
      <vt:lpstr>等线</vt:lpstr>
      <vt:lpstr>等线 Light</vt:lpstr>
      <vt:lpstr>Arial</vt:lpstr>
      <vt:lpstr>Office 主题​​</vt:lpstr>
      <vt:lpstr>图片压缩的各种方法</vt:lpstr>
      <vt:lpstr>空间域压缩</vt:lpstr>
      <vt:lpstr>变换域压缩</vt:lpstr>
      <vt:lpstr>PowerPoint 演示文稿</vt:lpstr>
      <vt:lpstr>熵编码</vt:lpstr>
      <vt:lpstr>无人机交流中的具体应用</vt:lpstr>
      <vt:lpstr>PowerPoint 演示文稿</vt:lpstr>
      <vt:lpstr>深度学习压缩算法</vt:lpstr>
      <vt:lpstr>PowerPoint 演示文稿</vt:lpstr>
      <vt:lpstr>Resnet-18</vt:lpstr>
      <vt:lpstr>第一次运行的结果</vt:lpstr>
      <vt:lpstr>第二次运行的结果 （增加结果显示的限制、减少训练长度、可视化结果）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2026-03-30T01:52:38Z</dcterms:created>
  <dcterms:modified xsi:type="dcterms:W3CDTF">2026-04-02T08:50:20Z</dcterms:modified>
</cp:coreProperties>
</file>