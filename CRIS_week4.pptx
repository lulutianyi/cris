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3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DF610-42C3-D262-220F-54EA8F8E7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F43A12-AAE9-9C5B-4D8D-C57799BF4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9E5B3-80C0-93BB-8490-ADCAD896D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F3DD6-4223-B4F5-320E-E4837F55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0CFCFA-B15A-F610-0832-FACBE881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17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8AEBA-F1B6-5BF9-0F7A-1838292B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1D5BF-C18E-DBB9-1345-544BC7F6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1954C-9296-A156-D117-8CF4FBFE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93A1CF-E9C7-999F-BCDF-3DB42ECE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45D47C-AC78-FD2D-5752-D8D8BAB0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7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CC054-34FC-1F34-EA61-E9D5568C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E2C9E2-87F1-4572-20A8-1BE66AC6C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B97F3-F7CE-2FEB-F25A-D08E3ED8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551C81-B261-833B-DC5D-A93F65BC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BF0378-A189-ED27-0A62-0FACAE18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99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11530-3A30-2D60-51C4-38FB6B08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D6CF2-9AE2-A89A-77A4-F7B292DFB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B2AE48-491F-63A5-0AFD-3F75E3CDF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1C754D-2583-5869-06A5-8E2952EA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E52F60-8996-F12A-AEB8-9F22F4AD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0C31F9-8B6E-BE8D-70E2-321A304D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9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4F645-C642-8129-611B-43E10D69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0DD10A-5FFA-0ED3-329D-E57D1C62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85B571-5E6C-2516-2765-641ACB8A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C5BE22-D958-CE72-666C-6EFF6CAE6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B16779-3D6B-9463-9E1E-C149E45E3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BA509B-9C1F-D6BE-201A-429E9A9C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4E340-987D-AE1D-E0B7-4C8215F3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26D338-5A3A-1AB5-2262-48E8F169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78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08003-1083-A27D-D926-EBD2C30D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4FA47-EE74-590A-4DF9-C5EA3F1E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1154BA-240D-A657-71DD-6CFBDD4C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7574F7-1C9E-F9C7-58B9-103A9E25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754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8B52C7-07C1-A6D2-A2AD-52727FE4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9984C7-16D4-CB2C-241D-EBA47A37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0D58A4-41FD-55CB-EC1C-47BF4F5C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46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AA2D5-42D7-A6A8-372B-8FFFB825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9DD4A-43E9-E44F-D4F7-2EE00E9EC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73963D-6640-945C-1782-FA8E1DA8B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EB10BC-0107-1780-F052-9D9AA368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6E2511-0814-595C-5F69-0E82C9A5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09E274-B0F9-F826-EC40-9BC0B505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49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4ADCA-CFCB-0567-B9DC-4375A471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DC785C-911E-55D9-0ED9-6FB7A1DF2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0BF69C-DA74-10A6-07A4-31BC50D35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558DBF-9420-4601-3F5D-83C69162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2A78C-40A3-D7DD-8826-E2D91222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E7941D-C25C-F08C-8561-D9538437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30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149AC-A5D5-5D4A-6BFF-2C10953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DDC9E4-7B22-FC10-D5D2-F2F07C887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09BAB-C9EE-424A-7729-9B034F5B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CE5857-C718-D7B3-AB25-C49A6F9F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2B9C7E-1567-EF9A-9B11-49FFBD41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6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8C0E23-219A-6979-74F5-469558CEA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5E6EA7-E7D3-C107-A937-89D60D402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BB531-7549-45B1-B9F3-07ADEBA4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CA992-26CF-3463-DF45-05ADD3C6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F1496-6666-66DB-D45A-80A5738A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37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352A9C-827D-569C-7AB0-AC245CB9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DB04AD-0883-E1F6-8E77-979A422B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00112-BD34-408C-B7CE-60C38C30B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EFB99-E6E0-4F9A-ADAE-ED74D10C5D20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C593A-E6D3-E675-1C0B-DF1D9976E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D371BF-F5AE-765A-585D-D63470F70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4A111-F82C-4668-A3F7-08C2C26D7C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74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AB41D-6DAD-18FE-094F-36249C50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VAE</a:t>
            </a:r>
            <a:r>
              <a:rPr lang="zh-CN" altLang="en-US" dirty="0"/>
              <a:t>（变分自编码器）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B6E01-B3DA-47A1-C79D-369A8412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潜空间的连续性：</a:t>
            </a:r>
            <a:endParaRPr lang="en-US" altLang="zh-CN" dirty="0"/>
          </a:p>
          <a:p>
            <a:r>
              <a:rPr lang="en-US" altLang="zh-CN" dirty="0"/>
              <a:t>VAE</a:t>
            </a:r>
            <a:r>
              <a:rPr lang="zh-CN" altLang="en-US" dirty="0"/>
              <a:t>的编码器输出为两个向量而不是</a:t>
            </a:r>
            <a:r>
              <a:rPr lang="en-US" altLang="zh-CN" dirty="0"/>
              <a:t>AE</a:t>
            </a:r>
            <a:r>
              <a:rPr lang="zh-CN" altLang="en-US" dirty="0"/>
              <a:t>中的一个，包括均值向量 </a:t>
            </a:r>
            <a:r>
              <a:rPr lang="en-US" altLang="zh-CN" dirty="0"/>
              <a:t>(μ)</a:t>
            </a:r>
            <a:r>
              <a:rPr lang="zh-CN" altLang="en-US" dirty="0"/>
              <a:t>：代表了压缩后信息最可能在潜在空间的</a:t>
            </a:r>
            <a:r>
              <a:rPr lang="en-US" altLang="zh-CN" dirty="0"/>
              <a:t>“</a:t>
            </a:r>
            <a:r>
              <a:rPr lang="zh-CN" altLang="en-US" dirty="0"/>
              <a:t>中心位置</a:t>
            </a:r>
            <a:r>
              <a:rPr lang="en-US" altLang="zh-CN" dirty="0"/>
              <a:t>”</a:t>
            </a:r>
          </a:p>
          <a:p>
            <a:r>
              <a:rPr lang="zh-CN" altLang="en-US" dirty="0"/>
              <a:t>和对数方差向量 </a:t>
            </a:r>
            <a:r>
              <a:rPr lang="en-US" altLang="zh-CN" dirty="0"/>
              <a:t>(</a:t>
            </a:r>
            <a:r>
              <a:rPr lang="en-US" altLang="zh-CN" dirty="0" err="1"/>
              <a:t>log_var</a:t>
            </a:r>
            <a:r>
              <a:rPr lang="en-US" altLang="zh-CN" dirty="0"/>
              <a:t>)</a:t>
            </a:r>
            <a:r>
              <a:rPr lang="zh-CN" altLang="en-US" dirty="0"/>
              <a:t>：代表了信息在这个中心位置周围的</a:t>
            </a:r>
            <a:r>
              <a:rPr lang="en-US" altLang="zh-CN" dirty="0"/>
              <a:t>“</a:t>
            </a:r>
            <a:r>
              <a:rPr lang="zh-CN" altLang="en-US" dirty="0"/>
              <a:t>不确定性</a:t>
            </a:r>
            <a:r>
              <a:rPr lang="en-US" altLang="zh-CN" dirty="0"/>
              <a:t>”</a:t>
            </a:r>
            <a:r>
              <a:rPr lang="zh-CN" altLang="en-US" dirty="0"/>
              <a:t>或</a:t>
            </a:r>
            <a:r>
              <a:rPr lang="en-US" altLang="zh-CN" dirty="0"/>
              <a:t>“</a:t>
            </a:r>
            <a:r>
              <a:rPr lang="zh-CN" altLang="en-US" dirty="0"/>
              <a:t>分布范围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也就是说，编码器得到的结果是一个概率分布</a:t>
            </a:r>
            <a:r>
              <a:rPr lang="en-US" altLang="zh-CN" dirty="0"/>
              <a:t>N(</a:t>
            </a:r>
            <a:r>
              <a:rPr lang="el-GR" altLang="zh-CN" dirty="0"/>
              <a:t>μ, σ²)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1669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0A801-7199-0A36-099C-B572CC7E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重参数技巧与</a:t>
            </a:r>
            <a:r>
              <a:rPr lang="en-US" altLang="zh-CN" dirty="0"/>
              <a:t>KL</a:t>
            </a:r>
            <a:r>
              <a:rPr lang="zh-CN" altLang="en-US" dirty="0"/>
              <a:t>散度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B75DA-78B7-D55E-0104-BCEC77BE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重参数技巧利用一个可微分的变换，避免了采样的完全随机化，使得梯度信息能够成功地从编码器传递到解码器。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KL</a:t>
            </a:r>
            <a:r>
              <a:rPr lang="zh-CN" altLang="en-US" dirty="0"/>
              <a:t>散度用来使</a:t>
            </a:r>
            <a:r>
              <a:rPr lang="en-US" altLang="zh-CN" dirty="0"/>
              <a:t>N(</a:t>
            </a:r>
            <a:r>
              <a:rPr lang="el-GR" altLang="zh-CN" dirty="0"/>
              <a:t>μ, σ²)</a:t>
            </a:r>
            <a:r>
              <a:rPr lang="zh-CN" altLang="en-US" dirty="0"/>
              <a:t>接近正态分布</a:t>
            </a:r>
            <a:r>
              <a:rPr lang="en-US" altLang="zh-CN" dirty="0"/>
              <a:t>N(0,</a:t>
            </a:r>
            <a:r>
              <a:rPr lang="zh-CN" altLang="en-US" dirty="0"/>
              <a:t> </a:t>
            </a:r>
            <a:r>
              <a:rPr lang="en-US" altLang="zh-CN" dirty="0"/>
              <a:t>1),</a:t>
            </a:r>
            <a:r>
              <a:rPr lang="zh-CN" altLang="en-US"/>
              <a:t>让整个潜在空间变得规整。</a:t>
            </a:r>
          </a:p>
        </p:txBody>
      </p:sp>
    </p:spTree>
    <p:extLst>
      <p:ext uri="{BB962C8B-B14F-4D97-AF65-F5344CB8AC3E}">
        <p14:creationId xmlns:p14="http://schemas.microsoft.com/office/powerpoint/2010/main" val="232070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19FC4-DA15-A989-8351-6E1D7AD1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/>
              <a:t>Cifar</a:t>
            </a:r>
            <a:r>
              <a:rPr lang="zh-CN" altLang="en-US" sz="2000" dirty="0"/>
              <a:t>数据集</a:t>
            </a:r>
            <a:r>
              <a:rPr lang="en-US" altLang="zh-CN" sz="2000" dirty="0"/>
              <a:t>+</a:t>
            </a:r>
            <a:r>
              <a:rPr lang="en-US" altLang="zh-CN" sz="2000" dirty="0" err="1"/>
              <a:t>pytorch</a:t>
            </a:r>
            <a:r>
              <a:rPr lang="zh-CN" altLang="en-US" sz="2000" dirty="0"/>
              <a:t>实现</a:t>
            </a:r>
            <a:r>
              <a:rPr lang="en-US" altLang="zh-CN" sz="2000" dirty="0"/>
              <a:t>+</a:t>
            </a:r>
            <a:r>
              <a:rPr lang="zh-CN" altLang="en-US" sz="2000" dirty="0"/>
              <a:t>区分</a:t>
            </a:r>
            <a:r>
              <a:rPr lang="en-US" altLang="zh-CN" sz="2000" dirty="0"/>
              <a:t>train\test</a:t>
            </a:r>
            <a:r>
              <a:rPr lang="zh-CN" altLang="en-US" sz="2000" dirty="0"/>
              <a:t>数据集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FA1E5B-B215-0EFC-3964-87E05CA6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/>
              <a:t>Epoch 1 </a:t>
            </a:r>
            <a:r>
              <a:rPr lang="zh-CN" altLang="en-US" sz="1800" dirty="0"/>
              <a:t>开始</a:t>
            </a:r>
          </a:p>
          <a:p>
            <a:r>
              <a:rPr lang="en-US" altLang="zh-CN" sz="1800" dirty="0"/>
              <a:t>Epoch 1 Train Loss: 0.0927</a:t>
            </a:r>
          </a:p>
          <a:p>
            <a:r>
              <a:rPr lang="en-US" altLang="zh-CN" sz="1800" dirty="0"/>
              <a:t>Epoch 1 Validation Loss: 0.0670</a:t>
            </a:r>
          </a:p>
          <a:p>
            <a:r>
              <a:rPr lang="zh-CN" altLang="en-US" sz="1800" dirty="0"/>
              <a:t>模型已保存，验证损失</a:t>
            </a:r>
            <a:r>
              <a:rPr lang="en-US" altLang="zh-CN" sz="1800" dirty="0"/>
              <a:t>: 0.0670</a:t>
            </a:r>
          </a:p>
          <a:p>
            <a:r>
              <a:rPr lang="en-US" altLang="zh-CN" sz="1800" dirty="0"/>
              <a:t>Epoch 1 → Test MSE: 0.0664, PSNR: 11.78, SSIM: 0.9336</a:t>
            </a:r>
          </a:p>
          <a:p>
            <a:endParaRPr lang="en-US" altLang="zh-CN" sz="1800" dirty="0"/>
          </a:p>
          <a:p>
            <a:r>
              <a:rPr lang="en-US" altLang="zh-CN" sz="1800" dirty="0"/>
              <a:t>Epoch 20 </a:t>
            </a:r>
            <a:r>
              <a:rPr lang="zh-CN" altLang="en-US" sz="1800" dirty="0"/>
              <a:t>开始</a:t>
            </a:r>
          </a:p>
          <a:p>
            <a:r>
              <a:rPr lang="en-US" altLang="zh-CN" sz="1800" dirty="0"/>
              <a:t>Epoch 20 Train Loss: 0.0263</a:t>
            </a:r>
          </a:p>
          <a:p>
            <a:r>
              <a:rPr lang="en-US" altLang="zh-CN" sz="1800" dirty="0"/>
              <a:t>Epoch 20 Validation Loss: 0.0278</a:t>
            </a:r>
          </a:p>
          <a:p>
            <a:r>
              <a:rPr lang="zh-CN" altLang="en-US" sz="1800" dirty="0"/>
              <a:t>模型已保存，验证损失</a:t>
            </a:r>
            <a:r>
              <a:rPr lang="en-US" altLang="zh-CN" sz="1800" dirty="0"/>
              <a:t>: 0.0278</a:t>
            </a:r>
          </a:p>
          <a:p>
            <a:r>
              <a:rPr lang="en-US" altLang="zh-CN" sz="1800" dirty="0"/>
              <a:t>Epoch 20 → Test MSE: 0.0277, PSNR: 15.58, SSIM: 0.9723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9817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5C05A-1033-4695-06B4-9A4C1D27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D036CB-FFAC-1A92-2FE0-1B023BD0B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124158-2590-EEEF-D579-CA3013F0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73" y="0"/>
            <a:ext cx="2647219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957E44-4EDB-1773-838A-7E102C9AC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390" y="0"/>
            <a:ext cx="2647219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C33792-892C-17F9-953C-E7D0FE76D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362" y="0"/>
            <a:ext cx="2647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6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B6208-DD93-9418-1905-E90E8E74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2F93DFF-E803-9E73-B312-7191C29A3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5755" y="1888905"/>
            <a:ext cx="2609850" cy="13144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A052D0-289F-0D3D-26B8-815159B62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05" y="1888905"/>
            <a:ext cx="2609850" cy="13144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D513AD-1E89-89F2-EF95-F100D57F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605" y="1888905"/>
            <a:ext cx="2609850" cy="1314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B83AA7-C02A-0E74-BE7D-A997FCD1A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905" y="3654645"/>
            <a:ext cx="2609850" cy="13144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D9F7738D-708E-EA29-5517-012CEDDAFE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07E3EF8-4745-81B1-38EE-6BDDF0F76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5755" y="3654644"/>
            <a:ext cx="2609850" cy="13144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5AB6ABF-C8DB-F9A5-6FA1-E00383431F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605" y="3654644"/>
            <a:ext cx="2609850" cy="13144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2EFD29C-4BAE-9509-41B9-962ED1A7F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5905" y="4969094"/>
            <a:ext cx="2609850" cy="13144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300D1D7-3F0E-0A9F-6EFB-5C04CBA976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5755" y="4969093"/>
            <a:ext cx="2609850" cy="13144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ACCC5BE-DD6E-179A-87DE-18AEB8D777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5605" y="4969093"/>
            <a:ext cx="26098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2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FB860-D11C-BB8F-F4EE-86A6BCAD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00D14A-1489-4E0F-73F1-66CE69566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/>
              <a:t>Epoch 48 </a:t>
            </a:r>
            <a:r>
              <a:rPr lang="zh-CN" altLang="en-US" sz="1800" dirty="0"/>
              <a:t>开始 </a:t>
            </a:r>
            <a:r>
              <a:rPr lang="en-US" altLang="zh-CN" sz="1800" dirty="0"/>
              <a:t>Epoch 48 Train Loss: 0.1151 (Recon: 0.0821, KL: 0.1102) Epoch 48 Validation Loss: 0.1152 (Recon: 0.0824, KL: 0.1091) Epoch 48 Test Loss: 0.1152 (Recon: 0.0824, KL: 0.1093, PSNR: 16.86) </a:t>
            </a:r>
          </a:p>
          <a:p>
            <a:endParaRPr lang="en-US" altLang="zh-CN" sz="1800" dirty="0"/>
          </a:p>
          <a:p>
            <a:r>
              <a:rPr lang="en-US" altLang="zh-CN" sz="1800" dirty="0"/>
              <a:t>============================ </a:t>
            </a:r>
          </a:p>
          <a:p>
            <a:endParaRPr lang="en-US" altLang="zh-CN" sz="1800" dirty="0"/>
          </a:p>
          <a:p>
            <a:r>
              <a:rPr lang="en-US" altLang="zh-CN" sz="1800" dirty="0"/>
              <a:t>Epoch 49 </a:t>
            </a:r>
            <a:r>
              <a:rPr lang="zh-CN" altLang="en-US" sz="1800" dirty="0"/>
              <a:t>开始 </a:t>
            </a:r>
            <a:r>
              <a:rPr lang="en-US" altLang="zh-CN" sz="1800" dirty="0"/>
              <a:t>Epoch 49 Train Loss: 0.1153 (Recon: 0.0823, KL: 0.1102) Epoch 49 Validation Loss: 0.1157 (Recon: 0.0832, KL: 0.1085) </a:t>
            </a:r>
          </a:p>
          <a:p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   ============================ </a:t>
            </a:r>
          </a:p>
          <a:p>
            <a:r>
              <a:rPr lang="en-US" altLang="zh-CN" sz="1800" dirty="0"/>
              <a:t>Epoch 50 </a:t>
            </a:r>
            <a:r>
              <a:rPr lang="zh-CN" altLang="en-US" sz="1800" dirty="0"/>
              <a:t>开始 </a:t>
            </a:r>
            <a:r>
              <a:rPr lang="en-US" altLang="zh-CN" sz="1800" dirty="0"/>
              <a:t>Epoch 50 Train Loss: 0.1152 (Recon: 0.0821, KL: 0.1103) Epoch 50 Validation Loss: 0.1151 (Recon: 0.0822, KL: 0.1097) Epoch 50 Test Loss: 0.1153 (Recon: 0.0823, KL: 0.1099, PSNR: 16.87)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7225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C9AC1-461F-7120-3A9B-19021328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GAN_VAE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5D00828-7BFE-D008-D1EC-8AD0781A6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9064" y="1740256"/>
            <a:ext cx="260985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9744BD5-0B1C-AD75-542F-DC13BCF1E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416" y="1740256"/>
            <a:ext cx="2609850" cy="9906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2E02C3B-6468-F543-2F4D-BA1CEFC24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768" y="1740256"/>
            <a:ext cx="2609850" cy="990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7106F43-CEA9-9E52-411F-6003BE269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64" y="3631845"/>
            <a:ext cx="2609850" cy="9906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57FC6B5-AED7-A1D1-4836-7CBBCFC90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416" y="3631845"/>
            <a:ext cx="2609850" cy="9906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D6E8244-406E-8E68-A2E2-D3F37317A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206" y="3631845"/>
            <a:ext cx="26098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6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C1E22-CF7F-A8F0-DEED-8FA81E7D4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1DC274DC-5092-AE3E-6FB6-65FEE4B88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714809"/>
              </p:ext>
            </p:extLst>
          </p:nvPr>
        </p:nvGraphicFramePr>
        <p:xfrm>
          <a:off x="838200" y="365125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341371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339013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0226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特性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VAE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VAE-GAN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目标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最小化重建误差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生成能欺骗判别器的图像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07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损失函数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MSE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重建损失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</a:rPr>
                        <a:t>+ 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KL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散度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</a:rPr>
                        <a:t>MSE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重建损失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</a:rPr>
                        <a:t>+ KL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散度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</a:rPr>
                        <a:t>+ GAN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损失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8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生成倾向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安全但模糊的重建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更清晰但可能偏离原图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优势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稳定训练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</a:rPr>
                        <a:t>生成更逼真的图像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94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劣势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结果可能模糊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</a:rPr>
                        <a:t>可能改变原图内容</a:t>
                      </a:r>
                    </a:p>
                  </a:txBody>
                  <a:tcPr anchor="ctr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55556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02D3CF0-0079-81F7-68B4-DC9B2B304E9A}"/>
              </a:ext>
            </a:extLst>
          </p:cNvPr>
          <p:cNvSpPr txBox="1"/>
          <p:nvPr/>
        </p:nvSpPr>
        <p:spPr>
          <a:xfrm>
            <a:off x="838200" y="3429000"/>
            <a:ext cx="6653574" cy="1365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# VAE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损失权重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beta = 0.25  # KL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损失系数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lambda_recon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1.0  #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重建损失权重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lambda_kl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beta  # KL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损失权重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lambda_gan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0.1   # GAN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损失权重，可以调整</a:t>
            </a:r>
            <a:endParaRPr lang="en-US" altLang="zh-CN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调整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lambda_recon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与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lambda_gan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的大小，可以修改模型选择“逼近原图”和“生成更真实的图片”的权重。</a:t>
            </a:r>
          </a:p>
        </p:txBody>
      </p:sp>
    </p:spTree>
    <p:extLst>
      <p:ext uri="{BB962C8B-B14F-4D97-AF65-F5344CB8AC3E}">
        <p14:creationId xmlns:p14="http://schemas.microsoft.com/office/powerpoint/2010/main" val="390403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513</Words>
  <Application>Microsoft Office PowerPoint</Application>
  <PresentationFormat>宽屏</PresentationFormat>
  <Paragraphs>55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Consolas</vt:lpstr>
      <vt:lpstr>Office 主题​​</vt:lpstr>
      <vt:lpstr>VAE（变分自编码器）</vt:lpstr>
      <vt:lpstr>重参数技巧与KL散度</vt:lpstr>
      <vt:lpstr>Cifar数据集+pytorch实现+区分train\test数据集</vt:lpstr>
      <vt:lpstr>PowerPoint 演示文稿</vt:lpstr>
      <vt:lpstr>PowerPoint 演示文稿</vt:lpstr>
      <vt:lpstr>PowerPoint 演示文稿</vt:lpstr>
      <vt:lpstr>GAN_VAE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3</cp:revision>
  <dcterms:created xsi:type="dcterms:W3CDTF">2026-04-13T07:47:54Z</dcterms:created>
  <dcterms:modified xsi:type="dcterms:W3CDTF">2026-04-16T12:33:00Z</dcterms:modified>
</cp:coreProperties>
</file>