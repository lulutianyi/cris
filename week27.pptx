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7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E98F8-6679-2642-C930-75C459D3F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4A50D7-C87B-604A-87A4-BF99FF221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57CCC6-46CD-0EF1-4B5F-1294C776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09F0AD-B8F9-700A-9815-A65EE984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B96A5-C618-66C3-5AD0-3E96673B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93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92AB26-2153-171B-DAE5-F8914927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FB360-0EE4-53F1-FCB9-6F1AC0159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1072FA-C482-52A4-6A78-A9630AA7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106F3-5D32-D236-4D5C-6ECB6EA3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617946-AD0D-4D5D-566E-E83F35A0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10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C6E88-7C89-0BC3-6F35-D102C076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981C8E-B80D-2C05-A789-5A516B5D5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B0EE1-7A09-765A-F36F-5E7A2CB9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B0B4E-C6B1-E764-7E58-632DA928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06C05E-72A8-05D9-2F9D-04B66832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645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58661-0F2F-36CC-AD41-8816A357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BA3D00-E5D9-03E7-795D-A6E270719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3DAF31-02EF-D833-7851-D8B19AF3D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80CA5A-DC0A-64D1-F5FF-1545414C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1105A9-BFD9-4A9D-0CA1-CC085E4E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2C24E5-77D6-D38A-6E76-54F9CD10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79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322E9-FB61-BCE6-8708-CB542D79D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A9F69B-A1B7-444B-7647-4FA69EEF0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ECF8DC-7BDB-4CEF-7460-D19419267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534608-4E64-8A1A-C396-EA9CCF8BC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DE4E2B-1532-BAAC-1337-47A6911E6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CC8EA4-BA27-6181-001E-9E573352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F6DB32-265E-6BFF-1F7F-DECAADEB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C296E7-BC73-D8A1-B539-58604FB4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1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7F298-8097-5493-249E-2705D7EA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4E28BB-CF7F-9065-F86C-64B918784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595BE5-2548-A366-89D3-8EA70EDB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4CC728-D784-4CFC-354D-96203158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93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B8D87A-F7E1-6AD0-B41C-998DE397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5E84C4-5BE5-77C7-EDAB-3085A6AE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282153-7709-45AF-94B9-FCB20CE8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84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4ACC8-EE50-C0DD-D499-56CD23BA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B1E67A-066A-B42C-C387-F1E195E0C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16D38C-571D-1E84-0C98-0215BE3E8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19C352-36AB-DDA3-27EB-B52E51F0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59B3A3-1594-30CD-F48D-C151F2AF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5D92E6-901F-FC00-B42F-E576C81D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63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D9B0D-499A-5781-AA63-2A79AB3B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CA0964-3615-D1F4-6FAA-94B2AFB01B5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1789EE-D260-8D75-F48E-49B601AEE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FBE74E-54AA-7587-53C2-7FBFB091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37484D-C370-592F-D8CD-72D75BB9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8CC05C-DCB5-6AF5-2F0D-4F8B994C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8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EBFA8-DD35-4E68-D731-4B6813EF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E180E1-ED32-6DFB-6882-BEFAB52D0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D0C62-20E7-8CF8-7CF4-5104BFF7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D19EE8-A272-6481-879B-44302B6B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8451B-D6BA-FCC8-3ECB-184152D4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50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86CA84-810C-1D68-D326-FC1792BE9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583161-DD40-D234-E03B-1F044F34B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D75D77-5E8B-E856-03B9-0093BF7A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4104B-4AF0-9683-D9A1-DC257288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02763-ECA3-8543-C896-2DE87A97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66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B56705-3693-ADA7-6A3D-BFCDCE88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92B2F-182B-6D69-C659-609141534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742D52-90EC-EAD4-B5DE-FEA88A11A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40F05-A5BE-4A3A-B31A-CE8FBF70A7FB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BD17FB-4249-158D-1B0A-DD986ABA0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E11C1A-70C5-C641-F783-ACEB3D29F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58244-C615-4A79-BCC9-8A77F773F1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21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E67A1-9AE9-24AE-399A-98290164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8C2D27B-BFF7-38DF-67C4-8D0E843CA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7955737"/>
              </p:ext>
            </p:extLst>
          </p:nvPr>
        </p:nvGraphicFramePr>
        <p:xfrm>
          <a:off x="838200" y="522220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7484550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462607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04157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36789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Learned-v2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HF-AE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变化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98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低频幅度误差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改善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520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中频能量比例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0.2062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明显改善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765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中频幅度误差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0.8187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0.6063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明显改善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51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高频能量比例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0.1414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0.1651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小幅改善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946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高频幅度误差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0.9053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0.8369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改善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47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highpass PSNR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28.2483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27.9969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略微下降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26882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9A2127C-1365-9533-F1DB-F335BFE5CEB4}"/>
              </a:ext>
            </a:extLst>
          </p:cNvPr>
          <p:cNvSpPr txBox="1"/>
          <p:nvPr/>
        </p:nvSpPr>
        <p:spPr>
          <a:xfrm>
            <a:off x="838200" y="347352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HF-AE 确实恢复了更多中高频能量，频谱幅度更接近原图；但 highpass PSNR 没有提高，说明恢复出来的边缘在空间位置、相位或者局部纹理上仍存在偏差。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30D0CB-47F6-545C-4327-C65DFD05118C}"/>
              </a:ext>
            </a:extLst>
          </p:cNvPr>
          <p:cNvSpPr txBox="1"/>
          <p:nvPr/>
        </p:nvSpPr>
        <p:spPr>
          <a:xfrm>
            <a:off x="838200" y="471692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旁路消融实验让我们发现，</a:t>
            </a:r>
            <a:r>
              <a:rPr lang="zh-CN" altLang="zh-CN" dirty="0"/>
              <a:t>PGD 下的主要性能损失来自 </a:t>
            </a:r>
            <a:r>
              <a:rPr lang="zh-CN" altLang="zh-CN" dirty="0">
                <a:latin typeface="+mn-lt"/>
              </a:rPr>
              <a:t>2048-bit main code</a:t>
            </a:r>
            <a:r>
              <a:rPr lang="zh-CN" altLang="zh-CN" dirty="0"/>
              <a:t>，不是两条 skip code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028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80FA9-D4EA-0696-2520-244956729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BFDD4B-DDCF-7F19-2B36-233A9C72F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1138"/>
            <a:ext cx="9144000" cy="1655762"/>
          </a:xfrm>
        </p:spPr>
        <p:txBody>
          <a:bodyPr/>
          <a:lstStyle/>
          <a:p>
            <a:r>
              <a:rPr lang="zh-CN" altLang="en-US" dirty="0"/>
              <a:t>普通</a:t>
            </a:r>
            <a:r>
              <a:rPr lang="en-US" altLang="zh-CN" dirty="0"/>
              <a:t>main diffusion</a:t>
            </a:r>
            <a:r>
              <a:rPr lang="zh-CN" altLang="en-US" dirty="0"/>
              <a:t>的结果：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B4CB07-F6C1-F584-FB3D-805C66955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744979"/>
              </p:ext>
            </p:extLst>
          </p:nvPr>
        </p:nvGraphicFramePr>
        <p:xfrm>
          <a:off x="838200" y="1401763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316677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122594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90928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timestep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08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AE direct / t0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0.4021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0.1944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549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0.4019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0.1945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12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0.4019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0.1943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32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0.4006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0.1940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65978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7F71932-0063-18F8-1835-0BB6280E7D07}"/>
              </a:ext>
            </a:extLst>
          </p:cNvPr>
          <p:cNvSpPr txBox="1"/>
          <p:nvPr/>
        </p:nvSpPr>
        <p:spPr>
          <a:xfrm>
            <a:off x="838200" y="378936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/>
              <a:t>随后尝试了：</a:t>
            </a:r>
          </a:p>
          <a:p>
            <a:pPr lvl="0"/>
            <a:r>
              <a:rPr lang="zh-CN" altLang="zh-CN"/>
              <a:t>训练集 PGD 配对编码；</a:t>
            </a:r>
          </a:p>
          <a:p>
            <a:pPr lvl="0"/>
            <a:r>
              <a:rPr lang="zh-CN" altLang="zh-CN"/>
              <a:t>低 timestep；</a:t>
            </a:r>
          </a:p>
          <a:p>
            <a:pPr lvl="0"/>
            <a:r>
              <a:rPr lang="zh-CN" altLang="zh-CN"/>
              <a:t>少数变化 bit 加权；</a:t>
            </a:r>
          </a:p>
          <a:p>
            <a:pPr lvl="0"/>
            <a:r>
              <a:rPr lang="zh-CN" altLang="zh-CN"/>
              <a:t>面向攻击变化位的定向 diffusion。</a:t>
            </a:r>
          </a:p>
          <a:p>
            <a:r>
              <a:rPr lang="zh-CN" altLang="zh-CN"/>
              <a:t>仍然没有显著超过 HF-AE direct。</a:t>
            </a:r>
          </a:p>
        </p:txBody>
      </p:sp>
    </p:spTree>
    <p:extLst>
      <p:ext uri="{BB962C8B-B14F-4D97-AF65-F5344CB8AC3E}">
        <p14:creationId xmlns:p14="http://schemas.microsoft.com/office/powerpoint/2010/main" val="3477317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794C2-E352-B973-15D0-4A7FCBE2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COCO</a:t>
            </a:r>
            <a:r>
              <a:rPr lang="zh-CN" altLang="en-US" sz="2800" dirty="0"/>
              <a:t>数据集上发生了严重的跨领域失效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F40EFDC-CDCB-F9E1-5554-07674AADB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542840"/>
              </p:ext>
            </p:extLst>
          </p:nvPr>
        </p:nvGraphicFramePr>
        <p:xfrm>
          <a:off x="838200" y="1758837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272254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903291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996076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79398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mAP50保持率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376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0.5490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406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resize-only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54.64%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910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Learned-v2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0.0031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0.0017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85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HF-AE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0.0035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0.0017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0.64%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78189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2F88F63-7E36-5891-50E4-287F8FCE7569}"/>
              </a:ext>
            </a:extLst>
          </p:cNvPr>
          <p:cNvSpPr txBox="1"/>
          <p:nvPr/>
        </p:nvSpPr>
        <p:spPr>
          <a:xfrm>
            <a:off x="1055914" y="3886200"/>
            <a:ext cx="33745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128*128</a:t>
            </a:r>
            <a:r>
              <a:rPr lang="zh-CN" altLang="en-US" dirty="0"/>
              <a:t>分辨率的的图像压缩造成了大约</a:t>
            </a:r>
            <a:r>
              <a:rPr lang="en-US" altLang="zh-CN" dirty="0"/>
              <a:t>46%</a:t>
            </a:r>
            <a:r>
              <a:rPr lang="zh-CN" altLang="en-US" dirty="0"/>
              <a:t>的损失，</a:t>
            </a:r>
            <a:r>
              <a:rPr lang="en-US" altLang="zh-CN" dirty="0"/>
              <a:t>HF-AE</a:t>
            </a:r>
            <a:r>
              <a:rPr lang="zh-CN" altLang="en-US" dirty="0"/>
              <a:t>跨领域失配损失约占</a:t>
            </a:r>
            <a:r>
              <a:rPr lang="en-US" altLang="zh-CN" dirty="0"/>
              <a:t>54%</a:t>
            </a:r>
          </a:p>
          <a:p>
            <a:endParaRPr lang="en-US" altLang="zh-CN" dirty="0"/>
          </a:p>
          <a:p>
            <a:r>
              <a:rPr lang="zh-CN" altLang="zh-CN" dirty="0"/>
              <a:t>HF-AE相对 resize-only：</a:t>
            </a:r>
          </a:p>
          <a:p>
            <a:pPr lvl="0"/>
            <a:r>
              <a:rPr lang="zh-CN" altLang="zh-CN" dirty="0"/>
              <a:t>PSNR下降 6.06 dB</a:t>
            </a:r>
          </a:p>
          <a:p>
            <a:pPr lvl="0"/>
            <a:r>
              <a:rPr lang="zh-CN" altLang="zh-CN" dirty="0"/>
              <a:t>SSIM下降 0.1488</a:t>
            </a:r>
          </a:p>
          <a:p>
            <a:pPr lvl="0"/>
            <a:r>
              <a:rPr lang="zh-CN" altLang="zh-CN" dirty="0"/>
              <a:t>MAE增加到约 2.32倍</a:t>
            </a:r>
          </a:p>
          <a:p>
            <a:pPr lvl="0"/>
            <a:r>
              <a:rPr lang="zh-CN" altLang="zh-CN" dirty="0"/>
              <a:t>高频PSNR下降 5.17 dB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9BEF27-E113-53B3-C495-F78E1B44A488}"/>
              </a:ext>
            </a:extLst>
          </p:cNvPr>
          <p:cNvSpPr txBox="1"/>
          <p:nvPr/>
        </p:nvSpPr>
        <p:spPr>
          <a:xfrm>
            <a:off x="5099957" y="4060371"/>
            <a:ext cx="31459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我们的</a:t>
            </a:r>
            <a:r>
              <a:rPr lang="en-US" altLang="zh-CN" dirty="0"/>
              <a:t>AE</a:t>
            </a:r>
            <a:r>
              <a:rPr lang="zh-CN" altLang="en-US" dirty="0"/>
              <a:t>主要学习火焰、烟雾、背景与颜色分布，与</a:t>
            </a:r>
            <a:r>
              <a:rPr lang="en-US" altLang="zh-CN" dirty="0"/>
              <a:t>COCO</a:t>
            </a:r>
            <a:r>
              <a:rPr lang="zh-CN" altLang="en-US" dirty="0"/>
              <a:t>分类图片所需要的要求不适配，说明当前的通用重建能力还很弱。</a:t>
            </a:r>
          </a:p>
        </p:txBody>
      </p:sp>
    </p:spTree>
    <p:extLst>
      <p:ext uri="{BB962C8B-B14F-4D97-AF65-F5344CB8AC3E}">
        <p14:creationId xmlns:p14="http://schemas.microsoft.com/office/powerpoint/2010/main" val="180480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85EAC-7E1D-FCC6-D37E-1F6173B4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6774FB8-8AAE-E783-BEB1-1865D3972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2817653"/>
              </p:ext>
            </p:extLst>
          </p:nvPr>
        </p:nvGraphicFramePr>
        <p:xfrm>
          <a:off x="838200" y="936966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964400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550452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55709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CIFAR-10准确率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相对原图保持率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3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95.08%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743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resize-only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94.57%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99.46%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687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Learned-v2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63.79%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816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HF-AE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58.78%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61.82%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1356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B7DA140-68C1-907F-3314-88F66D901AEE}"/>
              </a:ext>
            </a:extLst>
          </p:cNvPr>
          <p:cNvSpPr txBox="1"/>
          <p:nvPr/>
        </p:nvSpPr>
        <p:spPr>
          <a:xfrm>
            <a:off x="838200" y="287966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CIFAR-10 上的主要损失来自二进制 AE，而不是 resize。</a:t>
            </a:r>
            <a:endParaRPr lang="en-US" altLang="zh-CN" dirty="0"/>
          </a:p>
          <a:p>
            <a:r>
              <a:rPr lang="zh-CN" altLang="zh-CN" dirty="0"/>
              <a:t>HF-AE 重建后还有 58.78% 分类准确率，显著高于 CIFAR-10 随机猜测的 10%。所以网络并非完全无法跨域，它保存了飞机、汽车、船等较粗粒度的类别信息。</a:t>
            </a:r>
            <a:endParaRPr lang="en-US" altLang="zh-CN" dirty="0"/>
          </a:p>
          <a:p>
            <a:r>
              <a:rPr lang="zh-CN" altLang="zh-CN" dirty="0"/>
              <a:t>HF-AE 相比 Learned-v2：</a:t>
            </a:r>
          </a:p>
          <a:p>
            <a:pPr lvl="0"/>
            <a:r>
              <a:rPr lang="zh-CN" altLang="zh-CN" dirty="0"/>
              <a:t>分类准确率：60.65% → 58.78%，下降 1.87 个百分点；</a:t>
            </a:r>
          </a:p>
          <a:p>
            <a:pPr lvl="0"/>
            <a:r>
              <a:rPr lang="zh-CN" altLang="zh-CN" dirty="0"/>
              <a:t>PSNR：22.2180 → 22.0012，下降 0.2168 dB；</a:t>
            </a:r>
          </a:p>
          <a:p>
            <a:pPr lvl="0"/>
            <a:r>
              <a:rPr lang="zh-CN" altLang="zh-CN" dirty="0"/>
              <a:t>SSIM：0.9161 → 0.9121；</a:t>
            </a:r>
          </a:p>
          <a:p>
            <a:pPr lvl="0"/>
            <a:r>
              <a:rPr lang="zh-CN" altLang="zh-CN" dirty="0"/>
              <a:t>高频 PSNR：24.8547 → 24.1944，下降 0.6603 dB。</a:t>
            </a:r>
          </a:p>
          <a:p>
            <a:r>
              <a:rPr lang="zh-CN" altLang="zh-CN" dirty="0"/>
              <a:t>这与 COCO 的结果一致：HF-AE 的续训提升了 D-Fire 域内检测，但没有提升公共数据集上的通用重建，反而产生了轻微的跨域退化。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353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1151</Words>
  <Application>Microsoft Office PowerPoint</Application>
  <PresentationFormat>宽屏</PresentationFormat>
  <Paragraphs>104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COCO数据集上发生了严重的跨领域失效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1</cp:revision>
  <dcterms:created xsi:type="dcterms:W3CDTF">2026-10-12T07:06:48Z</dcterms:created>
  <dcterms:modified xsi:type="dcterms:W3CDTF">2026-10-12T07:30:54Z</dcterms:modified>
</cp:coreProperties>
</file>